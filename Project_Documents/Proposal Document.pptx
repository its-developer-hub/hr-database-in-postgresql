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46"/>
  </p:notesMasterIdLst>
  <p:sldIdLst>
    <p:sldId id="256" r:id="rId5"/>
    <p:sldId id="258" r:id="rId6"/>
    <p:sldId id="259" r:id="rId7"/>
    <p:sldId id="260" r:id="rId8"/>
    <p:sldId id="261" r:id="rId9"/>
    <p:sldId id="287" r:id="rId10"/>
    <p:sldId id="262" r:id="rId11"/>
    <p:sldId id="263" r:id="rId12"/>
    <p:sldId id="288" r:id="rId13"/>
    <p:sldId id="289" r:id="rId14"/>
    <p:sldId id="264" r:id="rId15"/>
    <p:sldId id="290" r:id="rId16"/>
    <p:sldId id="291" r:id="rId17"/>
    <p:sldId id="265" r:id="rId18"/>
    <p:sldId id="266" r:id="rId19"/>
    <p:sldId id="267" r:id="rId20"/>
    <p:sldId id="268" r:id="rId21"/>
    <p:sldId id="269" r:id="rId22"/>
    <p:sldId id="270" r:id="rId23"/>
    <p:sldId id="271" r:id="rId24"/>
    <p:sldId id="272" r:id="rId25"/>
    <p:sldId id="293" r:id="rId26"/>
    <p:sldId id="295" r:id="rId27"/>
    <p:sldId id="297" r:id="rId28"/>
    <p:sldId id="298" r:id="rId29"/>
    <p:sldId id="296" r:id="rId30"/>
    <p:sldId id="273" r:id="rId31"/>
    <p:sldId id="274" r:id="rId32"/>
    <p:sldId id="275" r:id="rId33"/>
    <p:sldId id="276" r:id="rId34"/>
    <p:sldId id="277" r:id="rId35"/>
    <p:sldId id="278" r:id="rId36"/>
    <p:sldId id="279" r:id="rId37"/>
    <p:sldId id="280" r:id="rId38"/>
    <p:sldId id="281" r:id="rId39"/>
    <p:sldId id="282" r:id="rId40"/>
    <p:sldId id="292" r:id="rId41"/>
    <p:sldId id="283" r:id="rId42"/>
    <p:sldId id="284" r:id="rId43"/>
    <p:sldId id="285" r:id="rId44"/>
    <p:sldId id="286" r:id="rId45"/>
  </p:sldIdLst>
  <p:sldSz cx="7772400" cy="10058400"/>
  <p:notesSz cx="6858000" cy="9144000"/>
  <p:embeddedFontLst>
    <p:embeddedFont>
      <p:font typeface="Helvetica Neue" panose="020B0604020202020204" charset="0"/>
      <p:regular r:id="rId47"/>
      <p:bold r:id="rId48"/>
      <p:italic r:id="rId49"/>
      <p:boldItalic r:id="rId50"/>
    </p:embeddedFont>
    <p:embeddedFont>
      <p:font typeface="Open Sans" panose="020B0606030504020204" pitchFamily="34" charset="0"/>
      <p:regular r:id="rId51"/>
      <p:bold r:id="rId52"/>
      <p:italic r:id="rId53"/>
      <p:boldItalic r:id="rId54"/>
    </p:embeddedFont>
    <p:embeddedFont>
      <p:font typeface="Open Sans Light" panose="020B0306030504020204" pitchFamily="34" charset="0"/>
      <p:regular r:id="rId55"/>
      <p:bold r:id="rId56"/>
      <p:italic r:id="rId57"/>
      <p:boldItalic r:id="rId58"/>
    </p:embeddedFont>
    <p:embeddedFont>
      <p:font typeface="Source Code Pro" panose="020B0509030403020204" pitchFamily="49" charset="0"/>
      <p:regular r:id="rId59"/>
      <p:bold r:id="rId60"/>
      <p:italic r:id="rId61"/>
      <p:boldItalic r:id="rId6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50" d="100"/>
          <a:sy n="50" d="100"/>
        </p:scale>
        <p:origin x="130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font" Target="fonts/font1.fntdata"/><Relationship Id="rId50" Type="http://schemas.openxmlformats.org/officeDocument/2006/relationships/font" Target="fonts/font4.fntdata"/><Relationship Id="rId55" Type="http://schemas.openxmlformats.org/officeDocument/2006/relationships/font" Target="fonts/font9.fntdata"/><Relationship Id="rId63"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font" Target="fonts/font8.fntdata"/><Relationship Id="rId62" Type="http://schemas.openxmlformats.org/officeDocument/2006/relationships/font" Target="fonts/font16.fntdata"/><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3.fntdata"/><Relationship Id="rId57" Type="http://schemas.openxmlformats.org/officeDocument/2006/relationships/font" Target="fonts/font11.fntdata"/><Relationship Id="rId61" Type="http://schemas.openxmlformats.org/officeDocument/2006/relationships/font" Target="fonts/font15.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font" Target="fonts/font5.fntdata"/><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59"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8c28c705c4_0_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g8c28c705c4_0_7: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8c28c705c4_0_17: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8c28c705c4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8d8c850c25_0_13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8d8c850c25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8c49221f98_6_2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8c49221f98_6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c49221f98_6_2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c49221f98_6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g64b864f3db_0_6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g64b864f3db_0_6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8c28c705c4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0" name="Google Shape;370;g8c28c705c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hyperlink" Target="https://drive.google.com/file/d/1YdBZPpaIQvnD9NbgkeLMb5PeFtnhGGRP/view?usp=sharing" TargetMode="Externa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5.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its-developer-hub/HR-Database-in-PostgreSQL/blob/main/SQL_Scripts/DDL_Scripts.sql" TargetMode="External"/><Relationship Id="rId2" Type="http://schemas.openxmlformats.org/officeDocument/2006/relationships/notesSlide" Target="../notesSlides/notesSlide16.xml"/><Relationship Id="rId1" Type="http://schemas.openxmlformats.org/officeDocument/2006/relationships/slideLayout" Target="../slideLayouts/slideLayout25.xml"/><Relationship Id="rId5" Type="http://schemas.openxmlformats.org/officeDocument/2006/relationships/image" Target="../media/image8.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5.xml"/><Relationship Id="rId5" Type="http://schemas.openxmlformats.org/officeDocument/2006/relationships/image" Target="../media/image12.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5.xml"/><Relationship Id="rId5" Type="http://schemas.openxmlformats.org/officeDocument/2006/relationships/image" Target="../media/image16.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github.com/its-developer-hub/HR-Database-in-PostgreSQL/blob/main/Raw_Data/hr-dataset.csv" TargetMode="Externa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5.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5.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25.xml"/><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its-developer-hub/HR-Database-in-PostgreSQL/blob/main/SQL_Scripts/Standout_suggestion1_scripts.sql" TargetMode="External"/><Relationship Id="rId2" Type="http://schemas.openxmlformats.org/officeDocument/2006/relationships/notesSlide" Target="../notesSlides/notesSlide26.xml"/><Relationship Id="rId1" Type="http://schemas.openxmlformats.org/officeDocument/2006/relationships/slideLayout" Target="../slideLayouts/slideLayout25.xml"/><Relationship Id="rId4" Type="http://schemas.openxmlformats.org/officeDocument/2006/relationships/image" Target="../media/image31.png"/></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4.xml"/></Relationships>
</file>

<file path=ppt/slides/_rels/slide41.xml.rels><?xml version="1.0" encoding="UTF-8" standalone="yes"?>
<Relationships xmlns="http://schemas.openxmlformats.org/package/2006/relationships"><Relationship Id="rId3" Type="http://schemas.openxmlformats.org/officeDocument/2006/relationships/hyperlink" Target="https://github.com/its-developer-hub/HR-Database-in-PostgreSQL.git" TargetMode="External"/><Relationship Id="rId2" Type="http://schemas.openxmlformats.org/officeDocument/2006/relationships/notesSlide" Target="../notesSlides/notesSlide30.xml"/><Relationship Id="rId1" Type="http://schemas.openxmlformats.org/officeDocument/2006/relationships/slideLayout" Target="../slideLayouts/slideLayout25.xml"/><Relationship Id="rId6" Type="http://schemas.openxmlformats.org/officeDocument/2006/relationships/hyperlink" Target="https://drive.google.com/file/d/1YdBZPpaIQvnD9NbgkeLMb5PeFtnhGGRP/view?usp=sharing" TargetMode="External"/><Relationship Id="rId5" Type="http://schemas.openxmlformats.org/officeDocument/2006/relationships/hyperlink" Target="https://github.com/its-developer-hub/HR-Database-in-PostgreSQL/blob/main/Raw_Data/hr-dataset.csv" TargetMode="External"/><Relationship Id="rId4" Type="http://schemas.openxmlformats.org/officeDocument/2006/relationships/hyperlink" Target="https://lucid.app/lucidchart/f8bf1864-18f0-4b8c-b086-899c808ec23f/edit?invitationId=inv_3f202787-7206-4507-ba54-ac994db8102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[Velavan Dhanavel &amp; 26-Dec-2025]</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Business Scenario</a:t>
            </a:r>
            <a:endParaRPr/>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13" name="Google Shape;213;p56"/>
          <p:cNvSpPr txBox="1">
            <a:spLocks noGrp="1"/>
          </p:cNvSpPr>
          <p:nvPr>
            <p:ph type="body" idx="1"/>
          </p:nvPr>
        </p:nvSpPr>
        <p:spPr>
          <a:xfrm>
            <a:off x="264950" y="2496457"/>
            <a:ext cx="7242600" cy="6444343"/>
          </a:xfrm>
          <a:prstGeom prst="rect">
            <a:avLst/>
          </a:prstGeom>
        </p:spPr>
        <p:txBody>
          <a:bodyPr spcFirstLastPara="1" wrap="square" lIns="91425" tIns="91425" rIns="91425" bIns="91425" anchor="t" anchorCtr="0">
            <a:noAutofit/>
          </a:bodyPr>
          <a:lstStyle/>
          <a:p>
            <a:pPr marL="457200" lvl="0" indent="-349250" algn="l" rtl="0">
              <a:lnSpc>
                <a:spcPct val="100000"/>
              </a:lnSpc>
              <a:spcBef>
                <a:spcPts val="0"/>
              </a:spcBef>
              <a:spcAft>
                <a:spcPts val="0"/>
              </a:spcAft>
              <a:buSzPts val="1900"/>
              <a:buFont typeface="Open Sans"/>
              <a:buChar char="●"/>
            </a:pPr>
            <a:r>
              <a:rPr lang="en" sz="1900" b="1" dirty="0">
                <a:latin typeface="Open Sans"/>
                <a:ea typeface="Open Sans"/>
                <a:cs typeface="Open Sans"/>
                <a:sym typeface="Open Sans"/>
              </a:rPr>
              <a:t>Purpose of the new database:</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Clr>
                <a:schemeClr val="dk1"/>
              </a:buClr>
              <a:buSzPts val="1100"/>
              <a:buFont typeface="Arial"/>
              <a:buNone/>
            </a:pPr>
            <a:r>
              <a:rPr lang="en-US" sz="1700" dirty="0"/>
              <a:t>To design and build a new HR Database for handling Tech ABC Corp’s employee information.</a:t>
            </a:r>
            <a:endParaRPr sz="1700" dirty="0"/>
          </a:p>
          <a:p>
            <a:pPr marL="457200" lvl="0" indent="0" algn="l" rtl="0">
              <a:lnSpc>
                <a:spcPct val="100000"/>
              </a:lnSpc>
              <a:spcBef>
                <a:spcPts val="0"/>
              </a:spcBef>
              <a:spcAft>
                <a:spcPts val="0"/>
              </a:spcAft>
              <a:buClr>
                <a:schemeClr val="dk1"/>
              </a:buClr>
              <a:buSzPts val="1100"/>
              <a:buFont typeface="Arial"/>
              <a:buNone/>
            </a:pPr>
            <a:endParaRPr sz="1700" dirty="0"/>
          </a:p>
          <a:p>
            <a:pPr marL="457200" lvl="0" indent="-349250" algn="l" rtl="0">
              <a:spcBef>
                <a:spcPts val="1200"/>
              </a:spcBef>
              <a:spcAft>
                <a:spcPts val="0"/>
              </a:spcAft>
              <a:buSzPts val="1900"/>
              <a:buFont typeface="Open Sans"/>
              <a:buChar char="●"/>
            </a:pPr>
            <a:r>
              <a:rPr lang="en" sz="1900" b="1" dirty="0">
                <a:latin typeface="Open Sans"/>
                <a:ea typeface="Open Sans"/>
                <a:cs typeface="Open Sans"/>
                <a:sym typeface="Open Sans"/>
              </a:rPr>
              <a:t>Describe current data management solution:</a:t>
            </a:r>
            <a:endParaRPr sz="1900" b="1" dirty="0">
              <a:solidFill>
                <a:srgbClr val="000000"/>
              </a:solidFill>
              <a:latin typeface="Arial"/>
              <a:ea typeface="Arial"/>
              <a:cs typeface="Arial"/>
              <a:sym typeface="Arial"/>
            </a:endParaRPr>
          </a:p>
          <a:p>
            <a:pPr marL="457200" lvl="0" indent="0" algn="l" rtl="0">
              <a:spcBef>
                <a:spcPts val="1200"/>
              </a:spcBef>
              <a:spcAft>
                <a:spcPts val="0"/>
              </a:spcAft>
              <a:buNone/>
            </a:pPr>
            <a:r>
              <a:rPr lang="en-US" sz="1700" dirty="0"/>
              <a:t>Currently, the HR dataset is stored in a shared Excel workbook. This is okay for small scale operation with single or limited user access. 	However, it would be hard to maintain with multi user access and does not provide the level of data integrity, security and scalability that a database system provides.</a:t>
            </a:r>
            <a:endParaRPr sz="1900" dirty="0">
              <a:solidFill>
                <a:srgbClr val="000000"/>
              </a:solidFill>
              <a:latin typeface="Arial"/>
              <a:ea typeface="Arial"/>
              <a:cs typeface="Arial"/>
              <a:sym typeface="Arial"/>
            </a:endParaRPr>
          </a:p>
          <a:p>
            <a:pPr marL="457200" lvl="0" indent="0" algn="l" rtl="0">
              <a:spcBef>
                <a:spcPts val="1200"/>
              </a:spcBef>
              <a:spcAft>
                <a:spcPts val="0"/>
              </a:spcAft>
              <a:buNone/>
            </a:pPr>
            <a:endParaRPr sz="1100" dirty="0">
              <a:solidFill>
                <a:srgbClr val="000000"/>
              </a:solidFill>
              <a:latin typeface="Arial"/>
              <a:ea typeface="Arial"/>
              <a:cs typeface="Arial"/>
              <a:sym typeface="Arial"/>
            </a:endParaRPr>
          </a:p>
          <a:p>
            <a:pPr marL="457200" lvl="0" indent="-349250" algn="l" rtl="0">
              <a:spcBef>
                <a:spcPts val="1200"/>
              </a:spcBef>
              <a:spcAft>
                <a:spcPts val="0"/>
              </a:spcAft>
              <a:buSzPts val="1900"/>
              <a:buFont typeface="Open Sans"/>
              <a:buChar char="●"/>
            </a:pPr>
            <a:r>
              <a:rPr lang="en" sz="1900" b="1" dirty="0">
                <a:latin typeface="Open Sans"/>
                <a:ea typeface="Open Sans"/>
                <a:cs typeface="Open Sans"/>
                <a:sym typeface="Open Sans"/>
              </a:rPr>
              <a:t>Describe current data available:</a:t>
            </a:r>
            <a:endParaRPr sz="1900" b="1" dirty="0">
              <a:latin typeface="Open Sans"/>
              <a:ea typeface="Open Sans"/>
              <a:cs typeface="Open Sans"/>
              <a:sym typeface="Open Sans"/>
            </a:endParaRPr>
          </a:p>
          <a:p>
            <a:pPr marL="457200" lvl="1" indent="0" algn="just">
              <a:buNone/>
            </a:pPr>
            <a:r>
              <a:rPr lang="en" sz="1300" b="1" dirty="0">
                <a:latin typeface="Open Sans"/>
                <a:ea typeface="Open Sans"/>
                <a:cs typeface="Open Sans"/>
                <a:sym typeface="Open Sans"/>
              </a:rPr>
              <a:t>	</a:t>
            </a:r>
            <a:r>
              <a:rPr lang="en-US" sz="1700" dirty="0"/>
              <a:t>The business currently has the following employee information in the spreadsheet: </a:t>
            </a:r>
          </a:p>
          <a:p>
            <a:pPr marL="457200" lvl="1" indent="0" algn="just">
              <a:buNone/>
            </a:pPr>
            <a:r>
              <a:rPr lang="en-US" sz="1700" dirty="0"/>
              <a:t>Employee name, Job title, Department, Manager's name, Hire date, Start date, End date, Work location, and Salary.</a:t>
            </a:r>
          </a:p>
          <a:p>
            <a:pPr marL="0" lvl="0" indent="0" algn="l" rtl="0">
              <a:spcBef>
                <a:spcPts val="1600"/>
              </a:spcBef>
              <a:spcAft>
                <a:spcPts val="0"/>
              </a:spcAft>
              <a:buNone/>
            </a:pPr>
            <a:endParaRPr lang="en-US" sz="1900" dirty="0"/>
          </a:p>
          <a:p>
            <a:pPr marL="457200" lvl="0" indent="0" algn="l" rtl="0">
              <a:spcBef>
                <a:spcPts val="1600"/>
              </a:spcBef>
              <a:spcAft>
                <a:spcPts val="1600"/>
              </a:spcAft>
              <a:buNone/>
            </a:pPr>
            <a:endParaRPr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A96D8-24EF-25D1-8D30-6C54595A815D}"/>
              </a:ext>
            </a:extLst>
          </p:cNvPr>
          <p:cNvSpPr>
            <a:spLocks noGrp="1"/>
          </p:cNvSpPr>
          <p:nvPr>
            <p:ph type="title"/>
          </p:nvPr>
        </p:nvSpPr>
        <p:spPr/>
        <p:txBody>
          <a:bodyPr/>
          <a:lstStyle/>
          <a:p>
            <a:r>
              <a:rPr lang="en" dirty="0"/>
              <a:t>Data Architect Business Requirement (contd)</a:t>
            </a:r>
            <a:endParaRPr lang="en-US" dirty="0"/>
          </a:p>
        </p:txBody>
      </p:sp>
      <p:sp>
        <p:nvSpPr>
          <p:cNvPr id="3" name="Text Placeholder 2">
            <a:extLst>
              <a:ext uri="{FF2B5EF4-FFF2-40B4-BE49-F238E27FC236}">
                <a16:creationId xmlns:a16="http://schemas.microsoft.com/office/drawing/2014/main" id="{5047374C-B6B7-A715-924A-F0BD277C10F2}"/>
              </a:ext>
            </a:extLst>
          </p:cNvPr>
          <p:cNvSpPr>
            <a:spLocks noGrp="1"/>
          </p:cNvSpPr>
          <p:nvPr>
            <p:ph type="body" idx="1"/>
          </p:nvPr>
        </p:nvSpPr>
        <p:spPr>
          <a:xfrm>
            <a:off x="264945" y="2763520"/>
            <a:ext cx="7242600" cy="6583681"/>
          </a:xfrm>
        </p:spPr>
        <p:txBody>
          <a:bodyPr/>
          <a:lstStyle/>
          <a:p>
            <a:pPr lvl="0" indent="-349250">
              <a:spcBef>
                <a:spcPts val="1600"/>
              </a:spcBef>
              <a:buSzPts val="1900"/>
              <a:buFont typeface="Open Sans"/>
              <a:buChar char="●"/>
            </a:pPr>
            <a:r>
              <a:rPr lang="en-US" sz="1900" b="1" dirty="0">
                <a:latin typeface="Open Sans"/>
                <a:ea typeface="Open Sans"/>
                <a:cs typeface="Open Sans"/>
                <a:sym typeface="Open Sans"/>
              </a:rPr>
              <a:t>Additional data requests:</a:t>
            </a:r>
          </a:p>
          <a:p>
            <a:pPr lvl="0" indent="0">
              <a:lnSpc>
                <a:spcPct val="100000"/>
              </a:lnSpc>
              <a:spcBef>
                <a:spcPts val="1600"/>
              </a:spcBef>
              <a:buNone/>
            </a:pPr>
            <a:r>
              <a:rPr lang="en-US" sz="1800" dirty="0">
                <a:sym typeface="Open Sans"/>
              </a:rPr>
              <a:t>To e</a:t>
            </a:r>
            <a:r>
              <a:rPr lang="en-US" sz="1800" dirty="0"/>
              <a:t>nsure </a:t>
            </a:r>
            <a:r>
              <a:rPr lang="en-US" sz="1800" b="1" dirty="0"/>
              <a:t>long-term data retention</a:t>
            </a:r>
            <a:r>
              <a:rPr lang="en-US" sz="1800" dirty="0"/>
              <a:t> (for at least 7 years)</a:t>
            </a:r>
          </a:p>
          <a:p>
            <a:pPr lvl="0" indent="0">
              <a:lnSpc>
                <a:spcPct val="100000"/>
              </a:lnSpc>
              <a:spcBef>
                <a:spcPts val="1600"/>
              </a:spcBef>
              <a:buNone/>
            </a:pPr>
            <a:r>
              <a:rPr lang="en-US" sz="1800" dirty="0"/>
              <a:t>To build </a:t>
            </a:r>
            <a:r>
              <a:rPr lang="en-US" sz="1800" b="1" dirty="0"/>
              <a:t>reliable backups</a:t>
            </a:r>
            <a:r>
              <a:rPr lang="en-US" sz="1800" dirty="0"/>
              <a:t> considering criticality of the data.</a:t>
            </a:r>
          </a:p>
          <a:p>
            <a:pPr lvl="0" indent="0">
              <a:lnSpc>
                <a:spcPct val="100000"/>
              </a:lnSpc>
              <a:spcBef>
                <a:spcPts val="1600"/>
              </a:spcBef>
              <a:buNone/>
            </a:pPr>
            <a:endParaRPr lang="en-US" sz="1900" dirty="0">
              <a:sym typeface="Open Sans"/>
            </a:endParaRPr>
          </a:p>
          <a:p>
            <a:pPr lvl="0" indent="-349250">
              <a:spcBef>
                <a:spcPts val="1600"/>
              </a:spcBef>
              <a:buSzPts val="1900"/>
              <a:buFont typeface="Open Sans"/>
              <a:buChar char="●"/>
            </a:pPr>
            <a:r>
              <a:rPr lang="en-US" sz="1900" b="1" dirty="0">
                <a:latin typeface="Open Sans"/>
                <a:ea typeface="Open Sans"/>
                <a:cs typeface="Open Sans"/>
                <a:sym typeface="Open Sans"/>
              </a:rPr>
              <a:t>Who will own/manage data</a:t>
            </a:r>
          </a:p>
          <a:p>
            <a:pPr lvl="0" indent="0">
              <a:lnSpc>
                <a:spcPct val="100000"/>
              </a:lnSpc>
              <a:spcBef>
                <a:spcPts val="1600"/>
              </a:spcBef>
              <a:buNone/>
            </a:pPr>
            <a:r>
              <a:rPr lang="en-US" sz="1800" dirty="0"/>
              <a:t>HR Department will own/manage data.</a:t>
            </a:r>
          </a:p>
          <a:p>
            <a:pPr lvl="0" indent="0">
              <a:lnSpc>
                <a:spcPct val="100000"/>
              </a:lnSpc>
              <a:spcBef>
                <a:spcPts val="1600"/>
              </a:spcBef>
              <a:buNone/>
            </a:pPr>
            <a:endParaRPr lang="en-US" sz="1900" dirty="0"/>
          </a:p>
          <a:p>
            <a:pPr lvl="0" indent="0">
              <a:lnSpc>
                <a:spcPct val="100000"/>
              </a:lnSpc>
              <a:buNone/>
            </a:pPr>
            <a:endParaRPr lang="en-US" sz="1900" dirty="0"/>
          </a:p>
          <a:p>
            <a:pPr lvl="0" indent="-349250">
              <a:buSzPts val="1900"/>
              <a:buFont typeface="Open Sans"/>
              <a:buChar char="●"/>
            </a:pPr>
            <a:r>
              <a:rPr lang="en-US" sz="1900" b="1" dirty="0">
                <a:latin typeface="Open Sans"/>
                <a:ea typeface="Open Sans"/>
                <a:cs typeface="Open Sans"/>
                <a:sym typeface="Open Sans"/>
              </a:rPr>
              <a:t>Who will have access to database</a:t>
            </a:r>
          </a:p>
          <a:p>
            <a:pPr lvl="0" indent="0">
              <a:lnSpc>
                <a:spcPct val="100000"/>
              </a:lnSpc>
              <a:spcBef>
                <a:spcPts val="1600"/>
              </a:spcBef>
              <a:buNone/>
            </a:pPr>
            <a:r>
              <a:rPr lang="en-US" sz="1600" b="1" dirty="0"/>
              <a:t>Write Access</a:t>
            </a:r>
            <a:r>
              <a:rPr lang="en-US" sz="1600" dirty="0"/>
              <a:t>: Only HR and Management will have write access to database</a:t>
            </a:r>
          </a:p>
          <a:p>
            <a:pPr lvl="0" indent="0">
              <a:lnSpc>
                <a:spcPct val="100000"/>
              </a:lnSpc>
              <a:spcBef>
                <a:spcPts val="1600"/>
              </a:spcBef>
              <a:buNone/>
            </a:pPr>
            <a:r>
              <a:rPr lang="en-US" sz="1600" b="1" dirty="0"/>
              <a:t>Read Access</a:t>
            </a:r>
            <a:r>
              <a:rPr lang="en-US" sz="1600" dirty="0"/>
              <a:t>: All employees with domain login will have read-only access to data except for salary information.</a:t>
            </a:r>
          </a:p>
          <a:p>
            <a:pPr lvl="0" indent="0">
              <a:lnSpc>
                <a:spcPct val="100000"/>
              </a:lnSpc>
              <a:spcBef>
                <a:spcPts val="1600"/>
              </a:spcBef>
              <a:buNone/>
            </a:pPr>
            <a:r>
              <a:rPr lang="en-US" sz="1600" b="1" dirty="0"/>
              <a:t>Restricted Access</a:t>
            </a:r>
            <a:r>
              <a:rPr lang="en-US" sz="1600" dirty="0"/>
              <a:t>: Salary information will be restricted to HR and Management level employees only. Domain level employees won’t be able to access Salary data.</a:t>
            </a:r>
          </a:p>
          <a:p>
            <a:pPr lvl="0" indent="0">
              <a:lnSpc>
                <a:spcPct val="100000"/>
              </a:lnSpc>
              <a:spcBef>
                <a:spcPts val="1600"/>
              </a:spcBef>
              <a:buNone/>
            </a:pPr>
            <a:endParaRPr lang="en-US" sz="2800" dirty="0"/>
          </a:p>
          <a:p>
            <a:pPr lvl="0" indent="0">
              <a:lnSpc>
                <a:spcPct val="100000"/>
              </a:lnSpc>
              <a:spcBef>
                <a:spcPts val="1600"/>
              </a:spcBef>
              <a:buNone/>
            </a:pPr>
            <a:endParaRPr lang="en-US" sz="2800" dirty="0"/>
          </a:p>
          <a:p>
            <a:pPr lvl="0" indent="0">
              <a:lnSpc>
                <a:spcPct val="100000"/>
              </a:lnSpc>
              <a:spcBef>
                <a:spcPts val="1600"/>
              </a:spcBef>
              <a:buNone/>
            </a:pPr>
            <a:endParaRPr lang="en-US" sz="2800" dirty="0"/>
          </a:p>
          <a:p>
            <a:pPr lvl="0" indent="0">
              <a:lnSpc>
                <a:spcPct val="100000"/>
              </a:lnSpc>
              <a:spcBef>
                <a:spcPts val="1600"/>
              </a:spcBef>
              <a:buNone/>
            </a:pPr>
            <a:endParaRPr lang="en-US" sz="2800" dirty="0"/>
          </a:p>
          <a:p>
            <a:pPr lvl="0" indent="0">
              <a:lnSpc>
                <a:spcPct val="100000"/>
              </a:lnSpc>
              <a:spcBef>
                <a:spcPts val="1600"/>
              </a:spcBef>
              <a:buNone/>
            </a:pPr>
            <a:endParaRPr lang="en-US" sz="3200" dirty="0"/>
          </a:p>
          <a:p>
            <a:pPr lvl="0" indent="0">
              <a:buClr>
                <a:schemeClr val="dk1"/>
              </a:buClr>
              <a:buSzPts val="1100"/>
              <a:buNone/>
            </a:pPr>
            <a:endParaRPr lang="en-US" sz="3200" dirty="0"/>
          </a:p>
          <a:p>
            <a:endParaRPr lang="en-US" dirty="0"/>
          </a:p>
        </p:txBody>
      </p:sp>
    </p:spTree>
    <p:extLst>
      <p:ext uri="{BB962C8B-B14F-4D97-AF65-F5344CB8AC3E}">
        <p14:creationId xmlns:p14="http://schemas.microsoft.com/office/powerpoint/2010/main" val="13363415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19" name="Google Shape;219;p57"/>
          <p:cNvSpPr txBox="1">
            <a:spLocks noGrp="1"/>
          </p:cNvSpPr>
          <p:nvPr>
            <p:ph type="body" idx="1"/>
          </p:nvPr>
        </p:nvSpPr>
        <p:spPr>
          <a:xfrm>
            <a:off x="264950" y="2804160"/>
            <a:ext cx="7242600" cy="66040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r>
              <a:rPr lang="en-US" sz="1700" dirty="0"/>
              <a:t>Number of Employee records now: 200</a:t>
            </a:r>
          </a:p>
          <a:p>
            <a:pPr marL="457200" lvl="0" indent="0" algn="l" rtl="0">
              <a:lnSpc>
                <a:spcPct val="100000"/>
              </a:lnSpc>
              <a:spcBef>
                <a:spcPts val="1600"/>
              </a:spcBef>
              <a:spcAft>
                <a:spcPts val="0"/>
              </a:spcAft>
              <a:buNone/>
            </a:pPr>
            <a:r>
              <a:rPr lang="en-US" sz="1700" dirty="0"/>
              <a:t>Projected Growth per year: 20% growth per Year</a:t>
            </a:r>
          </a:p>
          <a:p>
            <a:pPr marL="457200" lvl="0" indent="0" algn="l" rtl="0">
              <a:lnSpc>
                <a:spcPct val="100000"/>
              </a:lnSpc>
              <a:spcBef>
                <a:spcPts val="1600"/>
              </a:spcBef>
              <a:spcAft>
                <a:spcPts val="0"/>
              </a:spcAft>
              <a:buNone/>
            </a:pPr>
            <a:r>
              <a:rPr lang="en-US" sz="1700" dirty="0"/>
              <a:t>Projected Growth in 5 to 7 Years: 498 to 717 employee records.</a:t>
            </a:r>
            <a:endParaRPr sz="1900" dirty="0"/>
          </a:p>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sz="1900" b="1" dirty="0">
              <a:latin typeface="Open Sans"/>
              <a:ea typeface="Open Sans"/>
              <a:cs typeface="Open Sans"/>
              <a:sym typeface="Open Sans"/>
            </a:endParaRPr>
          </a:p>
          <a:p>
            <a:pPr lvl="0" indent="0">
              <a:lnSpc>
                <a:spcPct val="100000"/>
              </a:lnSpc>
              <a:spcBef>
                <a:spcPts val="1600"/>
              </a:spcBef>
              <a:buNone/>
            </a:pPr>
            <a:r>
              <a:rPr lang="en-US" sz="1800" dirty="0"/>
              <a:t>Business is expecting 20% growth a year for the next 5 years</a:t>
            </a:r>
          </a:p>
          <a:p>
            <a:pPr lvl="0" indent="0">
              <a:lnSpc>
                <a:spcPct val="100000"/>
              </a:lnSpc>
              <a:spcBef>
                <a:spcPts val="1600"/>
              </a:spcBef>
              <a:buNone/>
            </a:pPr>
            <a:endParaRPr sz="1900" b="1" dirty="0">
              <a:latin typeface="Open Sans"/>
              <a:ea typeface="Open Sans"/>
              <a:cs typeface="Open Sans"/>
              <a:sym typeface="Open Sans"/>
            </a:endParaRP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r>
              <a:rPr lang="en-US" sz="1700" dirty="0"/>
              <a:t>Yes, employee salary information should be accessible only to HR and Management.</a:t>
            </a:r>
          </a:p>
          <a:p>
            <a:pPr marL="457200" lvl="0" indent="0" algn="l" rtl="0">
              <a:lnSpc>
                <a:spcPct val="100000"/>
              </a:lnSpc>
              <a:spcBef>
                <a:spcPts val="1600"/>
              </a:spcBef>
              <a:spcAft>
                <a:spcPts val="0"/>
              </a:spcAft>
              <a:buNone/>
            </a:pPr>
            <a:r>
              <a:rPr lang="en-US" sz="1700" dirty="0"/>
              <a:t>Read-Only access to all domain users, except for Salary data.</a:t>
            </a:r>
            <a:endParaRPr sz="1900" dirty="0"/>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25" name="Google Shape;225;p58"/>
          <p:cNvSpPr txBox="1">
            <a:spLocks noGrp="1"/>
          </p:cNvSpPr>
          <p:nvPr>
            <p:ph type="body" idx="1"/>
          </p:nvPr>
        </p:nvSpPr>
        <p:spPr>
          <a:xfrm>
            <a:off x="264950" y="2253724"/>
            <a:ext cx="7242600" cy="7312307"/>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sz="1900" b="1" dirty="0">
              <a:latin typeface="Open Sans"/>
              <a:ea typeface="Open Sans"/>
              <a:cs typeface="Open Sans"/>
              <a:sym typeface="Open Sans"/>
            </a:endParaRPr>
          </a:p>
          <a:p>
            <a:pPr marL="742950" indent="-285750">
              <a:lnSpc>
                <a:spcPct val="100000"/>
              </a:lnSpc>
              <a:spcBef>
                <a:spcPts val="1600"/>
              </a:spcBef>
              <a:buSzPct val="94000"/>
              <a:buFont typeface="Wingdings" panose="05000000000000000000" pitchFamily="2" charset="2"/>
              <a:buChar char="§"/>
            </a:pPr>
            <a:r>
              <a:rPr lang="en-US" sz="1700" dirty="0"/>
              <a:t>Migrating from an excel spreadsheet to a Relational Database provides robustness, concurrency and data security.</a:t>
            </a:r>
          </a:p>
          <a:p>
            <a:pPr marL="800100" indent="-342900">
              <a:lnSpc>
                <a:spcPct val="100000"/>
              </a:lnSpc>
              <a:spcBef>
                <a:spcPts val="1600"/>
              </a:spcBef>
              <a:buSzPct val="94000"/>
              <a:buFont typeface="Wingdings" panose="05000000000000000000" pitchFamily="2" charset="2"/>
              <a:buChar char="§"/>
            </a:pPr>
            <a:r>
              <a:rPr lang="en-US" sz="1700" dirty="0"/>
              <a:t>Supports multi-user role based user access.</a:t>
            </a:r>
          </a:p>
          <a:p>
            <a:pPr marL="800100" indent="-342900">
              <a:lnSpc>
                <a:spcPct val="100000"/>
              </a:lnSpc>
              <a:spcBef>
                <a:spcPts val="1600"/>
              </a:spcBef>
              <a:buSzPct val="94000"/>
              <a:buFont typeface="Wingdings" panose="05000000000000000000" pitchFamily="2" charset="2"/>
              <a:buChar char="§"/>
            </a:pPr>
            <a:r>
              <a:rPr lang="en-US" sz="1700" dirty="0"/>
              <a:t>Enables long term data retention and provides reliable backup.</a:t>
            </a:r>
          </a:p>
          <a:p>
            <a:pPr marL="800100" indent="-342900">
              <a:lnSpc>
                <a:spcPct val="100000"/>
              </a:lnSpc>
              <a:spcBef>
                <a:spcPts val="1600"/>
              </a:spcBef>
              <a:buSzPct val="94000"/>
              <a:buFont typeface="Wingdings" panose="05000000000000000000" pitchFamily="2" charset="2"/>
              <a:buChar char="§"/>
            </a:pPr>
            <a:r>
              <a:rPr lang="en-US" sz="1700" dirty="0"/>
              <a:t>Ensures scalability and enables future integration.</a:t>
            </a:r>
            <a:endParaRPr sz="17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r>
              <a:rPr lang="en" sz="1700" dirty="0"/>
              <a:t>List the database objects (tables, views, special procedures)  that will be created for the database. </a:t>
            </a:r>
            <a:endParaRPr sz="1700" dirty="0"/>
          </a:p>
          <a:p>
            <a:pPr marL="457200" lvl="0" indent="0" algn="l" rtl="0">
              <a:lnSpc>
                <a:spcPct val="100000"/>
              </a:lnSpc>
              <a:spcBef>
                <a:spcPts val="0"/>
              </a:spcBef>
              <a:spcAft>
                <a:spcPts val="0"/>
              </a:spcAft>
              <a:buNone/>
            </a:pPr>
            <a:endParaRPr sz="1700" dirty="0"/>
          </a:p>
          <a:p>
            <a:pPr lvl="0" indent="0">
              <a:buNone/>
            </a:pPr>
            <a:endParaRPr sz="1900" dirty="0"/>
          </a:p>
        </p:txBody>
      </p:sp>
      <p:graphicFrame>
        <p:nvGraphicFramePr>
          <p:cNvPr id="4" name="Table 3">
            <a:extLst>
              <a:ext uri="{FF2B5EF4-FFF2-40B4-BE49-F238E27FC236}">
                <a16:creationId xmlns:a16="http://schemas.microsoft.com/office/drawing/2014/main" id="{5BE50F06-7948-001D-209E-80BEDF5F899B}"/>
              </a:ext>
            </a:extLst>
          </p:cNvPr>
          <p:cNvGraphicFramePr>
            <a:graphicFrameLocks noGrp="1"/>
          </p:cNvGraphicFramePr>
          <p:nvPr>
            <p:extLst>
              <p:ext uri="{D42A27DB-BD31-4B8C-83A1-F6EECF244321}">
                <p14:modId xmlns:p14="http://schemas.microsoft.com/office/powerpoint/2010/main" val="2541693604"/>
              </p:ext>
            </p:extLst>
          </p:nvPr>
        </p:nvGraphicFramePr>
        <p:xfrm>
          <a:off x="929640" y="6583680"/>
          <a:ext cx="2956560" cy="2871002"/>
        </p:xfrm>
        <a:graphic>
          <a:graphicData uri="http://schemas.openxmlformats.org/drawingml/2006/table">
            <a:tbl>
              <a:tblPr firstRow="1" bandRow="1">
                <a:tableStyleId>{FABFCF23-3B69-468F-B69F-88F6DE6A72F2}</a:tableStyleId>
              </a:tblPr>
              <a:tblGrid>
                <a:gridCol w="2956560">
                  <a:extLst>
                    <a:ext uri="{9D8B030D-6E8A-4147-A177-3AD203B41FA5}">
                      <a16:colId xmlns:a16="http://schemas.microsoft.com/office/drawing/2014/main" val="1596007106"/>
                    </a:ext>
                  </a:extLst>
                </a:gridCol>
              </a:tblGrid>
              <a:tr h="371642">
                <a:tc>
                  <a:txBody>
                    <a:bodyPr/>
                    <a:lstStyle/>
                    <a:p>
                      <a:r>
                        <a:rPr lang="en-US" sz="1600" dirty="0"/>
                        <a:t>Tables:</a:t>
                      </a:r>
                    </a:p>
                  </a:txBody>
                  <a:tcPr/>
                </a:tc>
                <a:extLst>
                  <a:ext uri="{0D108BD9-81ED-4DB2-BD59-A6C34878D82A}">
                    <a16:rowId xmlns:a16="http://schemas.microsoft.com/office/drawing/2014/main" val="1537298189"/>
                  </a:ext>
                </a:extLst>
              </a:tr>
              <a:tr h="2452838">
                <a:tc>
                  <a:txBody>
                    <a:bodyPr/>
                    <a:lstStyle/>
                    <a:p>
                      <a:pPr lvl="0" indent="0">
                        <a:buNone/>
                      </a:pPr>
                      <a:r>
                        <a:rPr lang="en-US" sz="1800" dirty="0"/>
                        <a:t>EMPLOYEE   </a:t>
                      </a:r>
                    </a:p>
                    <a:p>
                      <a:pPr lvl="0" indent="0">
                        <a:buNone/>
                      </a:pPr>
                      <a:r>
                        <a:rPr lang="en-US" sz="1800" dirty="0"/>
                        <a:t>EMPLOYMENT </a:t>
                      </a:r>
                    </a:p>
                    <a:p>
                      <a:pPr lvl="0" indent="0">
                        <a:buNone/>
                      </a:pPr>
                      <a:r>
                        <a:rPr lang="en-US" sz="1800" dirty="0"/>
                        <a:t>JOB</a:t>
                      </a:r>
                    </a:p>
                    <a:p>
                      <a:pPr lvl="0" indent="0">
                        <a:buNone/>
                      </a:pPr>
                      <a:r>
                        <a:rPr lang="en-US" sz="1800" dirty="0"/>
                        <a:t>SALARY    </a:t>
                      </a:r>
                    </a:p>
                    <a:p>
                      <a:pPr lvl="0" indent="0">
                        <a:buNone/>
                      </a:pPr>
                      <a:r>
                        <a:rPr lang="en-US" sz="1800" dirty="0"/>
                        <a:t>DEPARTMENT</a:t>
                      </a:r>
                    </a:p>
                    <a:p>
                      <a:pPr lvl="0" indent="0">
                        <a:buNone/>
                      </a:pPr>
                      <a:r>
                        <a:rPr lang="en-US" sz="1800" dirty="0"/>
                        <a:t>LOCATION  </a:t>
                      </a:r>
                    </a:p>
                    <a:p>
                      <a:pPr lvl="0" indent="0">
                        <a:buNone/>
                      </a:pPr>
                      <a:r>
                        <a:rPr lang="en-US" sz="1800" dirty="0"/>
                        <a:t>ADDRESS    </a:t>
                      </a:r>
                    </a:p>
                    <a:p>
                      <a:pPr lvl="0" indent="0">
                        <a:buNone/>
                      </a:pPr>
                      <a:r>
                        <a:rPr lang="en-US" sz="1800" dirty="0"/>
                        <a:t>EDUCATION</a:t>
                      </a:r>
                    </a:p>
                    <a:p>
                      <a:endParaRPr lang="en-US" dirty="0"/>
                    </a:p>
                  </a:txBody>
                  <a:tcPr/>
                </a:tc>
                <a:extLst>
                  <a:ext uri="{0D108BD9-81ED-4DB2-BD59-A6C34878D82A}">
                    <a16:rowId xmlns:a16="http://schemas.microsoft.com/office/drawing/2014/main" val="2490523231"/>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B12F1-A1B9-E0C3-DD27-6911FA203162}"/>
              </a:ext>
            </a:extLst>
          </p:cNvPr>
          <p:cNvSpPr>
            <a:spLocks noGrp="1"/>
          </p:cNvSpPr>
          <p:nvPr>
            <p:ph type="title"/>
          </p:nvPr>
        </p:nvSpPr>
        <p:spPr/>
        <p:txBody>
          <a:bodyPr/>
          <a:lstStyle/>
          <a:p>
            <a:r>
              <a:rPr lang="en" dirty="0"/>
              <a:t>Data Architect Technical Requirement (contd…)</a:t>
            </a:r>
            <a:endParaRPr lang="en-US" dirty="0"/>
          </a:p>
        </p:txBody>
      </p:sp>
      <p:sp>
        <p:nvSpPr>
          <p:cNvPr id="3" name="Text Placeholder 2">
            <a:extLst>
              <a:ext uri="{FF2B5EF4-FFF2-40B4-BE49-F238E27FC236}">
                <a16:creationId xmlns:a16="http://schemas.microsoft.com/office/drawing/2014/main" id="{1692E782-3846-E6C8-2CA8-3D189F008940}"/>
              </a:ext>
            </a:extLst>
          </p:cNvPr>
          <p:cNvSpPr>
            <a:spLocks noGrp="1"/>
          </p:cNvSpPr>
          <p:nvPr>
            <p:ph type="body" idx="1"/>
          </p:nvPr>
        </p:nvSpPr>
        <p:spPr>
          <a:xfrm>
            <a:off x="264945" y="2253728"/>
            <a:ext cx="7242600" cy="7438911"/>
          </a:xfrm>
        </p:spPr>
        <p:txBody>
          <a:bodyPr/>
          <a:lstStyle/>
          <a:p>
            <a:pPr lvl="0" indent="0">
              <a:buNone/>
            </a:pPr>
            <a:endParaRPr lang="en-US" sz="2000" dirty="0"/>
          </a:p>
          <a:p>
            <a:pPr lvl="0" indent="-349250">
              <a:spcBef>
                <a:spcPts val="1600"/>
              </a:spcBef>
              <a:buSzPts val="1900"/>
              <a:buFont typeface="Open Sans"/>
              <a:buChar char="●"/>
            </a:pPr>
            <a:endParaRPr lang="en-US" sz="2000" b="1" dirty="0">
              <a:latin typeface="Open Sans"/>
              <a:ea typeface="Open Sans"/>
              <a:cs typeface="Open Sans"/>
              <a:sym typeface="Open Sans"/>
            </a:endParaRPr>
          </a:p>
          <a:p>
            <a:pPr lvl="0" indent="-349250">
              <a:spcBef>
                <a:spcPts val="1600"/>
              </a:spcBef>
              <a:buSzPts val="1900"/>
              <a:buFont typeface="Open Sans"/>
              <a:buChar char="●"/>
            </a:pPr>
            <a:endParaRPr lang="en-US" sz="2000" b="1" dirty="0">
              <a:latin typeface="Open Sans"/>
              <a:ea typeface="Open Sans"/>
              <a:cs typeface="Open Sans"/>
              <a:sym typeface="Open Sans"/>
            </a:endParaRPr>
          </a:p>
          <a:p>
            <a:pPr lvl="0" indent="-349250">
              <a:spcBef>
                <a:spcPts val="1600"/>
              </a:spcBef>
              <a:buSzPts val="1900"/>
              <a:buFont typeface="Open Sans"/>
              <a:buChar char="●"/>
            </a:pPr>
            <a:endParaRPr lang="en-US" sz="2000" b="1" dirty="0">
              <a:latin typeface="Open Sans"/>
              <a:ea typeface="Open Sans"/>
              <a:cs typeface="Open Sans"/>
              <a:sym typeface="Open Sans"/>
            </a:endParaRPr>
          </a:p>
          <a:p>
            <a:pPr lvl="0" indent="0">
              <a:lnSpc>
                <a:spcPct val="100000"/>
              </a:lnSpc>
              <a:spcBef>
                <a:spcPts val="1600"/>
              </a:spcBef>
              <a:buClr>
                <a:schemeClr val="dk1"/>
              </a:buClr>
              <a:buSzPts val="1100"/>
              <a:buNone/>
            </a:pPr>
            <a:endParaRPr lang="en-US" sz="2000" dirty="0"/>
          </a:p>
        </p:txBody>
      </p:sp>
      <p:graphicFrame>
        <p:nvGraphicFramePr>
          <p:cNvPr id="6" name="Table 5">
            <a:extLst>
              <a:ext uri="{FF2B5EF4-FFF2-40B4-BE49-F238E27FC236}">
                <a16:creationId xmlns:a16="http://schemas.microsoft.com/office/drawing/2014/main" id="{64542BE7-5A49-7DBA-DE4E-05EA0E797618}"/>
              </a:ext>
            </a:extLst>
          </p:cNvPr>
          <p:cNvGraphicFramePr>
            <a:graphicFrameLocks noGrp="1"/>
          </p:cNvGraphicFramePr>
          <p:nvPr>
            <p:extLst>
              <p:ext uri="{D42A27DB-BD31-4B8C-83A1-F6EECF244321}">
                <p14:modId xmlns:p14="http://schemas.microsoft.com/office/powerpoint/2010/main" val="3470402621"/>
              </p:ext>
            </p:extLst>
          </p:nvPr>
        </p:nvGraphicFramePr>
        <p:xfrm>
          <a:off x="805180" y="2602604"/>
          <a:ext cx="2829560" cy="889000"/>
        </p:xfrm>
        <a:graphic>
          <a:graphicData uri="http://schemas.openxmlformats.org/drawingml/2006/table">
            <a:tbl>
              <a:tblPr firstRow="1" bandRow="1">
                <a:tableStyleId>{FABFCF23-3B69-468F-B69F-88F6DE6A72F2}</a:tableStyleId>
              </a:tblPr>
              <a:tblGrid>
                <a:gridCol w="2829560">
                  <a:extLst>
                    <a:ext uri="{9D8B030D-6E8A-4147-A177-3AD203B41FA5}">
                      <a16:colId xmlns:a16="http://schemas.microsoft.com/office/drawing/2014/main" val="416164331"/>
                    </a:ext>
                  </a:extLst>
                </a:gridCol>
              </a:tblGrid>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t>Raw data staging table:      </a:t>
                      </a:r>
                    </a:p>
                    <a:p>
                      <a:endParaRPr lang="en-US" dirty="0"/>
                    </a:p>
                  </a:txBody>
                  <a:tcPr/>
                </a:tc>
                <a:extLst>
                  <a:ext uri="{0D108BD9-81ED-4DB2-BD59-A6C34878D82A}">
                    <a16:rowId xmlns:a16="http://schemas.microsoft.com/office/drawing/2014/main" val="2439238145"/>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t>HR_DATASET_RAW</a:t>
                      </a:r>
                    </a:p>
                  </a:txBody>
                  <a:tcPr/>
                </a:tc>
                <a:extLst>
                  <a:ext uri="{0D108BD9-81ED-4DB2-BD59-A6C34878D82A}">
                    <a16:rowId xmlns:a16="http://schemas.microsoft.com/office/drawing/2014/main" val="3355956720"/>
                  </a:ext>
                </a:extLst>
              </a:tr>
            </a:tbl>
          </a:graphicData>
        </a:graphic>
      </p:graphicFrame>
      <p:graphicFrame>
        <p:nvGraphicFramePr>
          <p:cNvPr id="7" name="Table 6">
            <a:extLst>
              <a:ext uri="{FF2B5EF4-FFF2-40B4-BE49-F238E27FC236}">
                <a16:creationId xmlns:a16="http://schemas.microsoft.com/office/drawing/2014/main" id="{6B9C55B2-0EC6-A38F-D9D8-73C10CC5ECDB}"/>
              </a:ext>
            </a:extLst>
          </p:cNvPr>
          <p:cNvGraphicFramePr>
            <a:graphicFrameLocks noGrp="1"/>
          </p:cNvGraphicFramePr>
          <p:nvPr>
            <p:extLst>
              <p:ext uri="{D42A27DB-BD31-4B8C-83A1-F6EECF244321}">
                <p14:modId xmlns:p14="http://schemas.microsoft.com/office/powerpoint/2010/main" val="2129515261"/>
              </p:ext>
            </p:extLst>
          </p:nvPr>
        </p:nvGraphicFramePr>
        <p:xfrm>
          <a:off x="805180" y="3840480"/>
          <a:ext cx="2829560" cy="749300"/>
        </p:xfrm>
        <a:graphic>
          <a:graphicData uri="http://schemas.openxmlformats.org/drawingml/2006/table">
            <a:tbl>
              <a:tblPr firstRow="1" bandRow="1">
                <a:tableStyleId>{FABFCF23-3B69-468F-B69F-88F6DE6A72F2}</a:tableStyleId>
              </a:tblPr>
              <a:tblGrid>
                <a:gridCol w="2829560">
                  <a:extLst>
                    <a:ext uri="{9D8B030D-6E8A-4147-A177-3AD203B41FA5}">
                      <a16:colId xmlns:a16="http://schemas.microsoft.com/office/drawing/2014/main" val="3893243578"/>
                    </a:ext>
                  </a:extLst>
                </a:gridCol>
              </a:tblGrid>
              <a:tr h="254145">
                <a:tc>
                  <a:txBody>
                    <a:bodyPr/>
                    <a:lstStyle/>
                    <a:p>
                      <a:pPr lvl="0" indent="0">
                        <a:buNone/>
                      </a:pPr>
                      <a:r>
                        <a:rPr lang="en-US" sz="1400" dirty="0"/>
                        <a:t>View:</a:t>
                      </a:r>
                    </a:p>
                  </a:txBody>
                  <a:tcPr/>
                </a:tc>
                <a:extLst>
                  <a:ext uri="{0D108BD9-81ED-4DB2-BD59-A6C34878D82A}">
                    <a16:rowId xmlns:a16="http://schemas.microsoft.com/office/drawing/2014/main" val="572838403"/>
                  </a:ext>
                </a:extLst>
              </a:tr>
              <a:tr h="44450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t>HR_DATASET</a:t>
                      </a:r>
                    </a:p>
                  </a:txBody>
                  <a:tcPr/>
                </a:tc>
                <a:extLst>
                  <a:ext uri="{0D108BD9-81ED-4DB2-BD59-A6C34878D82A}">
                    <a16:rowId xmlns:a16="http://schemas.microsoft.com/office/drawing/2014/main" val="2326310923"/>
                  </a:ext>
                </a:extLst>
              </a:tr>
            </a:tbl>
          </a:graphicData>
        </a:graphic>
      </p:graphicFrame>
    </p:spTree>
    <p:extLst>
      <p:ext uri="{BB962C8B-B14F-4D97-AF65-F5344CB8AC3E}">
        <p14:creationId xmlns:p14="http://schemas.microsoft.com/office/powerpoint/2010/main" val="1382133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D57E8FF-F4C6-A799-B190-298C99D28527}"/>
              </a:ext>
            </a:extLst>
          </p:cNvPr>
          <p:cNvSpPr>
            <a:spLocks noGrp="1"/>
          </p:cNvSpPr>
          <p:nvPr>
            <p:ph type="body" idx="1"/>
          </p:nvPr>
        </p:nvSpPr>
        <p:spPr>
          <a:xfrm>
            <a:off x="264945" y="1301413"/>
            <a:ext cx="7242600" cy="8492827"/>
          </a:xfrm>
        </p:spPr>
        <p:txBody>
          <a:bodyPr/>
          <a:lstStyle/>
          <a:p>
            <a:pPr lvl="0" indent="-349250">
              <a:spcBef>
                <a:spcPts val="1600"/>
              </a:spcBef>
              <a:buSzPts val="1900"/>
              <a:buFont typeface="Open Sans"/>
              <a:buChar char="●"/>
            </a:pPr>
            <a:r>
              <a:rPr lang="en-US" sz="2400" b="1" dirty="0">
                <a:latin typeface="Open Sans"/>
                <a:ea typeface="Open Sans"/>
                <a:cs typeface="Open Sans"/>
                <a:sym typeface="Open Sans"/>
              </a:rPr>
              <a:t>Data ingestion</a:t>
            </a:r>
          </a:p>
          <a:p>
            <a:pPr lvl="0" indent="0">
              <a:lnSpc>
                <a:spcPct val="100000"/>
              </a:lnSpc>
              <a:spcBef>
                <a:spcPts val="1600"/>
              </a:spcBef>
              <a:buClr>
                <a:schemeClr val="dk1"/>
              </a:buClr>
              <a:buSzPts val="1100"/>
              <a:buNone/>
            </a:pPr>
            <a:r>
              <a:rPr lang="en-US" sz="2000" dirty="0"/>
              <a:t>Select a data ingestion method (ETL, Direct feed, API) based on the information provided. </a:t>
            </a:r>
          </a:p>
          <a:p>
            <a:pPr lvl="0" indent="0">
              <a:lnSpc>
                <a:spcPct val="100000"/>
              </a:lnSpc>
              <a:spcBef>
                <a:spcPts val="1600"/>
              </a:spcBef>
              <a:buClr>
                <a:schemeClr val="dk1"/>
              </a:buClr>
              <a:buSzPts val="1100"/>
              <a:buNone/>
            </a:pPr>
            <a:r>
              <a:rPr lang="en-US" sz="2000" dirty="0"/>
              <a:t>ETL is the suitable data ingestion method for this requirement. Below steps are the high-level approach for the data ingestion.</a:t>
            </a:r>
          </a:p>
          <a:p>
            <a:pPr lvl="0" indent="0">
              <a:lnSpc>
                <a:spcPct val="100000"/>
              </a:lnSpc>
              <a:spcBef>
                <a:spcPts val="1600"/>
              </a:spcBef>
              <a:buClr>
                <a:schemeClr val="dk1"/>
              </a:buClr>
              <a:buSzPts val="1100"/>
              <a:buNone/>
            </a:pPr>
            <a:r>
              <a:rPr lang="en-US" sz="2000" b="1" dirty="0"/>
              <a:t>Step 1</a:t>
            </a:r>
            <a:r>
              <a:rPr lang="en-US" sz="2000" dirty="0"/>
              <a:t>: Convert the HR-Dataset.xlsx Excel to CSV format for loading data into PostgreSQL database</a:t>
            </a:r>
          </a:p>
          <a:p>
            <a:pPr lvl="0" indent="0">
              <a:lnSpc>
                <a:spcPct val="100000"/>
              </a:lnSpc>
              <a:spcBef>
                <a:spcPts val="1600"/>
              </a:spcBef>
              <a:buClr>
                <a:schemeClr val="dk1"/>
              </a:buClr>
              <a:buSzPts val="1100"/>
              <a:buNone/>
            </a:pPr>
            <a:r>
              <a:rPr lang="en-US" sz="2000" b="1" dirty="0"/>
              <a:t>Step 2</a:t>
            </a:r>
            <a:r>
              <a:rPr lang="en-US" sz="2000" dirty="0"/>
              <a:t>: Create a Staging table to hold the raw data from HR-Dataset.csv file.</a:t>
            </a:r>
          </a:p>
          <a:p>
            <a:pPr lvl="0" indent="0">
              <a:lnSpc>
                <a:spcPct val="100000"/>
              </a:lnSpc>
              <a:spcBef>
                <a:spcPts val="1600"/>
              </a:spcBef>
              <a:buClr>
                <a:schemeClr val="dk1"/>
              </a:buClr>
              <a:buSzPts val="1100"/>
              <a:buNone/>
            </a:pPr>
            <a:r>
              <a:rPr lang="en-US" sz="2000" b="1" dirty="0"/>
              <a:t>Step 3</a:t>
            </a:r>
            <a:r>
              <a:rPr lang="en-US" sz="2000" dirty="0"/>
              <a:t>: Use the \copy command to copy the </a:t>
            </a:r>
            <a:r>
              <a:rPr lang="en-US" sz="2000" dirty="0" err="1"/>
              <a:t>HR_Dataset</a:t>
            </a:r>
            <a:r>
              <a:rPr lang="en-US" sz="2000" dirty="0"/>
              <a:t> file data into Raw table in stage schema.</a:t>
            </a:r>
          </a:p>
          <a:p>
            <a:pPr lvl="0" indent="0">
              <a:lnSpc>
                <a:spcPct val="100000"/>
              </a:lnSpc>
              <a:spcBef>
                <a:spcPts val="1600"/>
              </a:spcBef>
              <a:buClr>
                <a:schemeClr val="dk1"/>
              </a:buClr>
              <a:buSzPts val="1100"/>
              <a:buNone/>
            </a:pPr>
            <a:endParaRPr lang="en-US" sz="2000" dirty="0"/>
          </a:p>
          <a:p>
            <a:pPr lvl="0" indent="0">
              <a:lnSpc>
                <a:spcPct val="100000"/>
              </a:lnSpc>
              <a:spcBef>
                <a:spcPts val="1600"/>
              </a:spcBef>
              <a:buClr>
                <a:schemeClr val="dk1"/>
              </a:buClr>
              <a:buSzPts val="1100"/>
              <a:buNone/>
            </a:pPr>
            <a:endParaRPr lang="en-US" sz="2000" dirty="0"/>
          </a:p>
          <a:p>
            <a:pPr lvl="0" indent="0">
              <a:lnSpc>
                <a:spcPct val="100000"/>
              </a:lnSpc>
              <a:spcBef>
                <a:spcPts val="1600"/>
              </a:spcBef>
              <a:buClr>
                <a:schemeClr val="dk1"/>
              </a:buClr>
              <a:buSzPts val="1100"/>
              <a:buNone/>
            </a:pPr>
            <a:endParaRPr lang="en-US" sz="2000" dirty="0"/>
          </a:p>
          <a:p>
            <a:pPr lvl="0" indent="0">
              <a:lnSpc>
                <a:spcPct val="100000"/>
              </a:lnSpc>
              <a:spcBef>
                <a:spcPts val="1600"/>
              </a:spcBef>
              <a:buClr>
                <a:schemeClr val="dk1"/>
              </a:buClr>
              <a:buSzPts val="1100"/>
              <a:buNone/>
            </a:pPr>
            <a:r>
              <a:rPr lang="en-US" sz="2000" b="1" dirty="0"/>
              <a:t>Step 4:</a:t>
            </a:r>
            <a:r>
              <a:rPr lang="en-US" sz="2000" dirty="0"/>
              <a:t> Insert data from staging table to Target tables listed in ER diagram.</a:t>
            </a:r>
          </a:p>
          <a:p>
            <a:pPr lvl="0" indent="0">
              <a:lnSpc>
                <a:spcPct val="100000"/>
              </a:lnSpc>
              <a:spcBef>
                <a:spcPts val="1600"/>
              </a:spcBef>
              <a:buClr>
                <a:schemeClr val="dk1"/>
              </a:buClr>
              <a:buSzPts val="1100"/>
              <a:buNone/>
            </a:pPr>
            <a:endParaRPr lang="en-US" sz="2000" dirty="0"/>
          </a:p>
          <a:p>
            <a:endParaRPr lang="en-US" dirty="0"/>
          </a:p>
        </p:txBody>
      </p:sp>
      <p:graphicFrame>
        <p:nvGraphicFramePr>
          <p:cNvPr id="5" name="Table 4">
            <a:extLst>
              <a:ext uri="{FF2B5EF4-FFF2-40B4-BE49-F238E27FC236}">
                <a16:creationId xmlns:a16="http://schemas.microsoft.com/office/drawing/2014/main" id="{7AAF17C0-16FF-20F7-CBFC-16F26C307E3A}"/>
              </a:ext>
            </a:extLst>
          </p:cNvPr>
          <p:cNvGraphicFramePr>
            <a:graphicFrameLocks noGrp="1"/>
          </p:cNvGraphicFramePr>
          <p:nvPr>
            <p:extLst>
              <p:ext uri="{D42A27DB-BD31-4B8C-83A1-F6EECF244321}">
                <p14:modId xmlns:p14="http://schemas.microsoft.com/office/powerpoint/2010/main" val="4274485312"/>
              </p:ext>
            </p:extLst>
          </p:nvPr>
        </p:nvGraphicFramePr>
        <p:xfrm>
          <a:off x="805180" y="6491307"/>
          <a:ext cx="6162040" cy="1188720"/>
        </p:xfrm>
        <a:graphic>
          <a:graphicData uri="http://schemas.openxmlformats.org/drawingml/2006/table">
            <a:tbl>
              <a:tblPr firstRow="1" bandRow="1">
                <a:tableStyleId>{2D5ABB26-0587-4C30-8999-92F81FD0307C}</a:tableStyleId>
              </a:tblPr>
              <a:tblGrid>
                <a:gridCol w="6162040">
                  <a:extLst>
                    <a:ext uri="{9D8B030D-6E8A-4147-A177-3AD203B41FA5}">
                      <a16:colId xmlns:a16="http://schemas.microsoft.com/office/drawing/2014/main" val="2879452555"/>
                    </a:ext>
                  </a:extLst>
                </a:gridCol>
              </a:tblGrid>
              <a:tr h="100677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i="1" dirty="0">
                          <a:latin typeface="Courier New" panose="02070309020205020404" pitchFamily="49" charset="0"/>
                          <a:cs typeface="Courier New" panose="02070309020205020404" pitchFamily="49" charset="0"/>
                        </a:rPr>
                        <a:t>\copy STG_SCHEMA.HR_DATASET_RAW FROM 'C:\Learning\Udacity - DA\hr-dataset.csv' CSV HEADER;</a:t>
                      </a:r>
                    </a:p>
                    <a:p>
                      <a:endParaRPr lang="en-US" sz="1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23328286"/>
                  </a:ext>
                </a:extLst>
              </a:tr>
            </a:tbl>
          </a:graphicData>
        </a:graphic>
      </p:graphicFrame>
    </p:spTree>
    <p:extLst>
      <p:ext uri="{BB962C8B-B14F-4D97-AF65-F5344CB8AC3E}">
        <p14:creationId xmlns:p14="http://schemas.microsoft.com/office/powerpoint/2010/main" val="2086494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r>
              <a:rPr lang="en" sz="1700" b="1" dirty="0">
                <a:latin typeface="Open Sans"/>
                <a:ea typeface="Open Sans"/>
                <a:cs typeface="Open Sans"/>
                <a:sym typeface="Open Sans"/>
              </a:rPr>
              <a:t>Ownership: </a:t>
            </a:r>
            <a:r>
              <a:rPr lang="en" sz="1700" dirty="0"/>
              <a:t>who will own and maintain the data</a:t>
            </a:r>
          </a:p>
          <a:p>
            <a:pPr marL="457200" lvl="0" indent="0" algn="l" rtl="0">
              <a:lnSpc>
                <a:spcPct val="100000"/>
              </a:lnSpc>
              <a:spcBef>
                <a:spcPts val="1600"/>
              </a:spcBef>
              <a:spcAft>
                <a:spcPts val="0"/>
              </a:spcAft>
              <a:buNone/>
            </a:pPr>
            <a:r>
              <a:rPr lang="en" sz="1700" dirty="0"/>
              <a:t>HR will own the data.</a:t>
            </a:r>
            <a:endParaRPr sz="1700" dirty="0"/>
          </a:p>
          <a:p>
            <a:pPr marL="457200" lvl="0" indent="0" algn="l" rtl="0">
              <a:lnSpc>
                <a:spcPct val="100000"/>
              </a:lnSpc>
              <a:spcBef>
                <a:spcPts val="0"/>
              </a:spcBef>
              <a:spcAft>
                <a:spcPts val="0"/>
              </a:spcAft>
              <a:buNone/>
            </a:pPr>
            <a:endParaRPr sz="1700" dirty="0"/>
          </a:p>
          <a:p>
            <a:pPr marL="457200" lvl="0" indent="0" algn="l" rtl="0">
              <a:lnSpc>
                <a:spcPct val="100000"/>
              </a:lnSpc>
              <a:spcBef>
                <a:spcPts val="0"/>
              </a:spcBef>
              <a:spcAft>
                <a:spcPts val="0"/>
              </a:spcAft>
              <a:buNone/>
            </a:pPr>
            <a:r>
              <a:rPr lang="en" sz="1700" b="1" dirty="0">
                <a:latin typeface="Open Sans"/>
                <a:ea typeface="Open Sans"/>
                <a:cs typeface="Open Sans"/>
                <a:sym typeface="Open Sans"/>
              </a:rPr>
              <a:t>User Access: </a:t>
            </a:r>
            <a:r>
              <a:rPr lang="en" sz="1700" dirty="0"/>
              <a:t>who will and will not have access to the data</a:t>
            </a:r>
          </a:p>
          <a:p>
            <a:pPr marL="457200" lvl="0" indent="0" algn="l" rtl="0">
              <a:lnSpc>
                <a:spcPct val="100000"/>
              </a:lnSpc>
              <a:spcBef>
                <a:spcPts val="0"/>
              </a:spcBef>
              <a:spcAft>
                <a:spcPts val="0"/>
              </a:spcAft>
              <a:buNone/>
            </a:pPr>
            <a:endParaRPr lang="en-US" sz="1700" dirty="0"/>
          </a:p>
          <a:p>
            <a:pPr marL="457200" lvl="0" indent="0" algn="l" rtl="0">
              <a:lnSpc>
                <a:spcPct val="100000"/>
              </a:lnSpc>
              <a:spcBef>
                <a:spcPts val="0"/>
              </a:spcBef>
              <a:spcAft>
                <a:spcPts val="0"/>
              </a:spcAft>
              <a:buNone/>
            </a:pPr>
            <a:endParaRPr lang="en-US" sz="1700" dirty="0"/>
          </a:p>
          <a:p>
            <a:pPr marL="457200" lvl="0" indent="0" algn="l" rtl="0">
              <a:lnSpc>
                <a:spcPct val="100000"/>
              </a:lnSpc>
              <a:spcBef>
                <a:spcPts val="0"/>
              </a:spcBef>
              <a:spcAft>
                <a:spcPts val="0"/>
              </a:spcAft>
              <a:buNone/>
            </a:pPr>
            <a:endParaRPr lang="en-US" sz="1700" dirty="0"/>
          </a:p>
          <a:p>
            <a:pPr marL="457200" lvl="0" indent="0" algn="l" rtl="0">
              <a:lnSpc>
                <a:spcPct val="100000"/>
              </a:lnSpc>
              <a:spcBef>
                <a:spcPts val="0"/>
              </a:spcBef>
              <a:spcAft>
                <a:spcPts val="0"/>
              </a:spcAft>
              <a:buNone/>
            </a:pPr>
            <a:endParaRPr lang="en-US" sz="1700" dirty="0"/>
          </a:p>
          <a:p>
            <a:pPr marL="457200" lvl="0" indent="0" algn="l" rtl="0">
              <a:lnSpc>
                <a:spcPct val="100000"/>
              </a:lnSpc>
              <a:spcBef>
                <a:spcPts val="0"/>
              </a:spcBef>
              <a:spcAft>
                <a:spcPts val="0"/>
              </a:spcAft>
              <a:buNone/>
            </a:pPr>
            <a:endParaRPr sz="1700" dirty="0"/>
          </a:p>
          <a:p>
            <a:pPr lvl="0" indent="0">
              <a:lnSpc>
                <a:spcPct val="100000"/>
              </a:lnSpc>
              <a:spcBef>
                <a:spcPts val="1600"/>
              </a:spcBef>
              <a:buNone/>
            </a:pPr>
            <a:endParaRPr lang="en-US" sz="1800" b="1" dirty="0"/>
          </a:p>
          <a:p>
            <a:pPr lvl="0" indent="0">
              <a:lnSpc>
                <a:spcPct val="100000"/>
              </a:lnSpc>
              <a:spcBef>
                <a:spcPts val="1600"/>
              </a:spcBef>
              <a:buNone/>
            </a:pPr>
            <a:endParaRPr lang="en-US" sz="1800" b="1" dirty="0"/>
          </a:p>
          <a:p>
            <a:pPr lvl="0" indent="0">
              <a:lnSpc>
                <a:spcPct val="100000"/>
              </a:lnSpc>
              <a:spcBef>
                <a:spcPts val="1600"/>
              </a:spcBef>
              <a:buNone/>
            </a:pPr>
            <a:r>
              <a:rPr lang="en-US" sz="1400" b="1" dirty="0"/>
              <a:t>Note:</a:t>
            </a:r>
          </a:p>
          <a:p>
            <a:pPr lvl="0" indent="0">
              <a:lnSpc>
                <a:spcPct val="100000"/>
              </a:lnSpc>
              <a:spcBef>
                <a:spcPts val="1600"/>
              </a:spcBef>
              <a:buNone/>
            </a:pPr>
            <a:r>
              <a:rPr lang="en-US" sz="1400" b="1" dirty="0"/>
              <a:t>Write Access</a:t>
            </a:r>
            <a:r>
              <a:rPr lang="en-US" sz="1400" dirty="0"/>
              <a:t>: Only HR and Management will have write access to database</a:t>
            </a:r>
          </a:p>
          <a:p>
            <a:pPr lvl="0" indent="0">
              <a:lnSpc>
                <a:spcPct val="100000"/>
              </a:lnSpc>
              <a:spcBef>
                <a:spcPts val="1600"/>
              </a:spcBef>
              <a:buNone/>
            </a:pPr>
            <a:r>
              <a:rPr lang="en-US" sz="1400" b="1" dirty="0"/>
              <a:t>Read Access</a:t>
            </a:r>
            <a:r>
              <a:rPr lang="en-US" sz="1400" dirty="0"/>
              <a:t>: All employees with domain login will have read-only access to data except for salary information.</a:t>
            </a:r>
          </a:p>
          <a:p>
            <a:pPr lvl="0" indent="0">
              <a:lnSpc>
                <a:spcPct val="100000"/>
              </a:lnSpc>
              <a:spcBef>
                <a:spcPts val="1600"/>
              </a:spcBef>
              <a:buNone/>
            </a:pPr>
            <a:r>
              <a:rPr lang="en-US" sz="1400" b="1" dirty="0"/>
              <a:t>Restricted Access</a:t>
            </a:r>
            <a:r>
              <a:rPr lang="en-US" sz="1400" dirty="0"/>
              <a:t>: Salary information will be restricted to HR and Management level employees only. Domain level employees won’t be able to access Salary data.</a:t>
            </a:r>
          </a:p>
          <a:p>
            <a:pPr marL="457200" lvl="0" indent="0" algn="l" rtl="0">
              <a:lnSpc>
                <a:spcPct val="100000"/>
              </a:lnSpc>
              <a:spcBef>
                <a:spcPts val="0"/>
              </a:spcBef>
              <a:spcAft>
                <a:spcPts val="0"/>
              </a:spcAft>
              <a:buNone/>
            </a:pPr>
            <a:endParaRPr sz="1700" dirty="0"/>
          </a:p>
          <a:p>
            <a:pPr marL="0" lvl="0" indent="0" algn="l" rtl="0">
              <a:lnSpc>
                <a:spcPct val="100000"/>
              </a:lnSpc>
              <a:spcBef>
                <a:spcPts val="0"/>
              </a:spcBef>
              <a:spcAft>
                <a:spcPts val="0"/>
              </a:spcAft>
              <a:buClr>
                <a:schemeClr val="dk1"/>
              </a:buClr>
              <a:buSzPts val="1100"/>
              <a:buFont typeface="Arial"/>
              <a:buNone/>
            </a:pPr>
            <a:endParaRPr sz="1700" dirty="0"/>
          </a:p>
        </p:txBody>
      </p:sp>
      <p:graphicFrame>
        <p:nvGraphicFramePr>
          <p:cNvPr id="2" name="Table 1">
            <a:extLst>
              <a:ext uri="{FF2B5EF4-FFF2-40B4-BE49-F238E27FC236}">
                <a16:creationId xmlns:a16="http://schemas.microsoft.com/office/drawing/2014/main" id="{A335A956-C9FA-2AD4-DFE4-6769A02760B6}"/>
              </a:ext>
            </a:extLst>
          </p:cNvPr>
          <p:cNvGraphicFramePr>
            <a:graphicFrameLocks noGrp="1"/>
          </p:cNvGraphicFramePr>
          <p:nvPr>
            <p:extLst>
              <p:ext uri="{D42A27DB-BD31-4B8C-83A1-F6EECF244321}">
                <p14:modId xmlns:p14="http://schemas.microsoft.com/office/powerpoint/2010/main" val="3472757463"/>
              </p:ext>
            </p:extLst>
          </p:nvPr>
        </p:nvGraphicFramePr>
        <p:xfrm>
          <a:off x="927100" y="4285794"/>
          <a:ext cx="5918200" cy="1833880"/>
        </p:xfrm>
        <a:graphic>
          <a:graphicData uri="http://schemas.openxmlformats.org/drawingml/2006/table">
            <a:tbl>
              <a:tblPr firstRow="1" bandRow="1">
                <a:tableStyleId>{F2DE63D5-997A-4646-A377-4702673A728D}</a:tableStyleId>
              </a:tblPr>
              <a:tblGrid>
                <a:gridCol w="1727200">
                  <a:extLst>
                    <a:ext uri="{9D8B030D-6E8A-4147-A177-3AD203B41FA5}">
                      <a16:colId xmlns:a16="http://schemas.microsoft.com/office/drawing/2014/main" val="1875648179"/>
                    </a:ext>
                  </a:extLst>
                </a:gridCol>
                <a:gridCol w="1727200">
                  <a:extLst>
                    <a:ext uri="{9D8B030D-6E8A-4147-A177-3AD203B41FA5}">
                      <a16:colId xmlns:a16="http://schemas.microsoft.com/office/drawing/2014/main" val="3620786877"/>
                    </a:ext>
                  </a:extLst>
                </a:gridCol>
                <a:gridCol w="2463800">
                  <a:extLst>
                    <a:ext uri="{9D8B030D-6E8A-4147-A177-3AD203B41FA5}">
                      <a16:colId xmlns:a16="http://schemas.microsoft.com/office/drawing/2014/main" val="1345852359"/>
                    </a:ext>
                  </a:extLst>
                </a:gridCol>
              </a:tblGrid>
              <a:tr h="370840">
                <a:tc>
                  <a:txBody>
                    <a:bodyPr/>
                    <a:lstStyle/>
                    <a:p>
                      <a:r>
                        <a:rPr lang="en-US" dirty="0"/>
                        <a:t>User Role</a:t>
                      </a:r>
                    </a:p>
                  </a:txBody>
                  <a:tcPr/>
                </a:tc>
                <a:tc>
                  <a:txBody>
                    <a:bodyPr/>
                    <a:lstStyle/>
                    <a:p>
                      <a:r>
                        <a:rPr lang="en-US" dirty="0"/>
                        <a:t>User Type</a:t>
                      </a:r>
                    </a:p>
                  </a:txBody>
                  <a:tcPr/>
                </a:tc>
                <a:tc>
                  <a:txBody>
                    <a:bodyPr/>
                    <a:lstStyle/>
                    <a:p>
                      <a:r>
                        <a:rPr lang="en-US" dirty="0"/>
                        <a:t>Access Restrictions</a:t>
                      </a:r>
                    </a:p>
                  </a:txBody>
                  <a:tcPr/>
                </a:tc>
                <a:extLst>
                  <a:ext uri="{0D108BD9-81ED-4DB2-BD59-A6C34878D82A}">
                    <a16:rowId xmlns:a16="http://schemas.microsoft.com/office/drawing/2014/main" val="2487948491"/>
                  </a:ext>
                </a:extLst>
              </a:tr>
              <a:tr h="370840">
                <a:tc>
                  <a:txBody>
                    <a:bodyPr/>
                    <a:lstStyle/>
                    <a:p>
                      <a:r>
                        <a:rPr lang="en-US" dirty="0"/>
                        <a:t>HR_USER</a:t>
                      </a:r>
                    </a:p>
                  </a:txBody>
                  <a:tcPr/>
                </a:tc>
                <a:tc>
                  <a:txBody>
                    <a:bodyPr/>
                    <a:lstStyle/>
                    <a:p>
                      <a:r>
                        <a:rPr lang="en-US" dirty="0"/>
                        <a:t>HR and Management level Users</a:t>
                      </a:r>
                    </a:p>
                  </a:txBody>
                  <a:tcPr/>
                </a:tc>
                <a:tc>
                  <a:txBody>
                    <a:bodyPr/>
                    <a:lstStyle/>
                    <a:p>
                      <a:r>
                        <a:rPr lang="en-US" dirty="0"/>
                        <a:t>Write Access to all data.</a:t>
                      </a:r>
                    </a:p>
                    <a:p>
                      <a:r>
                        <a:rPr lang="en-US" dirty="0"/>
                        <a:t>Read Access to all data including Salary Information.</a:t>
                      </a:r>
                    </a:p>
                  </a:txBody>
                  <a:tcPr/>
                </a:tc>
                <a:extLst>
                  <a:ext uri="{0D108BD9-81ED-4DB2-BD59-A6C34878D82A}">
                    <a16:rowId xmlns:a16="http://schemas.microsoft.com/office/drawing/2014/main" val="857300882"/>
                  </a:ext>
                </a:extLst>
              </a:tr>
              <a:tr h="370840">
                <a:tc>
                  <a:txBody>
                    <a:bodyPr/>
                    <a:lstStyle/>
                    <a:p>
                      <a:r>
                        <a:rPr lang="en-US" dirty="0"/>
                        <a:t>DOMAIN_USER</a:t>
                      </a:r>
                    </a:p>
                  </a:txBody>
                  <a:tcPr/>
                </a:tc>
                <a:tc>
                  <a:txBody>
                    <a:bodyPr/>
                    <a:lstStyle/>
                    <a:p>
                      <a:r>
                        <a:rPr lang="en-US" dirty="0"/>
                        <a:t>Domain level Employees</a:t>
                      </a:r>
                    </a:p>
                  </a:txBody>
                  <a:tcPr/>
                </a:tc>
                <a:tc>
                  <a:txBody>
                    <a:bodyPr/>
                    <a:lstStyle/>
                    <a:p>
                      <a:r>
                        <a:rPr lang="en-US" dirty="0"/>
                        <a:t>Read only access.</a:t>
                      </a:r>
                    </a:p>
                    <a:p>
                      <a:r>
                        <a:rPr lang="en-US" dirty="0"/>
                        <a:t>No read access to Salary information</a:t>
                      </a:r>
                    </a:p>
                  </a:txBody>
                  <a:tcPr/>
                </a:tc>
                <a:extLst>
                  <a:ext uri="{0D108BD9-81ED-4DB2-BD59-A6C34878D82A}">
                    <a16:rowId xmlns:a16="http://schemas.microsoft.com/office/drawing/2014/main" val="116293434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0FB6FBC-9504-DDBF-638B-DAA19F780C62}"/>
              </a:ext>
            </a:extLst>
          </p:cNvPr>
          <p:cNvSpPr>
            <a:spLocks noGrp="1"/>
          </p:cNvSpPr>
          <p:nvPr>
            <p:ph type="body" idx="1"/>
          </p:nvPr>
        </p:nvSpPr>
        <p:spPr>
          <a:xfrm>
            <a:off x="264945" y="304800"/>
            <a:ext cx="7242600" cy="8883329"/>
          </a:xfrm>
        </p:spPr>
        <p:txBody>
          <a:bodyPr/>
          <a:lstStyle/>
          <a:p>
            <a:pPr lvl="0" indent="-349250">
              <a:buSzPts val="1900"/>
              <a:buFont typeface="Open Sans"/>
              <a:buChar char="●"/>
            </a:pPr>
            <a:r>
              <a:rPr lang="en-US" sz="2000" b="1" dirty="0">
                <a:latin typeface="Open Sans"/>
                <a:ea typeface="Open Sans"/>
                <a:cs typeface="Open Sans"/>
                <a:sym typeface="Open Sans"/>
              </a:rPr>
              <a:t>Scalability </a:t>
            </a:r>
          </a:p>
          <a:p>
            <a:pPr lvl="0" indent="0">
              <a:spcBef>
                <a:spcPts val="1600"/>
              </a:spcBef>
              <a:buNone/>
            </a:pPr>
            <a:r>
              <a:rPr lang="en-US" sz="1800" dirty="0"/>
              <a:t>Replication or sharding to be used to ensure scalability based on user needs</a:t>
            </a:r>
          </a:p>
          <a:p>
            <a:pPr marL="800100" indent="-342900">
              <a:spcBef>
                <a:spcPts val="1600"/>
              </a:spcBef>
            </a:pPr>
            <a:r>
              <a:rPr lang="en-US" sz="1800" dirty="0"/>
              <a:t>Replication should be done to avoid data loss or to enable high availability.</a:t>
            </a:r>
          </a:p>
          <a:p>
            <a:pPr marL="800100" indent="-342900">
              <a:spcBef>
                <a:spcPts val="1600"/>
              </a:spcBef>
            </a:pPr>
            <a:r>
              <a:rPr lang="en-US" sz="1800" dirty="0"/>
              <a:t>Sharding may not be required for this database as the estimated volume do not exceed beyond few thousands of rows.</a:t>
            </a:r>
          </a:p>
          <a:p>
            <a:pPr lvl="0" indent="-349250">
              <a:spcBef>
                <a:spcPts val="1600"/>
              </a:spcBef>
              <a:buSzPts val="1900"/>
              <a:buFont typeface="Open Sans"/>
              <a:buChar char="●"/>
            </a:pPr>
            <a:r>
              <a:rPr lang="en-US" sz="2000" b="1" dirty="0">
                <a:latin typeface="Open Sans"/>
                <a:ea typeface="Open Sans"/>
                <a:cs typeface="Open Sans"/>
                <a:sym typeface="Open Sans"/>
              </a:rPr>
              <a:t>Flexibility</a:t>
            </a:r>
            <a:endParaRPr lang="en-US" sz="2000" dirty="0"/>
          </a:p>
          <a:p>
            <a:pPr lvl="0" indent="0">
              <a:spcBef>
                <a:spcPts val="1600"/>
              </a:spcBef>
              <a:buNone/>
            </a:pPr>
            <a:r>
              <a:rPr lang="en-US" sz="1800" dirty="0"/>
              <a:t>Describe measures taken to ensure future data integration if needed</a:t>
            </a:r>
          </a:p>
          <a:p>
            <a:pPr lvl="0" indent="0">
              <a:spcBef>
                <a:spcPts val="1600"/>
              </a:spcBef>
              <a:buNone/>
            </a:pPr>
            <a:r>
              <a:rPr lang="en-US" sz="1800" dirty="0"/>
              <a:t>This HR Database has been designed in 3NF which ensures the following:</a:t>
            </a:r>
          </a:p>
          <a:p>
            <a:pPr marL="800100" indent="-342900">
              <a:spcBef>
                <a:spcPts val="1600"/>
              </a:spcBef>
            </a:pPr>
            <a:r>
              <a:rPr lang="en-US" sz="1800" dirty="0"/>
              <a:t>Every entity is isolated as per the normalization rules.</a:t>
            </a:r>
          </a:p>
          <a:p>
            <a:pPr marL="800100" indent="-342900">
              <a:spcBef>
                <a:spcPts val="1600"/>
              </a:spcBef>
            </a:pPr>
            <a:r>
              <a:rPr lang="en-US" sz="1800" dirty="0"/>
              <a:t>New entities to be added to the database can be linked via corresponding foreign keys.</a:t>
            </a:r>
          </a:p>
          <a:p>
            <a:pPr marL="800100" indent="-342900">
              <a:spcBef>
                <a:spcPts val="1600"/>
              </a:spcBef>
            </a:pPr>
            <a:r>
              <a:rPr lang="en-US" sz="1800" dirty="0"/>
              <a:t>New attributes can be added as needed to the appropriate table without impacting other tables.</a:t>
            </a:r>
          </a:p>
          <a:p>
            <a:pPr marL="800100" indent="-342900">
              <a:spcBef>
                <a:spcPts val="1600"/>
              </a:spcBef>
            </a:pPr>
            <a:r>
              <a:rPr lang="en-US" sz="1800" dirty="0"/>
              <a:t>Future data integration can be done without breaking the existing setup or requiring major re-design.</a:t>
            </a:r>
          </a:p>
          <a:p>
            <a:endParaRPr lang="en-US" dirty="0"/>
          </a:p>
        </p:txBody>
      </p:sp>
    </p:spTree>
    <p:extLst>
      <p:ext uri="{BB962C8B-B14F-4D97-AF65-F5344CB8AC3E}">
        <p14:creationId xmlns:p14="http://schemas.microsoft.com/office/powerpoint/2010/main" val="2450152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FD4FE1D-9F0B-73B4-0DAE-A9FB2EF68A21}"/>
              </a:ext>
            </a:extLst>
          </p:cNvPr>
          <p:cNvSpPr>
            <a:spLocks noGrp="1"/>
          </p:cNvSpPr>
          <p:nvPr>
            <p:ph type="body" idx="1"/>
          </p:nvPr>
        </p:nvSpPr>
        <p:spPr/>
        <p:txBody>
          <a:bodyPr/>
          <a:lstStyle/>
          <a:p>
            <a:pPr lvl="0" indent="0">
              <a:spcBef>
                <a:spcPts val="1600"/>
              </a:spcBef>
              <a:buNone/>
            </a:pPr>
            <a:endParaRPr lang="en-US" sz="2000" dirty="0"/>
          </a:p>
          <a:p>
            <a:pPr lvl="0" indent="-349250">
              <a:spcBef>
                <a:spcPts val="1600"/>
              </a:spcBef>
              <a:buSzPts val="1900"/>
              <a:buFont typeface="Open Sans"/>
              <a:buChar char="●"/>
            </a:pPr>
            <a:r>
              <a:rPr lang="en-US" sz="2000" b="1" dirty="0">
                <a:latin typeface="Open Sans"/>
                <a:ea typeface="Open Sans"/>
                <a:cs typeface="Open Sans"/>
                <a:sym typeface="Open Sans"/>
              </a:rPr>
              <a:t>Storage &amp; retention</a:t>
            </a:r>
          </a:p>
          <a:p>
            <a:pPr lvl="0" indent="0">
              <a:lnSpc>
                <a:spcPct val="100000"/>
              </a:lnSpc>
              <a:spcBef>
                <a:spcPts val="1600"/>
              </a:spcBef>
              <a:buNone/>
            </a:pPr>
            <a:r>
              <a:rPr lang="en-US" sz="2000" b="1" dirty="0">
                <a:latin typeface="Open Sans"/>
                <a:ea typeface="Open Sans"/>
                <a:cs typeface="Open Sans"/>
                <a:sym typeface="Open Sans"/>
              </a:rPr>
              <a:t>Storage (disk or in-memory): </a:t>
            </a:r>
            <a:r>
              <a:rPr lang="en-US" sz="2000" dirty="0"/>
              <a:t>check </a:t>
            </a:r>
            <a:r>
              <a:rPr lang="en-US" sz="2000" u="sng" dirty="0">
                <a:solidFill>
                  <a:schemeClr val="hlink"/>
                </a:solidFill>
                <a:hlinkClick r:id="rId2"/>
              </a:rPr>
              <a:t>IT best practices document</a:t>
            </a:r>
            <a:endParaRPr lang="en-US" sz="2000" dirty="0"/>
          </a:p>
          <a:p>
            <a:pPr lvl="0" indent="0">
              <a:lnSpc>
                <a:spcPct val="100000"/>
              </a:lnSpc>
              <a:buNone/>
            </a:pPr>
            <a:endParaRPr lang="en-US" sz="2000" dirty="0"/>
          </a:p>
          <a:p>
            <a:pPr lvl="0" indent="0">
              <a:lnSpc>
                <a:spcPct val="100000"/>
              </a:lnSpc>
              <a:buNone/>
            </a:pPr>
            <a:r>
              <a:rPr lang="en-US" sz="2000" b="1" dirty="0">
                <a:latin typeface="Open Sans"/>
                <a:ea typeface="Open Sans"/>
                <a:cs typeface="Open Sans"/>
                <a:sym typeface="Open Sans"/>
              </a:rPr>
              <a:t>Retention: </a:t>
            </a:r>
            <a:r>
              <a:rPr lang="en-US" sz="2000" dirty="0"/>
              <a:t>7 Years or more.</a:t>
            </a:r>
          </a:p>
          <a:p>
            <a:pPr lvl="0" indent="0">
              <a:lnSpc>
                <a:spcPct val="100000"/>
              </a:lnSpc>
              <a:buNone/>
            </a:pPr>
            <a:endParaRPr lang="en-US" sz="2000" dirty="0"/>
          </a:p>
          <a:p>
            <a:pPr lvl="0" indent="0">
              <a:lnSpc>
                <a:spcPct val="100000"/>
              </a:lnSpc>
              <a:buNone/>
            </a:pPr>
            <a:endParaRPr lang="en-US" sz="2000" dirty="0"/>
          </a:p>
          <a:p>
            <a:pPr lvl="0" indent="0">
              <a:lnSpc>
                <a:spcPct val="100000"/>
              </a:lnSpc>
              <a:buNone/>
            </a:pPr>
            <a:endParaRPr lang="en-US" sz="2000" dirty="0"/>
          </a:p>
          <a:p>
            <a:pPr lvl="0" indent="-349250">
              <a:buSzPts val="1900"/>
              <a:buFont typeface="Open Sans"/>
              <a:buChar char="●"/>
            </a:pPr>
            <a:r>
              <a:rPr lang="en-US" sz="2000" b="1" dirty="0">
                <a:latin typeface="Open Sans"/>
                <a:ea typeface="Open Sans"/>
                <a:cs typeface="Open Sans"/>
                <a:sym typeface="Open Sans"/>
              </a:rPr>
              <a:t>Backup</a:t>
            </a:r>
          </a:p>
          <a:p>
            <a:pPr lvl="0" indent="0">
              <a:spcBef>
                <a:spcPts val="1600"/>
              </a:spcBef>
              <a:buNone/>
            </a:pPr>
            <a:r>
              <a:rPr lang="en-US" sz="2000" dirty="0"/>
              <a:t> </a:t>
            </a:r>
            <a:r>
              <a:rPr lang="en-US" sz="2000" u="sng" dirty="0">
                <a:solidFill>
                  <a:schemeClr val="hlink"/>
                </a:solidFill>
                <a:hlinkClick r:id="rId2"/>
              </a:rPr>
              <a:t>IT Best Practices document</a:t>
            </a:r>
            <a:r>
              <a:rPr lang="en-US" sz="2000" dirty="0"/>
              <a:t> lists Backup schedule requirements</a:t>
            </a:r>
          </a:p>
          <a:p>
            <a:pPr lvl="0" indent="0">
              <a:lnSpc>
                <a:spcPct val="100000"/>
              </a:lnSpc>
              <a:spcBef>
                <a:spcPts val="1600"/>
              </a:spcBef>
              <a:buNone/>
            </a:pPr>
            <a:endParaRPr lang="en-US" sz="2000" dirty="0"/>
          </a:p>
          <a:p>
            <a:endParaRPr lang="en-US" sz="2000" dirty="0"/>
          </a:p>
        </p:txBody>
      </p:sp>
    </p:spTree>
    <p:extLst>
      <p:ext uri="{BB962C8B-B14F-4D97-AF65-F5344CB8AC3E}">
        <p14:creationId xmlns:p14="http://schemas.microsoft.com/office/powerpoint/2010/main" val="5107821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ERD</a:t>
            </a:r>
            <a:endParaRPr dirty="0"/>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Conceptual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dirty="0">
                <a:solidFill>
                  <a:srgbClr val="525C65"/>
                </a:solidFill>
                <a:highlight>
                  <a:srgbClr val="FFFFFF"/>
                </a:highlight>
                <a:latin typeface="Open Sans"/>
                <a:ea typeface="Open Sans"/>
                <a:cs typeface="Open Sans"/>
                <a:sym typeface="Open Sans"/>
              </a:rPr>
              <a:t>Use Lucidchart’s built-in template for DBMS ER Diagram UML.</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dirty="0"/>
          </a:p>
        </p:txBody>
      </p:sp>
      <p:pic>
        <p:nvPicPr>
          <p:cNvPr id="4" name="Picture 3">
            <a:extLst>
              <a:ext uri="{FF2B5EF4-FFF2-40B4-BE49-F238E27FC236}">
                <a16:creationId xmlns:a16="http://schemas.microsoft.com/office/drawing/2014/main" id="{FAE6B90A-503D-268A-B9DF-F74C2E2E2B67}"/>
              </a:ext>
            </a:extLst>
          </p:cNvPr>
          <p:cNvPicPr>
            <a:picLocks noChangeAspect="1"/>
          </p:cNvPicPr>
          <p:nvPr/>
        </p:nvPicPr>
        <p:blipFill>
          <a:blip r:embed="rId3"/>
          <a:stretch>
            <a:fillRect/>
          </a:stretch>
        </p:blipFill>
        <p:spPr>
          <a:xfrm>
            <a:off x="468050" y="5215838"/>
            <a:ext cx="6420430" cy="418074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Logical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dirty="0">
                <a:solidFill>
                  <a:srgbClr val="525C65"/>
                </a:solidFill>
                <a:highlight>
                  <a:srgbClr val="FFFFFF"/>
                </a:highlight>
                <a:latin typeface="Open Sans"/>
                <a:ea typeface="Open Sans"/>
                <a:cs typeface="Open Sans"/>
                <a:sym typeface="Open Sans"/>
              </a:rPr>
              <a:t>Use Lucidchart’s built-in template for DBMS ER Diagram UML.</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1600"/>
              </a:spcAft>
              <a:buNone/>
            </a:pPr>
            <a:endParaRPr sz="1900" dirty="0"/>
          </a:p>
        </p:txBody>
      </p:sp>
      <p:pic>
        <p:nvPicPr>
          <p:cNvPr id="4" name="Picture 3">
            <a:extLst>
              <a:ext uri="{FF2B5EF4-FFF2-40B4-BE49-F238E27FC236}">
                <a16:creationId xmlns:a16="http://schemas.microsoft.com/office/drawing/2014/main" id="{FF893E82-6974-64B6-CECE-B96B90CDD5C1}"/>
              </a:ext>
            </a:extLst>
          </p:cNvPr>
          <p:cNvPicPr>
            <a:picLocks noChangeAspect="1"/>
          </p:cNvPicPr>
          <p:nvPr/>
        </p:nvPicPr>
        <p:blipFill>
          <a:blip r:embed="rId3"/>
          <a:stretch>
            <a:fillRect/>
          </a:stretch>
        </p:blipFill>
        <p:spPr>
          <a:xfrm>
            <a:off x="303777" y="5201920"/>
            <a:ext cx="7164845" cy="45313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50" y="199017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Physical</a:t>
            </a:r>
            <a:endParaRPr sz="1900" b="1" dirty="0">
              <a:latin typeface="Open Sans"/>
              <a:ea typeface="Open Sans"/>
              <a:cs typeface="Open Sans"/>
              <a:sym typeface="Open Sans"/>
            </a:endParaRPr>
          </a:p>
          <a:p>
            <a:pPr marL="45720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1600"/>
              </a:spcAft>
              <a:buNone/>
            </a:pPr>
            <a:endParaRPr sz="1500" dirty="0">
              <a:solidFill>
                <a:srgbClr val="525C65"/>
              </a:solidFill>
              <a:highlight>
                <a:srgbClr val="FFFFFF"/>
              </a:highlight>
              <a:latin typeface="Open Sans"/>
              <a:ea typeface="Open Sans"/>
              <a:cs typeface="Open Sans"/>
              <a:sym typeface="Open Sans"/>
            </a:endParaRPr>
          </a:p>
        </p:txBody>
      </p:sp>
      <p:pic>
        <p:nvPicPr>
          <p:cNvPr id="4" name="Picture 3">
            <a:extLst>
              <a:ext uri="{FF2B5EF4-FFF2-40B4-BE49-F238E27FC236}">
                <a16:creationId xmlns:a16="http://schemas.microsoft.com/office/drawing/2014/main" id="{A8BCE3FF-BAFA-4634-9849-31EACF71592C}"/>
              </a:ext>
            </a:extLst>
          </p:cNvPr>
          <p:cNvPicPr>
            <a:picLocks noChangeAspect="1"/>
          </p:cNvPicPr>
          <p:nvPr/>
        </p:nvPicPr>
        <p:blipFill>
          <a:blip r:embed="rId3"/>
          <a:stretch>
            <a:fillRect/>
          </a:stretch>
        </p:blipFill>
        <p:spPr>
          <a:xfrm>
            <a:off x="147217" y="5366425"/>
            <a:ext cx="7477966" cy="382170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3: Create A Physical Database</a:t>
            </a:r>
            <a:endParaRPr/>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You will:</a:t>
            </a:r>
            <a:endParaRPr sz="1550" b="1"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Create the database using SQL DDL commands</a:t>
            </a:r>
            <a:endParaRPr sz="1550"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Load the data into your database, utilizing flat file ETL</a:t>
            </a:r>
            <a:endParaRPr sz="1550"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Submission</a:t>
            </a:r>
            <a:endParaRPr sz="15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Hints</a:t>
            </a:r>
            <a:endParaRPr sz="15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After running CRUD commands like update, insert, or delete, run a </a:t>
            </a:r>
            <a:r>
              <a:rPr lang="en" sz="1550" dirty="0">
                <a:solidFill>
                  <a:srgbClr val="525C65"/>
                </a:solidFill>
                <a:highlight>
                  <a:srgbClr val="FFFFFF"/>
                </a:highlight>
                <a:latin typeface="Source Code Pro"/>
                <a:ea typeface="Source Code Pro"/>
                <a:cs typeface="Source Code Pro"/>
                <a:sym typeface="Source Code Pro"/>
              </a:rPr>
              <a:t>SELECT*</a:t>
            </a:r>
            <a:r>
              <a:rPr lang="en" sz="1550" dirty="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solidFill>
                <a:srgbClr val="525C65"/>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50" y="336159"/>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a:t>
            </a:r>
            <a:endParaRPr dirty="0"/>
          </a:p>
        </p:txBody>
      </p:sp>
      <p:sp>
        <p:nvSpPr>
          <p:cNvPr id="282" name="Google Shape;282;p67"/>
          <p:cNvSpPr txBox="1">
            <a:spLocks noGrp="1"/>
          </p:cNvSpPr>
          <p:nvPr>
            <p:ph type="body" idx="1"/>
          </p:nvPr>
        </p:nvSpPr>
        <p:spPr>
          <a:xfrm>
            <a:off x="264950" y="1456059"/>
            <a:ext cx="7242600" cy="852956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lvl="0" indent="0">
              <a:spcBef>
                <a:spcPts val="1600"/>
              </a:spcBef>
              <a:buNone/>
            </a:pPr>
            <a:r>
              <a:rPr lang="en-US" sz="1900" b="1" u="sng" dirty="0"/>
              <a:t>DDL Script :</a:t>
            </a:r>
            <a:r>
              <a:rPr lang="en-US" sz="1900" b="1" dirty="0"/>
              <a:t>   </a:t>
            </a:r>
            <a:r>
              <a:rPr lang="en-US" sz="1900" dirty="0">
                <a:hlinkClick r:id="rId3"/>
              </a:rPr>
              <a:t>https://github.com/its-developer-hub/HR-Database-in-PostgreSQL/blob/main/SQL_Scripts/DDL_Scripts.sql</a:t>
            </a:r>
            <a:endParaRPr sz="1900" dirty="0"/>
          </a:p>
          <a:p>
            <a:pPr marL="457200" lvl="0" indent="0" algn="l" rtl="0">
              <a:spcBef>
                <a:spcPts val="1600"/>
              </a:spcBef>
              <a:spcAft>
                <a:spcPts val="1600"/>
              </a:spcAft>
              <a:buNone/>
            </a:pPr>
            <a:r>
              <a:rPr lang="en-US" sz="1600" u="sng" dirty="0"/>
              <a:t>Create User &amp; DB:</a:t>
            </a:r>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lang="en-US" sz="1600" u="sng" dirty="0"/>
          </a:p>
          <a:p>
            <a:pPr marL="457200" lvl="0" indent="0" algn="l" rtl="0">
              <a:spcBef>
                <a:spcPts val="1600"/>
              </a:spcBef>
              <a:spcAft>
                <a:spcPts val="1600"/>
              </a:spcAft>
              <a:buNone/>
            </a:pPr>
            <a:r>
              <a:rPr lang="en-US" sz="1600" u="sng" dirty="0"/>
              <a:t>Connect to HR_DB and create schema:</a:t>
            </a:r>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2B798563-0974-5C6A-260F-0AB1FE635456}"/>
              </a:ext>
            </a:extLst>
          </p:cNvPr>
          <p:cNvPicPr>
            <a:picLocks noChangeAspect="1"/>
          </p:cNvPicPr>
          <p:nvPr/>
        </p:nvPicPr>
        <p:blipFill>
          <a:blip r:embed="rId4"/>
          <a:stretch>
            <a:fillRect/>
          </a:stretch>
        </p:blipFill>
        <p:spPr>
          <a:xfrm>
            <a:off x="878680" y="4420296"/>
            <a:ext cx="5662613" cy="2414730"/>
          </a:xfrm>
          <a:prstGeom prst="rect">
            <a:avLst/>
          </a:prstGeom>
        </p:spPr>
      </p:pic>
      <p:pic>
        <p:nvPicPr>
          <p:cNvPr id="5" name="Picture 4">
            <a:extLst>
              <a:ext uri="{FF2B5EF4-FFF2-40B4-BE49-F238E27FC236}">
                <a16:creationId xmlns:a16="http://schemas.microsoft.com/office/drawing/2014/main" id="{56E8DE59-7C1B-84F5-87A6-95DBCA8EDE63}"/>
              </a:ext>
            </a:extLst>
          </p:cNvPr>
          <p:cNvPicPr>
            <a:picLocks noChangeAspect="1"/>
          </p:cNvPicPr>
          <p:nvPr/>
        </p:nvPicPr>
        <p:blipFill>
          <a:blip r:embed="rId5"/>
          <a:stretch>
            <a:fillRect/>
          </a:stretch>
        </p:blipFill>
        <p:spPr>
          <a:xfrm>
            <a:off x="878680" y="7954925"/>
            <a:ext cx="5244472" cy="176731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D571ED1-758E-D9B6-5090-B7A37CC792B0}"/>
              </a:ext>
            </a:extLst>
          </p:cNvPr>
          <p:cNvSpPr>
            <a:spLocks noGrp="1"/>
          </p:cNvSpPr>
          <p:nvPr>
            <p:ph type="body" idx="1"/>
          </p:nvPr>
        </p:nvSpPr>
        <p:spPr>
          <a:xfrm>
            <a:off x="264945" y="1436688"/>
            <a:ext cx="7242600" cy="8329220"/>
          </a:xfrm>
        </p:spPr>
        <p:txBody>
          <a:bodyPr/>
          <a:lstStyle/>
          <a:p>
            <a:r>
              <a:rPr lang="en-US" sz="1600" u="sng" dirty="0"/>
              <a:t>Create Tables:</a:t>
            </a:r>
          </a:p>
          <a:p>
            <a:endParaRPr lang="en-US" sz="1600" u="sng" dirty="0"/>
          </a:p>
          <a:p>
            <a:r>
              <a:rPr lang="en-US" sz="1600" dirty="0"/>
              <a:t>Job:</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Salary:</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Department:</a:t>
            </a:r>
          </a:p>
          <a:p>
            <a:endParaRPr lang="en-US" sz="1600" dirty="0"/>
          </a:p>
          <a:p>
            <a:pPr marL="38100" indent="0">
              <a:buNone/>
            </a:pPr>
            <a:endParaRPr lang="en-US" sz="1600" dirty="0"/>
          </a:p>
          <a:p>
            <a:endParaRPr lang="en-US" sz="1600" dirty="0"/>
          </a:p>
          <a:p>
            <a:endParaRPr lang="en-US" sz="1600" dirty="0"/>
          </a:p>
          <a:p>
            <a:endParaRPr lang="en-US" sz="1600" dirty="0"/>
          </a:p>
          <a:p>
            <a:endParaRPr lang="en-US" sz="1600" dirty="0"/>
          </a:p>
          <a:p>
            <a:r>
              <a:rPr lang="en-US" sz="1600" dirty="0"/>
              <a:t>Education:</a:t>
            </a:r>
          </a:p>
          <a:p>
            <a:endParaRPr lang="en-US" sz="1600" dirty="0"/>
          </a:p>
          <a:p>
            <a:endParaRPr lang="en-US" sz="1600" dirty="0"/>
          </a:p>
          <a:p>
            <a:endParaRPr lang="en-US" sz="1600" dirty="0"/>
          </a:p>
          <a:p>
            <a:endParaRPr lang="en-US" sz="1600" dirty="0"/>
          </a:p>
          <a:p>
            <a:endParaRPr lang="en-US" sz="1600" dirty="0"/>
          </a:p>
        </p:txBody>
      </p:sp>
      <p:sp>
        <p:nvSpPr>
          <p:cNvPr id="4" name="Google Shape;281;p67">
            <a:extLst>
              <a:ext uri="{FF2B5EF4-FFF2-40B4-BE49-F238E27FC236}">
                <a16:creationId xmlns:a16="http://schemas.microsoft.com/office/drawing/2014/main" id="{FDF7EDF9-6887-BAA8-CCC1-B1F9EF9BF424}"/>
              </a:ext>
            </a:extLst>
          </p:cNvPr>
          <p:cNvSpPr txBox="1">
            <a:spLocks noGrp="1"/>
          </p:cNvSpPr>
          <p:nvPr>
            <p:ph type="title"/>
          </p:nvPr>
        </p:nvSpPr>
        <p:spPr>
          <a:xfrm>
            <a:off x="265112" y="31591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 </a:t>
            </a:r>
            <a:r>
              <a:rPr lang="en" baseline="-25000" dirty="0"/>
              <a:t>(contd…)</a:t>
            </a:r>
            <a:endParaRPr baseline="-25000" dirty="0"/>
          </a:p>
        </p:txBody>
      </p:sp>
      <p:pic>
        <p:nvPicPr>
          <p:cNvPr id="10" name="Picture 9">
            <a:extLst>
              <a:ext uri="{FF2B5EF4-FFF2-40B4-BE49-F238E27FC236}">
                <a16:creationId xmlns:a16="http://schemas.microsoft.com/office/drawing/2014/main" id="{46B4061F-8A3E-0DE0-BE7E-CCDF45DF2E12}"/>
              </a:ext>
            </a:extLst>
          </p:cNvPr>
          <p:cNvPicPr>
            <a:picLocks noChangeAspect="1"/>
          </p:cNvPicPr>
          <p:nvPr/>
        </p:nvPicPr>
        <p:blipFill>
          <a:blip r:embed="rId2"/>
          <a:stretch>
            <a:fillRect/>
          </a:stretch>
        </p:blipFill>
        <p:spPr>
          <a:xfrm>
            <a:off x="552450" y="2595563"/>
            <a:ext cx="4476750" cy="1380679"/>
          </a:xfrm>
          <a:prstGeom prst="rect">
            <a:avLst/>
          </a:prstGeom>
        </p:spPr>
      </p:pic>
      <p:pic>
        <p:nvPicPr>
          <p:cNvPr id="12" name="Picture 11">
            <a:extLst>
              <a:ext uri="{FF2B5EF4-FFF2-40B4-BE49-F238E27FC236}">
                <a16:creationId xmlns:a16="http://schemas.microsoft.com/office/drawing/2014/main" id="{E3B8C247-0549-3F52-F99D-F3ABA47EB043}"/>
              </a:ext>
            </a:extLst>
          </p:cNvPr>
          <p:cNvPicPr>
            <a:picLocks noChangeAspect="1"/>
          </p:cNvPicPr>
          <p:nvPr/>
        </p:nvPicPr>
        <p:blipFill>
          <a:blip r:embed="rId3"/>
          <a:stretch>
            <a:fillRect/>
          </a:stretch>
        </p:blipFill>
        <p:spPr>
          <a:xfrm>
            <a:off x="685800" y="4580731"/>
            <a:ext cx="4343400" cy="1238250"/>
          </a:xfrm>
          <a:prstGeom prst="rect">
            <a:avLst/>
          </a:prstGeom>
        </p:spPr>
      </p:pic>
      <p:pic>
        <p:nvPicPr>
          <p:cNvPr id="14" name="Picture 13">
            <a:extLst>
              <a:ext uri="{FF2B5EF4-FFF2-40B4-BE49-F238E27FC236}">
                <a16:creationId xmlns:a16="http://schemas.microsoft.com/office/drawing/2014/main" id="{4A0DE462-A33C-C034-3A05-C5FE62429230}"/>
              </a:ext>
            </a:extLst>
          </p:cNvPr>
          <p:cNvPicPr>
            <a:picLocks noChangeAspect="1"/>
          </p:cNvPicPr>
          <p:nvPr/>
        </p:nvPicPr>
        <p:blipFill>
          <a:blip r:embed="rId4"/>
          <a:stretch>
            <a:fillRect/>
          </a:stretch>
        </p:blipFill>
        <p:spPr>
          <a:xfrm>
            <a:off x="685800" y="6587441"/>
            <a:ext cx="4686300" cy="1215693"/>
          </a:xfrm>
          <a:prstGeom prst="rect">
            <a:avLst/>
          </a:prstGeom>
        </p:spPr>
      </p:pic>
      <p:pic>
        <p:nvPicPr>
          <p:cNvPr id="16" name="Picture 15">
            <a:extLst>
              <a:ext uri="{FF2B5EF4-FFF2-40B4-BE49-F238E27FC236}">
                <a16:creationId xmlns:a16="http://schemas.microsoft.com/office/drawing/2014/main" id="{3241AA1F-3A25-2559-C730-303E797208B5}"/>
              </a:ext>
            </a:extLst>
          </p:cNvPr>
          <p:cNvPicPr>
            <a:picLocks noChangeAspect="1"/>
          </p:cNvPicPr>
          <p:nvPr/>
        </p:nvPicPr>
        <p:blipFill>
          <a:blip r:embed="rId5"/>
          <a:stretch>
            <a:fillRect/>
          </a:stretch>
        </p:blipFill>
        <p:spPr>
          <a:xfrm>
            <a:off x="685800" y="8495393"/>
            <a:ext cx="4076700" cy="1175265"/>
          </a:xfrm>
          <a:prstGeom prst="rect">
            <a:avLst/>
          </a:prstGeom>
        </p:spPr>
      </p:pic>
    </p:spTree>
    <p:extLst>
      <p:ext uri="{BB962C8B-B14F-4D97-AF65-F5344CB8AC3E}">
        <p14:creationId xmlns:p14="http://schemas.microsoft.com/office/powerpoint/2010/main" val="40269460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DBB50-8365-C70C-337A-68275846389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06E24FCA-ABD8-6E17-358C-D171F0D452BA}"/>
              </a:ext>
            </a:extLst>
          </p:cNvPr>
          <p:cNvSpPr>
            <a:spLocks noGrp="1"/>
          </p:cNvSpPr>
          <p:nvPr>
            <p:ph type="body" idx="1"/>
          </p:nvPr>
        </p:nvSpPr>
        <p:spPr>
          <a:xfrm>
            <a:off x="264945" y="1608138"/>
            <a:ext cx="7242600" cy="7402511"/>
          </a:xfrm>
        </p:spPr>
        <p:txBody>
          <a:bodyPr/>
          <a:lstStyle/>
          <a:p>
            <a:r>
              <a:rPr lang="en-US" sz="1600" dirty="0"/>
              <a:t>Address:</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Location:</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Employee:</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Employment:</a:t>
            </a:r>
          </a:p>
          <a:p>
            <a:endParaRPr lang="en-US" sz="1600" dirty="0"/>
          </a:p>
          <a:p>
            <a:endParaRPr lang="en-US" sz="1600" u="sng" dirty="0"/>
          </a:p>
          <a:p>
            <a:endParaRPr lang="en-US" sz="1600" u="sng" dirty="0"/>
          </a:p>
          <a:p>
            <a:endParaRPr lang="en-US" sz="1600" u="sng" dirty="0"/>
          </a:p>
        </p:txBody>
      </p:sp>
      <p:sp>
        <p:nvSpPr>
          <p:cNvPr id="4" name="Google Shape;281;p67">
            <a:extLst>
              <a:ext uri="{FF2B5EF4-FFF2-40B4-BE49-F238E27FC236}">
                <a16:creationId xmlns:a16="http://schemas.microsoft.com/office/drawing/2014/main" id="{77AF3ACA-D80E-444D-85C5-05C85F820625}"/>
              </a:ext>
            </a:extLst>
          </p:cNvPr>
          <p:cNvSpPr txBox="1">
            <a:spLocks noGrp="1"/>
          </p:cNvSpPr>
          <p:nvPr>
            <p:ph type="title"/>
          </p:nvPr>
        </p:nvSpPr>
        <p:spPr>
          <a:xfrm>
            <a:off x="265112" y="48736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 </a:t>
            </a:r>
            <a:r>
              <a:rPr lang="en" baseline="-25000" dirty="0"/>
              <a:t>(contd…)</a:t>
            </a:r>
            <a:endParaRPr baseline="-25000" dirty="0"/>
          </a:p>
        </p:txBody>
      </p:sp>
      <p:pic>
        <p:nvPicPr>
          <p:cNvPr id="5" name="Picture 4">
            <a:extLst>
              <a:ext uri="{FF2B5EF4-FFF2-40B4-BE49-F238E27FC236}">
                <a16:creationId xmlns:a16="http://schemas.microsoft.com/office/drawing/2014/main" id="{5CC151B5-DDE1-A40E-88BE-151E8E357AE7}"/>
              </a:ext>
            </a:extLst>
          </p:cNvPr>
          <p:cNvPicPr>
            <a:picLocks noChangeAspect="1"/>
          </p:cNvPicPr>
          <p:nvPr/>
        </p:nvPicPr>
        <p:blipFill>
          <a:blip r:embed="rId2"/>
          <a:stretch>
            <a:fillRect/>
          </a:stretch>
        </p:blipFill>
        <p:spPr>
          <a:xfrm>
            <a:off x="838199" y="2055478"/>
            <a:ext cx="3676651" cy="1322305"/>
          </a:xfrm>
          <a:prstGeom prst="rect">
            <a:avLst/>
          </a:prstGeom>
        </p:spPr>
      </p:pic>
      <p:pic>
        <p:nvPicPr>
          <p:cNvPr id="7" name="Picture 6">
            <a:extLst>
              <a:ext uri="{FF2B5EF4-FFF2-40B4-BE49-F238E27FC236}">
                <a16:creationId xmlns:a16="http://schemas.microsoft.com/office/drawing/2014/main" id="{FEBAEA9E-F45D-A7E0-D1E6-7B11A1F58707}"/>
              </a:ext>
            </a:extLst>
          </p:cNvPr>
          <p:cNvPicPr>
            <a:picLocks noChangeAspect="1"/>
          </p:cNvPicPr>
          <p:nvPr/>
        </p:nvPicPr>
        <p:blipFill>
          <a:blip r:embed="rId3"/>
          <a:stretch>
            <a:fillRect/>
          </a:stretch>
        </p:blipFill>
        <p:spPr>
          <a:xfrm>
            <a:off x="838198" y="4057650"/>
            <a:ext cx="5320699" cy="1322304"/>
          </a:xfrm>
          <a:prstGeom prst="rect">
            <a:avLst/>
          </a:prstGeom>
        </p:spPr>
      </p:pic>
      <p:pic>
        <p:nvPicPr>
          <p:cNvPr id="9" name="Picture 8">
            <a:extLst>
              <a:ext uri="{FF2B5EF4-FFF2-40B4-BE49-F238E27FC236}">
                <a16:creationId xmlns:a16="http://schemas.microsoft.com/office/drawing/2014/main" id="{7DF3ABB5-071A-77E0-7E1E-3AA5E4AD1089}"/>
              </a:ext>
            </a:extLst>
          </p:cNvPr>
          <p:cNvPicPr>
            <a:picLocks noChangeAspect="1"/>
          </p:cNvPicPr>
          <p:nvPr/>
        </p:nvPicPr>
        <p:blipFill>
          <a:blip r:embed="rId4"/>
          <a:stretch>
            <a:fillRect/>
          </a:stretch>
        </p:blipFill>
        <p:spPr>
          <a:xfrm>
            <a:off x="838198" y="5989220"/>
            <a:ext cx="5124452" cy="1508866"/>
          </a:xfrm>
          <a:prstGeom prst="rect">
            <a:avLst/>
          </a:prstGeom>
        </p:spPr>
      </p:pic>
      <p:pic>
        <p:nvPicPr>
          <p:cNvPr id="13" name="Picture 12">
            <a:extLst>
              <a:ext uri="{FF2B5EF4-FFF2-40B4-BE49-F238E27FC236}">
                <a16:creationId xmlns:a16="http://schemas.microsoft.com/office/drawing/2014/main" id="{2718B816-5B2B-76CF-BB31-0C85DB96AABA}"/>
              </a:ext>
            </a:extLst>
          </p:cNvPr>
          <p:cNvPicPr>
            <a:picLocks noChangeAspect="1"/>
          </p:cNvPicPr>
          <p:nvPr/>
        </p:nvPicPr>
        <p:blipFill>
          <a:blip r:embed="rId5"/>
          <a:stretch>
            <a:fillRect/>
          </a:stretch>
        </p:blipFill>
        <p:spPr>
          <a:xfrm>
            <a:off x="838197" y="8014116"/>
            <a:ext cx="5320699" cy="1818810"/>
          </a:xfrm>
          <a:prstGeom prst="rect">
            <a:avLst/>
          </a:prstGeom>
        </p:spPr>
      </p:pic>
    </p:spTree>
    <p:extLst>
      <p:ext uri="{BB962C8B-B14F-4D97-AF65-F5344CB8AC3E}">
        <p14:creationId xmlns:p14="http://schemas.microsoft.com/office/powerpoint/2010/main" val="32270208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9276E-BFBE-4D46-98E2-5651029F325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7D2DC2D-5FFC-9A54-FED8-B28E90A23936}"/>
              </a:ext>
            </a:extLst>
          </p:cNvPr>
          <p:cNvSpPr>
            <a:spLocks noGrp="1"/>
          </p:cNvSpPr>
          <p:nvPr>
            <p:ph type="body" idx="1"/>
          </p:nvPr>
        </p:nvSpPr>
        <p:spPr>
          <a:xfrm>
            <a:off x="264945" y="1608138"/>
            <a:ext cx="7242600" cy="7402511"/>
          </a:xfrm>
        </p:spPr>
        <p:txBody>
          <a:bodyPr/>
          <a:lstStyle/>
          <a:p>
            <a:pPr marL="38100" indent="0">
              <a:buNone/>
            </a:pPr>
            <a:r>
              <a:rPr lang="en-US" sz="2000" dirty="0"/>
              <a:t>Follow the below steps to load data from HR-Dataset file to Staging table.</a:t>
            </a:r>
          </a:p>
          <a:p>
            <a:endParaRPr lang="en-US" sz="1600" dirty="0"/>
          </a:p>
          <a:p>
            <a:endParaRPr lang="en-US" sz="1600" b="1" dirty="0"/>
          </a:p>
          <a:p>
            <a:r>
              <a:rPr lang="en-US" sz="1600" b="1" dirty="0"/>
              <a:t>Step 1</a:t>
            </a:r>
            <a:r>
              <a:rPr lang="en-US" sz="1600" dirty="0"/>
              <a:t>: Convert the HR-Dataset.xlsx Excel to CSV format for loading data into PostgreSQL database.  Since this is a comma </a:t>
            </a:r>
            <a:r>
              <a:rPr lang="en-US" sz="1600" dirty="0" err="1"/>
              <a:t>separted</a:t>
            </a:r>
            <a:r>
              <a:rPr lang="en-US" sz="1600" dirty="0"/>
              <a:t> file, remove any comma within a field value. Below is the csv format converted file which has been used to load the raw data into HR_DB.</a:t>
            </a:r>
          </a:p>
          <a:p>
            <a:pPr marL="495300" lvl="1" indent="0">
              <a:buNone/>
            </a:pPr>
            <a:r>
              <a:rPr lang="en-US" sz="1600" b="1" dirty="0"/>
              <a:t>HR-Dataset.csv file: </a:t>
            </a:r>
            <a:r>
              <a:rPr lang="en-US" sz="1600" dirty="0">
                <a:hlinkClick r:id="rId2"/>
              </a:rPr>
              <a:t>https://github.com/its-developer-hub/HR-Database-in-PostgreSQL/blob/main/Raw_Data/hr-dataset.csv</a:t>
            </a:r>
            <a:endParaRPr lang="en-US" sz="1600" dirty="0"/>
          </a:p>
          <a:p>
            <a:pPr lvl="0" indent="0">
              <a:lnSpc>
                <a:spcPct val="100000"/>
              </a:lnSpc>
              <a:spcBef>
                <a:spcPts val="1600"/>
              </a:spcBef>
              <a:buClr>
                <a:schemeClr val="dk1"/>
              </a:buClr>
              <a:buSzPts val="1100"/>
              <a:buNone/>
            </a:pPr>
            <a:r>
              <a:rPr lang="en-US" sz="1600" b="1" dirty="0"/>
              <a:t>Step 2</a:t>
            </a:r>
            <a:r>
              <a:rPr lang="en-US" sz="1600" dirty="0"/>
              <a:t>: Create a Staging table to hold the raw data from HR-Dataset.csv file.</a:t>
            </a:r>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marL="38100" indent="0">
              <a:buNone/>
            </a:pPr>
            <a:endParaRPr lang="en-US" sz="1600" u="sng" dirty="0"/>
          </a:p>
        </p:txBody>
      </p:sp>
      <p:sp>
        <p:nvSpPr>
          <p:cNvPr id="4" name="Google Shape;281;p67">
            <a:extLst>
              <a:ext uri="{FF2B5EF4-FFF2-40B4-BE49-F238E27FC236}">
                <a16:creationId xmlns:a16="http://schemas.microsoft.com/office/drawing/2014/main" id="{257047FD-B974-C938-F9EA-34A0D146EF06}"/>
              </a:ext>
            </a:extLst>
          </p:cNvPr>
          <p:cNvSpPr txBox="1">
            <a:spLocks noGrp="1"/>
          </p:cNvSpPr>
          <p:nvPr>
            <p:ph type="title"/>
          </p:nvPr>
        </p:nvSpPr>
        <p:spPr>
          <a:xfrm>
            <a:off x="265112" y="48736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200" dirty="0"/>
              <a:t>DDL for Stg table to store raw HR-Dataset.csv file</a:t>
            </a:r>
            <a:endParaRPr sz="3200" baseline="-25000" dirty="0"/>
          </a:p>
        </p:txBody>
      </p:sp>
      <p:pic>
        <p:nvPicPr>
          <p:cNvPr id="6" name="Picture 5">
            <a:extLst>
              <a:ext uri="{FF2B5EF4-FFF2-40B4-BE49-F238E27FC236}">
                <a16:creationId xmlns:a16="http://schemas.microsoft.com/office/drawing/2014/main" id="{4447F47B-8B4C-D7FA-1CDA-58B48298D733}"/>
              </a:ext>
            </a:extLst>
          </p:cNvPr>
          <p:cNvPicPr>
            <a:picLocks noChangeAspect="1"/>
          </p:cNvPicPr>
          <p:nvPr/>
        </p:nvPicPr>
        <p:blipFill>
          <a:blip r:embed="rId3"/>
          <a:stretch>
            <a:fillRect/>
          </a:stretch>
        </p:blipFill>
        <p:spPr>
          <a:xfrm>
            <a:off x="823912" y="5795166"/>
            <a:ext cx="6683375" cy="3642521"/>
          </a:xfrm>
          <a:prstGeom prst="rect">
            <a:avLst/>
          </a:prstGeom>
        </p:spPr>
      </p:pic>
    </p:spTree>
    <p:extLst>
      <p:ext uri="{BB962C8B-B14F-4D97-AF65-F5344CB8AC3E}">
        <p14:creationId xmlns:p14="http://schemas.microsoft.com/office/powerpoint/2010/main" val="9347204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301EB-7791-61B6-B0B4-4970A001C72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7C9E828-1CD8-2332-E397-7BD4EFABBCB7}"/>
              </a:ext>
            </a:extLst>
          </p:cNvPr>
          <p:cNvSpPr>
            <a:spLocks noGrp="1"/>
          </p:cNvSpPr>
          <p:nvPr>
            <p:ph type="body" idx="1"/>
          </p:nvPr>
        </p:nvSpPr>
        <p:spPr>
          <a:xfrm>
            <a:off x="264945" y="1466850"/>
            <a:ext cx="7242600" cy="7543799"/>
          </a:xfrm>
        </p:spPr>
        <p:txBody>
          <a:bodyPr/>
          <a:lstStyle/>
          <a:p>
            <a:pPr lvl="0" indent="0">
              <a:lnSpc>
                <a:spcPct val="100000"/>
              </a:lnSpc>
              <a:spcBef>
                <a:spcPts val="1600"/>
              </a:spcBef>
              <a:buClr>
                <a:schemeClr val="dk1"/>
              </a:buClr>
              <a:buSzPts val="1100"/>
              <a:buNone/>
            </a:pPr>
            <a:r>
              <a:rPr lang="en-US" sz="1600" b="1" dirty="0"/>
              <a:t>Step 3</a:t>
            </a:r>
            <a:r>
              <a:rPr lang="en-US" sz="1600" dirty="0"/>
              <a:t>: Use the \copy command to copy the </a:t>
            </a:r>
            <a:r>
              <a:rPr lang="en-US" sz="1600" dirty="0" err="1"/>
              <a:t>HR_Dataset</a:t>
            </a:r>
            <a:r>
              <a:rPr lang="en-US" sz="1600" dirty="0"/>
              <a:t> file data into Raw table in stage schema.</a:t>
            </a:r>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b="1" dirty="0"/>
          </a:p>
          <a:p>
            <a:pPr lvl="0" indent="0">
              <a:lnSpc>
                <a:spcPct val="100000"/>
              </a:lnSpc>
              <a:spcBef>
                <a:spcPts val="1600"/>
              </a:spcBef>
              <a:buClr>
                <a:schemeClr val="dk1"/>
              </a:buClr>
              <a:buSzPts val="1100"/>
              <a:buNone/>
            </a:pPr>
            <a:r>
              <a:rPr lang="en-US" sz="1600" b="1" dirty="0"/>
              <a:t>Step 4:</a:t>
            </a:r>
            <a:r>
              <a:rPr lang="en-US" sz="1600" dirty="0"/>
              <a:t> Insert data from staging table to Target tables listed in ER diagram.</a:t>
            </a:r>
          </a:p>
          <a:p>
            <a:endParaRPr lang="en-US" sz="1600" dirty="0"/>
          </a:p>
          <a:p>
            <a:endParaRPr lang="en-US" sz="1600" dirty="0"/>
          </a:p>
          <a:p>
            <a:endParaRPr lang="en-US" sz="1600" dirty="0"/>
          </a:p>
          <a:p>
            <a:endParaRPr lang="en-US" sz="1600" u="sng" dirty="0"/>
          </a:p>
          <a:p>
            <a:endParaRPr lang="en-US" sz="1600" u="sng"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marL="38100" indent="0">
              <a:buNone/>
            </a:pPr>
            <a:endParaRPr lang="en-US" sz="1600" u="sng" dirty="0"/>
          </a:p>
        </p:txBody>
      </p:sp>
      <p:sp>
        <p:nvSpPr>
          <p:cNvPr id="4" name="Google Shape;281;p67">
            <a:extLst>
              <a:ext uri="{FF2B5EF4-FFF2-40B4-BE49-F238E27FC236}">
                <a16:creationId xmlns:a16="http://schemas.microsoft.com/office/drawing/2014/main" id="{BD1A09D3-D824-C06E-EAAD-D93C08BFE397}"/>
              </a:ext>
            </a:extLst>
          </p:cNvPr>
          <p:cNvSpPr txBox="1">
            <a:spLocks noGrp="1"/>
          </p:cNvSpPr>
          <p:nvPr>
            <p:ph type="title"/>
          </p:nvPr>
        </p:nvSpPr>
        <p:spPr>
          <a:xfrm>
            <a:off x="265112" y="48736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200" dirty="0"/>
              <a:t>DML</a:t>
            </a:r>
            <a:endParaRPr sz="3200" baseline="-25000" dirty="0"/>
          </a:p>
        </p:txBody>
      </p:sp>
      <p:pic>
        <p:nvPicPr>
          <p:cNvPr id="5" name="Picture 4">
            <a:extLst>
              <a:ext uri="{FF2B5EF4-FFF2-40B4-BE49-F238E27FC236}">
                <a16:creationId xmlns:a16="http://schemas.microsoft.com/office/drawing/2014/main" id="{C7231219-E637-06EB-F86F-79A013127776}"/>
              </a:ext>
            </a:extLst>
          </p:cNvPr>
          <p:cNvPicPr>
            <a:picLocks noChangeAspect="1"/>
          </p:cNvPicPr>
          <p:nvPr/>
        </p:nvPicPr>
        <p:blipFill>
          <a:blip r:embed="rId2"/>
          <a:stretch>
            <a:fillRect/>
          </a:stretch>
        </p:blipFill>
        <p:spPr>
          <a:xfrm>
            <a:off x="804360" y="2717006"/>
            <a:ext cx="6468478" cy="571500"/>
          </a:xfrm>
          <a:prstGeom prst="rect">
            <a:avLst/>
          </a:prstGeom>
        </p:spPr>
      </p:pic>
      <p:pic>
        <p:nvPicPr>
          <p:cNvPr id="10" name="Picture 9">
            <a:extLst>
              <a:ext uri="{FF2B5EF4-FFF2-40B4-BE49-F238E27FC236}">
                <a16:creationId xmlns:a16="http://schemas.microsoft.com/office/drawing/2014/main" id="{C70E6C3E-4ACB-E597-1470-DE9B3406F910}"/>
              </a:ext>
            </a:extLst>
          </p:cNvPr>
          <p:cNvPicPr>
            <a:picLocks noChangeAspect="1"/>
          </p:cNvPicPr>
          <p:nvPr/>
        </p:nvPicPr>
        <p:blipFill>
          <a:blip r:embed="rId3"/>
          <a:stretch>
            <a:fillRect/>
          </a:stretch>
        </p:blipFill>
        <p:spPr>
          <a:xfrm>
            <a:off x="804360" y="4670714"/>
            <a:ext cx="5634540" cy="4951105"/>
          </a:xfrm>
          <a:prstGeom prst="rect">
            <a:avLst/>
          </a:prstGeom>
        </p:spPr>
      </p:pic>
    </p:spTree>
    <p:extLst>
      <p:ext uri="{BB962C8B-B14F-4D97-AF65-F5344CB8AC3E}">
        <p14:creationId xmlns:p14="http://schemas.microsoft.com/office/powerpoint/2010/main" val="34906779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748E-C570-865A-245B-381D6EFAFFF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D1B3D-62E6-8CB7-63D5-997B457818D3}"/>
              </a:ext>
            </a:extLst>
          </p:cNvPr>
          <p:cNvSpPr>
            <a:spLocks noGrp="1"/>
          </p:cNvSpPr>
          <p:nvPr>
            <p:ph type="body" idx="1"/>
          </p:nvPr>
        </p:nvSpPr>
        <p:spPr>
          <a:xfrm>
            <a:off x="264945" y="1608138"/>
            <a:ext cx="7242600" cy="7402511"/>
          </a:xfrm>
        </p:spPr>
        <p:txBody>
          <a:bodyPr/>
          <a:lstStyle/>
          <a:p>
            <a:r>
              <a:rPr lang="en-US" sz="1600" b="1" u="sng" dirty="0"/>
              <a:t>Step 4:</a:t>
            </a:r>
            <a:r>
              <a:rPr lang="en-US" sz="1600" u="sng" dirty="0"/>
              <a:t> (Contd..)</a:t>
            </a:r>
          </a:p>
          <a:p>
            <a:endParaRPr lang="en-US" sz="1600" u="sng" dirty="0"/>
          </a:p>
          <a:p>
            <a:endParaRPr lang="en-US" sz="1600" u="sng" dirty="0"/>
          </a:p>
        </p:txBody>
      </p:sp>
      <p:sp>
        <p:nvSpPr>
          <p:cNvPr id="4" name="Google Shape;281;p67">
            <a:extLst>
              <a:ext uri="{FF2B5EF4-FFF2-40B4-BE49-F238E27FC236}">
                <a16:creationId xmlns:a16="http://schemas.microsoft.com/office/drawing/2014/main" id="{B0D0937C-93F0-E259-2BAF-FB53592059FF}"/>
              </a:ext>
            </a:extLst>
          </p:cNvPr>
          <p:cNvSpPr txBox="1">
            <a:spLocks noGrp="1"/>
          </p:cNvSpPr>
          <p:nvPr>
            <p:ph type="title"/>
          </p:nvPr>
        </p:nvSpPr>
        <p:spPr>
          <a:xfrm>
            <a:off x="265112" y="48736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DML</a:t>
            </a:r>
            <a:endParaRPr baseline="-25000" dirty="0"/>
          </a:p>
        </p:txBody>
      </p:sp>
      <p:pic>
        <p:nvPicPr>
          <p:cNvPr id="6" name="Picture 5">
            <a:extLst>
              <a:ext uri="{FF2B5EF4-FFF2-40B4-BE49-F238E27FC236}">
                <a16:creationId xmlns:a16="http://schemas.microsoft.com/office/drawing/2014/main" id="{46190078-00EB-89FC-0582-DA329909C2E2}"/>
              </a:ext>
            </a:extLst>
          </p:cNvPr>
          <p:cNvPicPr>
            <a:picLocks noChangeAspect="1"/>
          </p:cNvPicPr>
          <p:nvPr/>
        </p:nvPicPr>
        <p:blipFill>
          <a:blip r:embed="rId2"/>
          <a:stretch>
            <a:fillRect/>
          </a:stretch>
        </p:blipFill>
        <p:spPr>
          <a:xfrm>
            <a:off x="781050" y="2108993"/>
            <a:ext cx="5029200" cy="3237186"/>
          </a:xfrm>
          <a:prstGeom prst="rect">
            <a:avLst/>
          </a:prstGeom>
        </p:spPr>
      </p:pic>
      <p:pic>
        <p:nvPicPr>
          <p:cNvPr id="10" name="Picture 9">
            <a:extLst>
              <a:ext uri="{FF2B5EF4-FFF2-40B4-BE49-F238E27FC236}">
                <a16:creationId xmlns:a16="http://schemas.microsoft.com/office/drawing/2014/main" id="{45A5D576-4269-FF6E-5C5B-2CFF3908FB42}"/>
              </a:ext>
            </a:extLst>
          </p:cNvPr>
          <p:cNvPicPr>
            <a:picLocks noChangeAspect="1"/>
          </p:cNvPicPr>
          <p:nvPr/>
        </p:nvPicPr>
        <p:blipFill>
          <a:blip r:embed="rId3"/>
          <a:stretch>
            <a:fillRect/>
          </a:stretch>
        </p:blipFill>
        <p:spPr>
          <a:xfrm>
            <a:off x="781050" y="5346180"/>
            <a:ext cx="5575138" cy="4612854"/>
          </a:xfrm>
          <a:prstGeom prst="rect">
            <a:avLst/>
          </a:prstGeom>
        </p:spPr>
      </p:pic>
    </p:spTree>
    <p:extLst>
      <p:ext uri="{BB962C8B-B14F-4D97-AF65-F5344CB8AC3E}">
        <p14:creationId xmlns:p14="http://schemas.microsoft.com/office/powerpoint/2010/main" val="9939318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CRUD</a:t>
            </a:r>
            <a:endParaRPr dirty="0"/>
          </a:p>
        </p:txBody>
      </p:sp>
      <p:sp>
        <p:nvSpPr>
          <p:cNvPr id="289" name="Google Shape;289;p68"/>
          <p:cNvSpPr txBox="1">
            <a:spLocks noGrp="1"/>
          </p:cNvSpPr>
          <p:nvPr>
            <p:ph type="body" idx="1"/>
          </p:nvPr>
        </p:nvSpPr>
        <p:spPr>
          <a:xfrm>
            <a:off x="264950" y="2156849"/>
            <a:ext cx="7242600" cy="7731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1: Return a list of employees with Job Titles and Department Names</a:t>
            </a:r>
            <a:endParaRPr sz="1900" b="1" dirty="0">
              <a:latin typeface="Open Sans"/>
              <a:ea typeface="Open Sans"/>
              <a:cs typeface="Open Sans"/>
              <a:sym typeface="Open Sans"/>
            </a:endParaRPr>
          </a:p>
          <a:p>
            <a:pPr marL="0" lvl="0" indent="0" algn="l" rtl="0">
              <a:spcBef>
                <a:spcPts val="1600"/>
              </a:spcBef>
              <a:spcAft>
                <a:spcPts val="0"/>
              </a:spcAft>
              <a:buNone/>
            </a:pPr>
            <a:r>
              <a:rPr lang="en-US" sz="1900" b="1" dirty="0">
                <a:latin typeface="Open Sans"/>
                <a:ea typeface="Open Sans"/>
                <a:cs typeface="Open Sans"/>
                <a:sym typeface="Open Sans"/>
              </a:rPr>
              <a:t>Query:</a:t>
            </a: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A80D628F-DDE6-A81D-9339-E28DED4C34ED}"/>
              </a:ext>
            </a:extLst>
          </p:cNvPr>
          <p:cNvPicPr>
            <a:picLocks noChangeAspect="1"/>
          </p:cNvPicPr>
          <p:nvPr/>
        </p:nvPicPr>
        <p:blipFill>
          <a:blip r:embed="rId3"/>
          <a:stretch>
            <a:fillRect/>
          </a:stretch>
        </p:blipFill>
        <p:spPr>
          <a:xfrm>
            <a:off x="433387" y="5763188"/>
            <a:ext cx="6905625" cy="3895725"/>
          </a:xfrm>
          <a:prstGeom prst="rect">
            <a:avLst/>
          </a:prstGeom>
        </p:spPr>
      </p:pic>
      <p:graphicFrame>
        <p:nvGraphicFramePr>
          <p:cNvPr id="4" name="Table 3">
            <a:extLst>
              <a:ext uri="{FF2B5EF4-FFF2-40B4-BE49-F238E27FC236}">
                <a16:creationId xmlns:a16="http://schemas.microsoft.com/office/drawing/2014/main" id="{E59093FA-3EB8-D8DA-62CB-DA65A6A8E06E}"/>
              </a:ext>
            </a:extLst>
          </p:cNvPr>
          <p:cNvGraphicFramePr>
            <a:graphicFrameLocks noGrp="1"/>
          </p:cNvGraphicFramePr>
          <p:nvPr>
            <p:extLst>
              <p:ext uri="{D42A27DB-BD31-4B8C-83A1-F6EECF244321}">
                <p14:modId xmlns:p14="http://schemas.microsoft.com/office/powerpoint/2010/main" val="2802891315"/>
              </p:ext>
            </p:extLst>
          </p:nvPr>
        </p:nvGraphicFramePr>
        <p:xfrm>
          <a:off x="493450" y="3960600"/>
          <a:ext cx="5948363" cy="1371600"/>
        </p:xfrm>
        <a:graphic>
          <a:graphicData uri="http://schemas.openxmlformats.org/drawingml/2006/table">
            <a:tbl>
              <a:tblPr firstRow="1" bandRow="1">
                <a:tableStyleId>{2D5ABB26-0587-4C30-8999-92F81FD0307C}</a:tableStyleId>
              </a:tblPr>
              <a:tblGrid>
                <a:gridCol w="5948363">
                  <a:extLst>
                    <a:ext uri="{9D8B030D-6E8A-4147-A177-3AD203B41FA5}">
                      <a16:colId xmlns:a16="http://schemas.microsoft.com/office/drawing/2014/main" val="1382943385"/>
                    </a:ext>
                  </a:extLst>
                </a:gridCol>
              </a:tblGrid>
              <a:tr h="1253962">
                <a:tc>
                  <a:txBody>
                    <a:bodyPr/>
                    <a:lstStyle/>
                    <a:p>
                      <a:r>
                        <a:rPr lang="en-US" dirty="0"/>
                        <a:t>select distinct </a:t>
                      </a:r>
                      <a:r>
                        <a:rPr lang="en-US" dirty="0" err="1"/>
                        <a:t>e.emp_nm</a:t>
                      </a:r>
                      <a:r>
                        <a:rPr lang="en-US" dirty="0"/>
                        <a:t>, </a:t>
                      </a:r>
                      <a:r>
                        <a:rPr lang="en-US" dirty="0" err="1"/>
                        <a:t>j.job_title</a:t>
                      </a:r>
                      <a:r>
                        <a:rPr lang="en-US" dirty="0"/>
                        <a:t>, </a:t>
                      </a:r>
                      <a:r>
                        <a:rPr lang="en-US" dirty="0" err="1"/>
                        <a:t>d.dept_nm</a:t>
                      </a:r>
                      <a:endParaRPr lang="en-US" dirty="0"/>
                    </a:p>
                    <a:p>
                      <a:r>
                        <a:rPr lang="en-US" dirty="0"/>
                        <a:t>FROM </a:t>
                      </a:r>
                      <a:r>
                        <a:rPr lang="en-US" dirty="0" err="1"/>
                        <a:t>hr_schema.employment</a:t>
                      </a:r>
                      <a:r>
                        <a:rPr lang="en-US" dirty="0"/>
                        <a:t> </a:t>
                      </a:r>
                      <a:r>
                        <a:rPr lang="en-US" dirty="0" err="1"/>
                        <a:t>em</a:t>
                      </a:r>
                      <a:endParaRPr lang="en-US" dirty="0"/>
                    </a:p>
                    <a:p>
                      <a:r>
                        <a:rPr lang="en-US" dirty="0"/>
                        <a:t>JOIN </a:t>
                      </a:r>
                      <a:r>
                        <a:rPr lang="en-US" dirty="0" err="1"/>
                        <a:t>hr_schema.employee</a:t>
                      </a:r>
                      <a:r>
                        <a:rPr lang="en-US" dirty="0"/>
                        <a:t> e ON </a:t>
                      </a:r>
                      <a:r>
                        <a:rPr lang="en-US" dirty="0" err="1"/>
                        <a:t>em.emp_id</a:t>
                      </a:r>
                      <a:r>
                        <a:rPr lang="en-US" dirty="0"/>
                        <a:t> = </a:t>
                      </a:r>
                      <a:r>
                        <a:rPr lang="en-US" dirty="0" err="1"/>
                        <a:t>e.emp_id</a:t>
                      </a:r>
                      <a:endParaRPr lang="en-US" dirty="0"/>
                    </a:p>
                    <a:p>
                      <a:r>
                        <a:rPr lang="en-US" dirty="0"/>
                        <a:t>JOIN </a:t>
                      </a:r>
                      <a:r>
                        <a:rPr lang="en-US" dirty="0" err="1"/>
                        <a:t>hr_schema.job</a:t>
                      </a:r>
                      <a:r>
                        <a:rPr lang="en-US" dirty="0"/>
                        <a:t> j ON </a:t>
                      </a:r>
                      <a:r>
                        <a:rPr lang="en-US" dirty="0" err="1"/>
                        <a:t>em.job_id</a:t>
                      </a:r>
                      <a:r>
                        <a:rPr lang="en-US" dirty="0"/>
                        <a:t> = </a:t>
                      </a:r>
                      <a:r>
                        <a:rPr lang="en-US" dirty="0" err="1"/>
                        <a:t>j.job_id</a:t>
                      </a:r>
                      <a:endParaRPr lang="en-US" dirty="0"/>
                    </a:p>
                    <a:p>
                      <a:r>
                        <a:rPr lang="en-US" dirty="0"/>
                        <a:t>JOIN </a:t>
                      </a:r>
                      <a:r>
                        <a:rPr lang="en-US" dirty="0" err="1"/>
                        <a:t>hr_schema.department</a:t>
                      </a:r>
                      <a:r>
                        <a:rPr lang="en-US" dirty="0"/>
                        <a:t> d ON </a:t>
                      </a:r>
                      <a:r>
                        <a:rPr lang="en-US" dirty="0" err="1"/>
                        <a:t>em.dept_id</a:t>
                      </a:r>
                      <a:r>
                        <a:rPr lang="en-US" dirty="0"/>
                        <a:t> = </a:t>
                      </a:r>
                      <a:r>
                        <a:rPr lang="en-US" dirty="0" err="1"/>
                        <a:t>d.dept_id</a:t>
                      </a:r>
                      <a:endParaRPr lang="en-US" dirty="0"/>
                    </a:p>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6961575"/>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2: Insert Web Programmer as a new job title</a:t>
            </a:r>
            <a:endParaRPr sz="1900" b="1" dirty="0">
              <a:latin typeface="Open Sans"/>
              <a:ea typeface="Open Sans"/>
              <a:cs typeface="Open Sans"/>
              <a:sym typeface="Open Sans"/>
            </a:endParaRPr>
          </a:p>
          <a:p>
            <a:pPr marL="0" lvl="0" indent="0" algn="l" rtl="0">
              <a:spcBef>
                <a:spcPts val="1600"/>
              </a:spcBef>
              <a:spcAft>
                <a:spcPts val="0"/>
              </a:spcAft>
              <a:buNone/>
            </a:pPr>
            <a:endParaRPr lang="en-US" sz="1900" b="1" dirty="0">
              <a:latin typeface="Open Sans"/>
              <a:ea typeface="Open Sans"/>
              <a:cs typeface="Open Sans"/>
              <a:sym typeface="Open Sans"/>
            </a:endParaRPr>
          </a:p>
          <a:p>
            <a:pPr marL="0" lvl="0" indent="0" algn="l" rtl="0">
              <a:spcBef>
                <a:spcPts val="1600"/>
              </a:spcBef>
              <a:spcAft>
                <a:spcPts val="0"/>
              </a:spcAft>
              <a:buNone/>
            </a:pPr>
            <a:r>
              <a:rPr lang="en-US" sz="1900" b="1" dirty="0">
                <a:latin typeface="Open Sans"/>
                <a:ea typeface="Open Sans"/>
                <a:cs typeface="Open Sans"/>
                <a:sym typeface="Open Sans"/>
              </a:rPr>
              <a:t>Query:</a:t>
            </a:r>
            <a:endParaRPr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lang="en-US" sz="1400" b="1" dirty="0">
              <a:latin typeface="Open Sans"/>
              <a:ea typeface="Open Sans"/>
              <a:cs typeface="Open Sans"/>
              <a:sym typeface="Open Sans"/>
            </a:endParaRPr>
          </a:p>
          <a:p>
            <a:pPr marL="457200" lvl="1" indent="0">
              <a:buNone/>
            </a:pPr>
            <a:r>
              <a:rPr lang="en-US" sz="1400" b="1" dirty="0">
                <a:latin typeface="Open Sans"/>
                <a:ea typeface="Open Sans"/>
                <a:cs typeface="Open Sans"/>
                <a:sym typeface="Open Sans"/>
              </a:rPr>
              <a:t>Run the below select statement to confirm</a:t>
            </a: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2C76BC7D-F0FA-50BC-422D-25D6B00F34BF}"/>
              </a:ext>
            </a:extLst>
          </p:cNvPr>
          <p:cNvGraphicFramePr>
            <a:graphicFrameLocks noGrp="1"/>
          </p:cNvGraphicFramePr>
          <p:nvPr>
            <p:extLst>
              <p:ext uri="{D42A27DB-BD31-4B8C-83A1-F6EECF244321}">
                <p14:modId xmlns:p14="http://schemas.microsoft.com/office/powerpoint/2010/main" val="3222662252"/>
              </p:ext>
            </p:extLst>
          </p:nvPr>
        </p:nvGraphicFramePr>
        <p:xfrm>
          <a:off x="760888" y="4553289"/>
          <a:ext cx="5667100" cy="951822"/>
        </p:xfrm>
        <a:graphic>
          <a:graphicData uri="http://schemas.openxmlformats.org/drawingml/2006/table">
            <a:tbl>
              <a:tblPr firstRow="1" bandRow="1">
                <a:tableStyleId>{2D5ABB26-0587-4C30-8999-92F81FD0307C}</a:tableStyleId>
              </a:tblPr>
              <a:tblGrid>
                <a:gridCol w="5667100">
                  <a:extLst>
                    <a:ext uri="{9D8B030D-6E8A-4147-A177-3AD203B41FA5}">
                      <a16:colId xmlns:a16="http://schemas.microsoft.com/office/drawing/2014/main" val="1074239622"/>
                    </a:ext>
                  </a:extLst>
                </a:gridCol>
              </a:tblGrid>
              <a:tr h="951822">
                <a:tc>
                  <a:txBody>
                    <a:bodyPr/>
                    <a:lstStyle/>
                    <a:p>
                      <a:r>
                        <a:rPr lang="en-US" dirty="0"/>
                        <a:t>INSERT INTO HR_SCHEMA.JOB (</a:t>
                      </a:r>
                      <a:r>
                        <a:rPr lang="en-US" dirty="0" err="1"/>
                        <a:t>job_title</a:t>
                      </a:r>
                      <a:r>
                        <a:rPr lang="en-US" dirty="0"/>
                        <a:t>)</a:t>
                      </a:r>
                    </a:p>
                    <a:p>
                      <a:r>
                        <a:rPr lang="en-US" dirty="0"/>
                        <a:t>values('Web Programmer')</a:t>
                      </a:r>
                    </a:p>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6143770"/>
                  </a:ext>
                </a:extLst>
              </a:tr>
            </a:tbl>
          </a:graphicData>
        </a:graphic>
      </p:graphicFrame>
      <p:pic>
        <p:nvPicPr>
          <p:cNvPr id="4" name="Picture 3">
            <a:extLst>
              <a:ext uri="{FF2B5EF4-FFF2-40B4-BE49-F238E27FC236}">
                <a16:creationId xmlns:a16="http://schemas.microsoft.com/office/drawing/2014/main" id="{DB9719AB-7C71-79A1-721F-C98633745E74}"/>
              </a:ext>
            </a:extLst>
          </p:cNvPr>
          <p:cNvPicPr>
            <a:picLocks noChangeAspect="1"/>
          </p:cNvPicPr>
          <p:nvPr/>
        </p:nvPicPr>
        <p:blipFill>
          <a:blip r:embed="rId3"/>
          <a:stretch>
            <a:fillRect/>
          </a:stretch>
        </p:blipFill>
        <p:spPr>
          <a:xfrm>
            <a:off x="913288" y="6039498"/>
            <a:ext cx="6594162" cy="1382813"/>
          </a:xfrm>
          <a:prstGeom prst="rect">
            <a:avLst/>
          </a:prstGeom>
        </p:spPr>
      </p:pic>
      <p:pic>
        <p:nvPicPr>
          <p:cNvPr id="6" name="Picture 5">
            <a:extLst>
              <a:ext uri="{FF2B5EF4-FFF2-40B4-BE49-F238E27FC236}">
                <a16:creationId xmlns:a16="http://schemas.microsoft.com/office/drawing/2014/main" id="{4E6E2A0C-27FD-7D84-CD76-751699EED597}"/>
              </a:ext>
            </a:extLst>
          </p:cNvPr>
          <p:cNvPicPr>
            <a:picLocks noChangeAspect="1"/>
          </p:cNvPicPr>
          <p:nvPr/>
        </p:nvPicPr>
        <p:blipFill>
          <a:blip r:embed="rId4"/>
          <a:stretch>
            <a:fillRect/>
          </a:stretch>
        </p:blipFill>
        <p:spPr>
          <a:xfrm>
            <a:off x="875188" y="8216939"/>
            <a:ext cx="4344512" cy="118956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3: Correct the job title from web programmer to web developer</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chemeClr val="lt1"/>
                </a:highlight>
                <a:latin typeface="Open Sans"/>
                <a:ea typeface="Open Sans"/>
                <a:cs typeface="Open Sans"/>
                <a:sym typeface="Open Sans"/>
              </a:rPr>
              <a:t>     </a:t>
            </a:r>
            <a:endParaRPr sz="1200" dirty="0">
              <a:solidFill>
                <a:srgbClr val="525C65"/>
              </a:solidFill>
              <a:highlight>
                <a:schemeClr val="lt1"/>
              </a:highlight>
              <a:latin typeface="Open Sans"/>
              <a:ea typeface="Open Sans"/>
              <a:cs typeface="Open Sans"/>
              <a:sym typeface="Open Sans"/>
            </a:endParaRPr>
          </a:p>
          <a:p>
            <a:pPr marL="0" lvl="0" indent="0" algn="l" rtl="0">
              <a:spcBef>
                <a:spcPts val="0"/>
              </a:spcBef>
              <a:spcAft>
                <a:spcPts val="0"/>
              </a:spcAft>
              <a:buNone/>
            </a:pPr>
            <a:r>
              <a:rPr lang="en-US" sz="1900" b="1" dirty="0">
                <a:latin typeface="Open Sans"/>
                <a:ea typeface="Open Sans"/>
                <a:cs typeface="Open Sans"/>
                <a:sym typeface="Open Sans"/>
              </a:rPr>
              <a:t>Query:</a:t>
            </a:r>
          </a:p>
          <a:p>
            <a:pPr marL="0" lvl="0" indent="0" algn="l" rtl="0">
              <a:spcBef>
                <a:spcPts val="0"/>
              </a:spcBef>
              <a:spcAft>
                <a:spcPts val="0"/>
              </a:spcAft>
              <a:buNone/>
            </a:pPr>
            <a:endParaRPr lang="en-US"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1" indent="0">
              <a:buNone/>
            </a:pPr>
            <a:endParaRPr lang="en-US" sz="1400" b="1" dirty="0">
              <a:latin typeface="Open Sans"/>
              <a:ea typeface="Open Sans"/>
              <a:cs typeface="Open Sans"/>
              <a:sym typeface="Open Sans"/>
            </a:endParaRPr>
          </a:p>
          <a:p>
            <a:pPr marL="457200" lvl="1" indent="0">
              <a:buNone/>
            </a:pPr>
            <a:r>
              <a:rPr lang="en-US" sz="1400" b="1" dirty="0">
                <a:latin typeface="Open Sans"/>
                <a:ea typeface="Open Sans"/>
                <a:cs typeface="Open Sans"/>
                <a:sym typeface="Open Sans"/>
              </a:rPr>
              <a:t>Run the below select statement to confirm</a:t>
            </a: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D5FACB07-8C07-6C8C-B77C-377530B97A50}"/>
              </a:ext>
            </a:extLst>
          </p:cNvPr>
          <p:cNvGraphicFramePr>
            <a:graphicFrameLocks noGrp="1"/>
          </p:cNvGraphicFramePr>
          <p:nvPr>
            <p:extLst>
              <p:ext uri="{D42A27DB-BD31-4B8C-83A1-F6EECF244321}">
                <p14:modId xmlns:p14="http://schemas.microsoft.com/office/powerpoint/2010/main" val="3795789607"/>
              </p:ext>
            </p:extLst>
          </p:nvPr>
        </p:nvGraphicFramePr>
        <p:xfrm>
          <a:off x="827682" y="4817623"/>
          <a:ext cx="5534400" cy="984250"/>
        </p:xfrm>
        <a:graphic>
          <a:graphicData uri="http://schemas.openxmlformats.org/drawingml/2006/table">
            <a:tbl>
              <a:tblPr firstRow="1" bandRow="1">
                <a:tableStyleId>{2D5ABB26-0587-4C30-8999-92F81FD0307C}</a:tableStyleId>
              </a:tblPr>
              <a:tblGrid>
                <a:gridCol w="5534400">
                  <a:extLst>
                    <a:ext uri="{9D8B030D-6E8A-4147-A177-3AD203B41FA5}">
                      <a16:colId xmlns:a16="http://schemas.microsoft.com/office/drawing/2014/main" val="4133416723"/>
                    </a:ext>
                  </a:extLst>
                </a:gridCol>
              </a:tblGrid>
              <a:tr h="984250">
                <a:tc>
                  <a:txBody>
                    <a:bodyPr/>
                    <a:lstStyle/>
                    <a:p>
                      <a:r>
                        <a:rPr lang="en-US" dirty="0"/>
                        <a:t>UPDATE HR_SCHEMA.JOB</a:t>
                      </a:r>
                    </a:p>
                    <a:p>
                      <a:r>
                        <a:rPr lang="en-US" dirty="0"/>
                        <a:t>SET JOB_TITLE = 'Web Developer'</a:t>
                      </a:r>
                    </a:p>
                    <a:p>
                      <a:r>
                        <a:rPr lang="en-US" dirty="0"/>
                        <a:t>WHERE JOB_TITLE = 'Web Programmer'</a:t>
                      </a:r>
                    </a:p>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5739047"/>
                  </a:ext>
                </a:extLst>
              </a:tr>
            </a:tbl>
          </a:graphicData>
        </a:graphic>
      </p:graphicFrame>
      <p:pic>
        <p:nvPicPr>
          <p:cNvPr id="4" name="Picture 3">
            <a:extLst>
              <a:ext uri="{FF2B5EF4-FFF2-40B4-BE49-F238E27FC236}">
                <a16:creationId xmlns:a16="http://schemas.microsoft.com/office/drawing/2014/main" id="{CBE97D05-1214-2D7D-EC51-D4BD039AA431}"/>
              </a:ext>
            </a:extLst>
          </p:cNvPr>
          <p:cNvPicPr>
            <a:picLocks noChangeAspect="1"/>
          </p:cNvPicPr>
          <p:nvPr/>
        </p:nvPicPr>
        <p:blipFill>
          <a:blip r:embed="rId3"/>
          <a:stretch>
            <a:fillRect/>
          </a:stretch>
        </p:blipFill>
        <p:spPr>
          <a:xfrm>
            <a:off x="923549" y="6148387"/>
            <a:ext cx="5438533" cy="1395413"/>
          </a:xfrm>
          <a:prstGeom prst="rect">
            <a:avLst/>
          </a:prstGeom>
        </p:spPr>
      </p:pic>
      <p:pic>
        <p:nvPicPr>
          <p:cNvPr id="6" name="Picture 5">
            <a:extLst>
              <a:ext uri="{FF2B5EF4-FFF2-40B4-BE49-F238E27FC236}">
                <a16:creationId xmlns:a16="http://schemas.microsoft.com/office/drawing/2014/main" id="{7300F8F2-2FC6-CEB2-FBC1-4BF3599E1547}"/>
              </a:ext>
            </a:extLst>
          </p:cNvPr>
          <p:cNvPicPr>
            <a:picLocks noChangeAspect="1"/>
          </p:cNvPicPr>
          <p:nvPr/>
        </p:nvPicPr>
        <p:blipFill>
          <a:blip r:embed="rId4"/>
          <a:stretch>
            <a:fillRect/>
          </a:stretch>
        </p:blipFill>
        <p:spPr>
          <a:xfrm>
            <a:off x="904498" y="8229985"/>
            <a:ext cx="4296151" cy="130015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4: Delete the job title Web Developer from the database</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chemeClr val="lt1"/>
                </a:highlight>
                <a:latin typeface="Open Sans"/>
                <a:ea typeface="Open Sans"/>
                <a:cs typeface="Open Sans"/>
                <a:sym typeface="Open Sans"/>
              </a:rPr>
              <a:t>         </a:t>
            </a:r>
            <a:endParaRPr sz="1200" dirty="0">
              <a:solidFill>
                <a:srgbClr val="525C65"/>
              </a:solidFill>
              <a:highlight>
                <a:schemeClr val="lt1"/>
              </a:highlight>
              <a:latin typeface="Open Sans"/>
              <a:ea typeface="Open Sans"/>
              <a:cs typeface="Open Sans"/>
              <a:sym typeface="Open Sans"/>
            </a:endParaRPr>
          </a:p>
          <a:p>
            <a:pPr marL="0" lvl="0" indent="0" algn="l" rtl="0">
              <a:spcBef>
                <a:spcPts val="0"/>
              </a:spcBef>
              <a:spcAft>
                <a:spcPts val="0"/>
              </a:spcAft>
              <a:buNone/>
            </a:pPr>
            <a:r>
              <a:rPr lang="en-US" sz="1900" b="1" dirty="0">
                <a:latin typeface="Open Sans"/>
                <a:ea typeface="Open Sans"/>
                <a:cs typeface="Open Sans"/>
                <a:sym typeface="Open Sans"/>
              </a:rPr>
              <a:t>Query:</a:t>
            </a:r>
          </a:p>
          <a:p>
            <a:pPr marL="0" lvl="0" indent="0" algn="l" rtl="0">
              <a:spcBef>
                <a:spcPts val="0"/>
              </a:spcBef>
              <a:spcAft>
                <a:spcPts val="0"/>
              </a:spcAft>
              <a:buNone/>
            </a:pPr>
            <a:endParaRPr lang="en-US"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457200" lvl="1" indent="0">
              <a:buNone/>
            </a:pPr>
            <a:r>
              <a:rPr lang="en-US" sz="1400" b="1" dirty="0">
                <a:latin typeface="Open Sans"/>
                <a:ea typeface="Open Sans"/>
                <a:cs typeface="Open Sans"/>
                <a:sym typeface="Open Sans"/>
              </a:rPr>
              <a:t>Run the below select statement to confirm</a:t>
            </a:r>
            <a:endParaRPr sz="13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275690F2-A705-C414-9A15-93AE50EE24EE}"/>
              </a:ext>
            </a:extLst>
          </p:cNvPr>
          <p:cNvGraphicFramePr>
            <a:graphicFrameLocks noGrp="1"/>
          </p:cNvGraphicFramePr>
          <p:nvPr>
            <p:extLst>
              <p:ext uri="{D42A27DB-BD31-4B8C-83A1-F6EECF244321}">
                <p14:modId xmlns:p14="http://schemas.microsoft.com/office/powerpoint/2010/main" val="2298460182"/>
              </p:ext>
            </p:extLst>
          </p:nvPr>
        </p:nvGraphicFramePr>
        <p:xfrm>
          <a:off x="704849" y="4500880"/>
          <a:ext cx="5676900" cy="1056640"/>
        </p:xfrm>
        <a:graphic>
          <a:graphicData uri="http://schemas.openxmlformats.org/drawingml/2006/table">
            <a:tbl>
              <a:tblPr firstRow="1" bandRow="1">
                <a:tableStyleId>{2D5ABB26-0587-4C30-8999-92F81FD0307C}</a:tableStyleId>
              </a:tblPr>
              <a:tblGrid>
                <a:gridCol w="5676900">
                  <a:extLst>
                    <a:ext uri="{9D8B030D-6E8A-4147-A177-3AD203B41FA5}">
                      <a16:colId xmlns:a16="http://schemas.microsoft.com/office/drawing/2014/main" val="695645926"/>
                    </a:ext>
                  </a:extLst>
                </a:gridCol>
              </a:tblGrid>
              <a:tr h="1056640">
                <a:tc>
                  <a:txBody>
                    <a:bodyPr/>
                    <a:lstStyle/>
                    <a:p>
                      <a:r>
                        <a:rPr lang="en-US" dirty="0"/>
                        <a:t>DELETE FROM HR_SCHEMA.JOB</a:t>
                      </a:r>
                    </a:p>
                    <a:p>
                      <a:r>
                        <a:rPr lang="en-US" dirty="0"/>
                        <a:t>WHERE JOB_TITLE = 'Web Developer'</a:t>
                      </a:r>
                    </a:p>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9042407"/>
                  </a:ext>
                </a:extLst>
              </a:tr>
            </a:tbl>
          </a:graphicData>
        </a:graphic>
      </p:graphicFrame>
      <p:pic>
        <p:nvPicPr>
          <p:cNvPr id="4" name="Picture 3">
            <a:extLst>
              <a:ext uri="{FF2B5EF4-FFF2-40B4-BE49-F238E27FC236}">
                <a16:creationId xmlns:a16="http://schemas.microsoft.com/office/drawing/2014/main" id="{7C10237F-2C25-CA44-9AC7-A0B028C15993}"/>
              </a:ext>
            </a:extLst>
          </p:cNvPr>
          <p:cNvPicPr>
            <a:picLocks noChangeAspect="1"/>
          </p:cNvPicPr>
          <p:nvPr/>
        </p:nvPicPr>
        <p:blipFill>
          <a:blip r:embed="rId3"/>
          <a:stretch>
            <a:fillRect/>
          </a:stretch>
        </p:blipFill>
        <p:spPr>
          <a:xfrm>
            <a:off x="704849" y="5983998"/>
            <a:ext cx="5575457" cy="1056639"/>
          </a:xfrm>
          <a:prstGeom prst="rect">
            <a:avLst/>
          </a:prstGeom>
        </p:spPr>
      </p:pic>
      <p:pic>
        <p:nvPicPr>
          <p:cNvPr id="6" name="Picture 5">
            <a:extLst>
              <a:ext uri="{FF2B5EF4-FFF2-40B4-BE49-F238E27FC236}">
                <a16:creationId xmlns:a16="http://schemas.microsoft.com/office/drawing/2014/main" id="{3C47A022-80BC-9682-8FD7-2E14C27846B2}"/>
              </a:ext>
            </a:extLst>
          </p:cNvPr>
          <p:cNvPicPr>
            <a:picLocks noChangeAspect="1"/>
          </p:cNvPicPr>
          <p:nvPr/>
        </p:nvPicPr>
        <p:blipFill>
          <a:blip r:embed="rId4"/>
          <a:stretch>
            <a:fillRect/>
          </a:stretch>
        </p:blipFill>
        <p:spPr>
          <a:xfrm>
            <a:off x="704848" y="7645076"/>
            <a:ext cx="4743451" cy="12152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5: How many employees are in each department?</a:t>
            </a: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r>
              <a:rPr lang="en-US" sz="1900" b="1" dirty="0">
                <a:latin typeface="Open Sans"/>
                <a:ea typeface="Open Sans"/>
                <a:cs typeface="Open Sans"/>
                <a:sym typeface="Open Sans"/>
              </a:rPr>
              <a:t>Query:</a:t>
            </a: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761A68A4-D20F-9B3F-5253-7BA7A1AF7F3D}"/>
              </a:ext>
            </a:extLst>
          </p:cNvPr>
          <p:cNvGraphicFramePr>
            <a:graphicFrameLocks noGrp="1"/>
          </p:cNvGraphicFramePr>
          <p:nvPr>
            <p:extLst>
              <p:ext uri="{D42A27DB-BD31-4B8C-83A1-F6EECF244321}">
                <p14:modId xmlns:p14="http://schemas.microsoft.com/office/powerpoint/2010/main" val="891360956"/>
              </p:ext>
            </p:extLst>
          </p:nvPr>
        </p:nvGraphicFramePr>
        <p:xfrm>
          <a:off x="623887" y="4748922"/>
          <a:ext cx="5715000" cy="1428750"/>
        </p:xfrm>
        <a:graphic>
          <a:graphicData uri="http://schemas.openxmlformats.org/drawingml/2006/table">
            <a:tbl>
              <a:tblPr firstRow="1" bandRow="1">
                <a:tableStyleId>{2D5ABB26-0587-4C30-8999-92F81FD0307C}</a:tableStyleId>
              </a:tblPr>
              <a:tblGrid>
                <a:gridCol w="5715000">
                  <a:extLst>
                    <a:ext uri="{9D8B030D-6E8A-4147-A177-3AD203B41FA5}">
                      <a16:colId xmlns:a16="http://schemas.microsoft.com/office/drawing/2014/main" val="566979722"/>
                    </a:ext>
                  </a:extLst>
                </a:gridCol>
              </a:tblGrid>
              <a:tr h="1428750">
                <a:tc>
                  <a:txBody>
                    <a:bodyPr/>
                    <a:lstStyle/>
                    <a:p>
                      <a:r>
                        <a:rPr lang="en-US" dirty="0"/>
                        <a:t>SELECT </a:t>
                      </a:r>
                      <a:r>
                        <a:rPr lang="en-US" dirty="0" err="1"/>
                        <a:t>d.dept_nm</a:t>
                      </a:r>
                      <a:r>
                        <a:rPr lang="en-US" dirty="0"/>
                        <a:t>, count(</a:t>
                      </a:r>
                      <a:r>
                        <a:rPr lang="en-US" dirty="0" err="1"/>
                        <a:t>em.emp_id</a:t>
                      </a:r>
                      <a:r>
                        <a:rPr lang="en-US" dirty="0"/>
                        <a:t>)</a:t>
                      </a:r>
                    </a:p>
                    <a:p>
                      <a:r>
                        <a:rPr lang="en-US" dirty="0"/>
                        <a:t>FROM </a:t>
                      </a:r>
                      <a:r>
                        <a:rPr lang="en-US" dirty="0" err="1"/>
                        <a:t>hr_schema.employment</a:t>
                      </a:r>
                      <a:r>
                        <a:rPr lang="en-US" dirty="0"/>
                        <a:t> </a:t>
                      </a:r>
                      <a:r>
                        <a:rPr lang="en-US" dirty="0" err="1"/>
                        <a:t>em</a:t>
                      </a:r>
                      <a:endParaRPr lang="en-US" dirty="0"/>
                    </a:p>
                    <a:p>
                      <a:r>
                        <a:rPr lang="en-US" dirty="0"/>
                        <a:t>JOIN </a:t>
                      </a:r>
                      <a:r>
                        <a:rPr lang="en-US" dirty="0" err="1"/>
                        <a:t>hr_schema.department</a:t>
                      </a:r>
                      <a:r>
                        <a:rPr lang="en-US" dirty="0"/>
                        <a:t> d ON </a:t>
                      </a:r>
                      <a:r>
                        <a:rPr lang="en-US" dirty="0" err="1"/>
                        <a:t>em.dept_id</a:t>
                      </a:r>
                      <a:r>
                        <a:rPr lang="en-US" dirty="0"/>
                        <a:t> = </a:t>
                      </a:r>
                      <a:r>
                        <a:rPr lang="en-US" dirty="0" err="1"/>
                        <a:t>d.dept_id</a:t>
                      </a:r>
                      <a:endParaRPr lang="en-US" dirty="0"/>
                    </a:p>
                    <a:p>
                      <a:r>
                        <a:rPr lang="en-US" dirty="0"/>
                        <a:t>group by </a:t>
                      </a:r>
                      <a:r>
                        <a:rPr lang="en-US" dirty="0" err="1"/>
                        <a:t>d.dept_nm</a:t>
                      </a:r>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6205385"/>
                  </a:ext>
                </a:extLst>
              </a:tr>
            </a:tbl>
          </a:graphicData>
        </a:graphic>
      </p:graphicFrame>
      <p:pic>
        <p:nvPicPr>
          <p:cNvPr id="4" name="Picture 3">
            <a:extLst>
              <a:ext uri="{FF2B5EF4-FFF2-40B4-BE49-F238E27FC236}">
                <a16:creationId xmlns:a16="http://schemas.microsoft.com/office/drawing/2014/main" id="{E01669CD-FC47-9070-46D6-0BAFD5C0F3C6}"/>
              </a:ext>
            </a:extLst>
          </p:cNvPr>
          <p:cNvPicPr>
            <a:picLocks noChangeAspect="1"/>
          </p:cNvPicPr>
          <p:nvPr/>
        </p:nvPicPr>
        <p:blipFill>
          <a:blip r:embed="rId3"/>
          <a:stretch>
            <a:fillRect/>
          </a:stretch>
        </p:blipFill>
        <p:spPr>
          <a:xfrm>
            <a:off x="623887" y="6457950"/>
            <a:ext cx="5800725" cy="22479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dirty="0">
              <a:latin typeface="Open Sans"/>
              <a:ea typeface="Open Sans"/>
              <a:cs typeface="Open Sans"/>
              <a:sym typeface="Open Sans"/>
            </a:endParaRPr>
          </a:p>
          <a:p>
            <a:pPr marL="0" lvl="0" indent="0" algn="l" rtl="0">
              <a:spcBef>
                <a:spcPts val="0"/>
              </a:spcBef>
              <a:spcAft>
                <a:spcPts val="0"/>
              </a:spcAft>
              <a:buNone/>
            </a:pPr>
            <a:endParaRPr lang="en-US" sz="1900" b="1" dirty="0">
              <a:latin typeface="Open Sans"/>
              <a:ea typeface="Open Sans"/>
              <a:cs typeface="Open Sans"/>
              <a:sym typeface="Open Sans"/>
            </a:endParaRPr>
          </a:p>
          <a:p>
            <a:pPr marL="0" lvl="0" indent="0" algn="l" rtl="0">
              <a:spcBef>
                <a:spcPts val="0"/>
              </a:spcBef>
              <a:spcAft>
                <a:spcPts val="0"/>
              </a:spcAft>
              <a:buNone/>
            </a:pPr>
            <a:r>
              <a:rPr lang="en-US" sz="1900" b="1" dirty="0">
                <a:latin typeface="Open Sans"/>
                <a:ea typeface="Open Sans"/>
                <a:cs typeface="Open Sans"/>
                <a:sym typeface="Open Sans"/>
              </a:rPr>
              <a:t>Query:</a:t>
            </a:r>
          </a:p>
          <a:p>
            <a:pPr marL="0" lvl="0" indent="0" algn="l" rtl="0">
              <a:spcBef>
                <a:spcPts val="0"/>
              </a:spcBef>
              <a:spcAft>
                <a:spcPts val="0"/>
              </a:spcAft>
              <a:buNone/>
            </a:pPr>
            <a:endParaRPr lang="en-US"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1586819B-C540-08B7-656E-51759718B122}"/>
              </a:ext>
            </a:extLst>
          </p:cNvPr>
          <p:cNvGraphicFramePr>
            <a:graphicFrameLocks noGrp="1"/>
          </p:cNvGraphicFramePr>
          <p:nvPr>
            <p:extLst>
              <p:ext uri="{D42A27DB-BD31-4B8C-83A1-F6EECF244321}">
                <p14:modId xmlns:p14="http://schemas.microsoft.com/office/powerpoint/2010/main" val="1517624228"/>
              </p:ext>
            </p:extLst>
          </p:nvPr>
        </p:nvGraphicFramePr>
        <p:xfrm>
          <a:off x="971550" y="4876800"/>
          <a:ext cx="5829300" cy="2171700"/>
        </p:xfrm>
        <a:graphic>
          <a:graphicData uri="http://schemas.openxmlformats.org/drawingml/2006/table">
            <a:tbl>
              <a:tblPr firstRow="1" bandRow="1">
                <a:tableStyleId>{2D5ABB26-0587-4C30-8999-92F81FD0307C}</a:tableStyleId>
              </a:tblPr>
              <a:tblGrid>
                <a:gridCol w="5829300">
                  <a:extLst>
                    <a:ext uri="{9D8B030D-6E8A-4147-A177-3AD203B41FA5}">
                      <a16:colId xmlns:a16="http://schemas.microsoft.com/office/drawing/2014/main" val="106309970"/>
                    </a:ext>
                  </a:extLst>
                </a:gridCol>
              </a:tblGrid>
              <a:tr h="2171700">
                <a:tc>
                  <a:txBody>
                    <a:bodyPr/>
                    <a:lstStyle/>
                    <a:p>
                      <a:r>
                        <a:rPr lang="en-US" dirty="0"/>
                        <a:t>select distinct </a:t>
                      </a:r>
                      <a:r>
                        <a:rPr lang="en-US" dirty="0" err="1"/>
                        <a:t>e.emp_nm</a:t>
                      </a:r>
                      <a:r>
                        <a:rPr lang="en-US" dirty="0"/>
                        <a:t>, </a:t>
                      </a:r>
                      <a:r>
                        <a:rPr lang="en-US" dirty="0" err="1"/>
                        <a:t>j.job_title</a:t>
                      </a:r>
                      <a:r>
                        <a:rPr lang="en-US" dirty="0"/>
                        <a:t>, </a:t>
                      </a:r>
                      <a:r>
                        <a:rPr lang="en-US" dirty="0" err="1"/>
                        <a:t>d.dept_nm</a:t>
                      </a:r>
                      <a:r>
                        <a:rPr lang="en-US" dirty="0"/>
                        <a:t>, </a:t>
                      </a:r>
                      <a:r>
                        <a:rPr lang="en-US" dirty="0" err="1"/>
                        <a:t>mgr.emp_nm</a:t>
                      </a:r>
                      <a:r>
                        <a:rPr lang="en-US" dirty="0"/>
                        <a:t> as manager, </a:t>
                      </a:r>
                      <a:r>
                        <a:rPr lang="en-US" dirty="0" err="1"/>
                        <a:t>em.start_dt</a:t>
                      </a:r>
                      <a:r>
                        <a:rPr lang="en-US" dirty="0"/>
                        <a:t>, </a:t>
                      </a:r>
                      <a:r>
                        <a:rPr lang="en-US" dirty="0" err="1"/>
                        <a:t>em.end_dt</a:t>
                      </a:r>
                      <a:endParaRPr lang="en-US" dirty="0"/>
                    </a:p>
                    <a:p>
                      <a:r>
                        <a:rPr lang="en-US" dirty="0"/>
                        <a:t>FROM </a:t>
                      </a:r>
                      <a:r>
                        <a:rPr lang="en-US" dirty="0" err="1"/>
                        <a:t>hr_schema.employment</a:t>
                      </a:r>
                      <a:r>
                        <a:rPr lang="en-US" dirty="0"/>
                        <a:t> </a:t>
                      </a:r>
                      <a:r>
                        <a:rPr lang="en-US" dirty="0" err="1"/>
                        <a:t>em</a:t>
                      </a:r>
                      <a:endParaRPr lang="en-US" dirty="0"/>
                    </a:p>
                    <a:p>
                      <a:r>
                        <a:rPr lang="en-US" dirty="0"/>
                        <a:t>JOIN </a:t>
                      </a:r>
                      <a:r>
                        <a:rPr lang="en-US" dirty="0" err="1"/>
                        <a:t>hr_schema.employee</a:t>
                      </a:r>
                      <a:r>
                        <a:rPr lang="en-US" dirty="0"/>
                        <a:t> e ON </a:t>
                      </a:r>
                      <a:r>
                        <a:rPr lang="en-US" dirty="0" err="1"/>
                        <a:t>em.emp_id</a:t>
                      </a:r>
                      <a:r>
                        <a:rPr lang="en-US" dirty="0"/>
                        <a:t> = </a:t>
                      </a:r>
                      <a:r>
                        <a:rPr lang="en-US" dirty="0" err="1"/>
                        <a:t>e.emp_id</a:t>
                      </a:r>
                      <a:endParaRPr lang="en-US" dirty="0"/>
                    </a:p>
                    <a:p>
                      <a:r>
                        <a:rPr lang="en-US" dirty="0"/>
                        <a:t>JOIN </a:t>
                      </a:r>
                      <a:r>
                        <a:rPr lang="en-US" dirty="0" err="1"/>
                        <a:t>hr_schema.employee</a:t>
                      </a:r>
                      <a:r>
                        <a:rPr lang="en-US" dirty="0"/>
                        <a:t> </a:t>
                      </a:r>
                      <a:r>
                        <a:rPr lang="en-US" dirty="0" err="1"/>
                        <a:t>mgr</a:t>
                      </a:r>
                      <a:r>
                        <a:rPr lang="en-US" dirty="0"/>
                        <a:t> ON </a:t>
                      </a:r>
                      <a:r>
                        <a:rPr lang="en-US" dirty="0" err="1"/>
                        <a:t>em.manager_id</a:t>
                      </a:r>
                      <a:r>
                        <a:rPr lang="en-US" dirty="0"/>
                        <a:t> = </a:t>
                      </a:r>
                      <a:r>
                        <a:rPr lang="en-US" dirty="0" err="1"/>
                        <a:t>mgr.emp_id</a:t>
                      </a:r>
                      <a:endParaRPr lang="en-US" dirty="0"/>
                    </a:p>
                    <a:p>
                      <a:r>
                        <a:rPr lang="en-US" dirty="0"/>
                        <a:t>JOIN </a:t>
                      </a:r>
                      <a:r>
                        <a:rPr lang="en-US" dirty="0" err="1"/>
                        <a:t>hr_schema.job</a:t>
                      </a:r>
                      <a:r>
                        <a:rPr lang="en-US" dirty="0"/>
                        <a:t> j ON </a:t>
                      </a:r>
                      <a:r>
                        <a:rPr lang="en-US" dirty="0" err="1"/>
                        <a:t>em.job_id</a:t>
                      </a:r>
                      <a:r>
                        <a:rPr lang="en-US" dirty="0"/>
                        <a:t> = </a:t>
                      </a:r>
                      <a:r>
                        <a:rPr lang="en-US" dirty="0" err="1"/>
                        <a:t>j.job_id</a:t>
                      </a:r>
                      <a:endParaRPr lang="en-US" dirty="0"/>
                    </a:p>
                    <a:p>
                      <a:r>
                        <a:rPr lang="en-US" dirty="0"/>
                        <a:t>JOIN </a:t>
                      </a:r>
                      <a:r>
                        <a:rPr lang="en-US" dirty="0" err="1"/>
                        <a:t>hr_schema.department</a:t>
                      </a:r>
                      <a:r>
                        <a:rPr lang="en-US" dirty="0"/>
                        <a:t> d ON </a:t>
                      </a:r>
                      <a:r>
                        <a:rPr lang="en-US" dirty="0" err="1"/>
                        <a:t>em.dept_id</a:t>
                      </a:r>
                      <a:r>
                        <a:rPr lang="en-US" dirty="0"/>
                        <a:t> = </a:t>
                      </a:r>
                      <a:r>
                        <a:rPr lang="en-US" dirty="0" err="1"/>
                        <a:t>d.dept_id</a:t>
                      </a:r>
                      <a:endParaRPr lang="en-US" dirty="0"/>
                    </a:p>
                    <a:p>
                      <a:r>
                        <a:rPr lang="en-US" dirty="0"/>
                        <a:t>where </a:t>
                      </a:r>
                      <a:r>
                        <a:rPr lang="en-US" dirty="0" err="1"/>
                        <a:t>e.emp_nm</a:t>
                      </a:r>
                      <a:r>
                        <a:rPr lang="en-US" dirty="0"/>
                        <a:t> = 'Toni Lembeck';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3926218"/>
                  </a:ext>
                </a:extLst>
              </a:tr>
            </a:tbl>
          </a:graphicData>
        </a:graphic>
      </p:graphicFrame>
      <p:pic>
        <p:nvPicPr>
          <p:cNvPr id="6" name="Picture 5">
            <a:extLst>
              <a:ext uri="{FF2B5EF4-FFF2-40B4-BE49-F238E27FC236}">
                <a16:creationId xmlns:a16="http://schemas.microsoft.com/office/drawing/2014/main" id="{AFCF491E-7A15-C753-1FBC-67EB9ADBA683}"/>
              </a:ext>
            </a:extLst>
          </p:cNvPr>
          <p:cNvPicPr>
            <a:picLocks noChangeAspect="1"/>
          </p:cNvPicPr>
          <p:nvPr/>
        </p:nvPicPr>
        <p:blipFill>
          <a:blip r:embed="rId3"/>
          <a:stretch>
            <a:fillRect/>
          </a:stretch>
        </p:blipFill>
        <p:spPr>
          <a:xfrm>
            <a:off x="385008" y="7415212"/>
            <a:ext cx="7122442" cy="180331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CRUD</a:t>
            </a:r>
            <a:endParaRPr dirty="0"/>
          </a:p>
        </p:txBody>
      </p:sp>
      <p:sp>
        <p:nvSpPr>
          <p:cNvPr id="331" name="Google Shape;331;p74"/>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Question 7: Describe how you would apply table security to restrict access to employee salaries using an SQL server.</a:t>
            </a:r>
            <a:endParaRPr sz="1900" b="1" dirty="0">
              <a:latin typeface="Open Sans"/>
              <a:ea typeface="Open Sans"/>
              <a:cs typeface="Open Sans"/>
              <a:sym typeface="Open Sans"/>
            </a:endParaRPr>
          </a:p>
          <a:p>
            <a:pPr marL="457200" lvl="0" indent="0" algn="l" rtl="0">
              <a:spcBef>
                <a:spcPts val="1600"/>
              </a:spcBef>
              <a:spcAft>
                <a:spcPts val="0"/>
              </a:spcAft>
              <a:buNone/>
            </a:pPr>
            <a:endParaRPr lang="en-US" sz="1900" b="1" dirty="0">
              <a:latin typeface="Open Sans"/>
              <a:ea typeface="Open Sans"/>
              <a:cs typeface="Open Sans"/>
              <a:sym typeface="Open Sans"/>
            </a:endParaRPr>
          </a:p>
          <a:p>
            <a:pPr marL="800100" indent="-342900">
              <a:spcBef>
                <a:spcPts val="1600"/>
              </a:spcBef>
            </a:pPr>
            <a:r>
              <a:rPr lang="en-US" sz="1900" dirty="0">
                <a:latin typeface="Open Sans"/>
                <a:ea typeface="Open Sans"/>
                <a:cs typeface="Open Sans"/>
                <a:sym typeface="Open Sans"/>
              </a:rPr>
              <a:t>Grant read access to all tables in the schema to all employees(domain level users).</a:t>
            </a:r>
          </a:p>
          <a:p>
            <a:pPr marL="800100" indent="-342900">
              <a:spcBef>
                <a:spcPts val="1600"/>
              </a:spcBef>
            </a:pPr>
            <a:r>
              <a:rPr lang="en-US" sz="1900" dirty="0">
                <a:latin typeface="Open Sans"/>
                <a:ea typeface="Open Sans"/>
                <a:cs typeface="Open Sans"/>
                <a:sym typeface="Open Sans"/>
              </a:rPr>
              <a:t>Then Revoke read access to Salary table to Employees.</a:t>
            </a:r>
          </a:p>
          <a:p>
            <a:pPr marL="457200" lvl="0" indent="0" algn="l" rtl="0">
              <a:spcBef>
                <a:spcPts val="1600"/>
              </a:spcBef>
              <a:spcAft>
                <a:spcPts val="0"/>
              </a:spcAft>
              <a:buNone/>
            </a:pPr>
            <a:endParaRPr lang="en-US" sz="1900" b="1" dirty="0">
              <a:latin typeface="Open Sans"/>
              <a:ea typeface="Open Sans"/>
              <a:cs typeface="Open Sans"/>
              <a:sym typeface="Open Sans"/>
            </a:endParaRPr>
          </a:p>
          <a:p>
            <a:pPr marL="457200" lvl="0" indent="0" algn="l" rtl="0">
              <a:spcBef>
                <a:spcPts val="1600"/>
              </a:spcBef>
              <a:spcAft>
                <a:spcPts val="0"/>
              </a:spcAft>
              <a:buNone/>
            </a:pPr>
            <a:r>
              <a:rPr lang="en-US" sz="1600" b="1" dirty="0">
                <a:latin typeface="Open Sans"/>
                <a:ea typeface="Open Sans"/>
                <a:cs typeface="Open Sans"/>
                <a:sym typeface="Open Sans"/>
              </a:rPr>
              <a:t>Sample Query:</a:t>
            </a: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EB94660E-BFFC-DC45-F998-2B72709A1503}"/>
              </a:ext>
            </a:extLst>
          </p:cNvPr>
          <p:cNvGraphicFramePr>
            <a:graphicFrameLocks noGrp="1"/>
          </p:cNvGraphicFramePr>
          <p:nvPr>
            <p:extLst>
              <p:ext uri="{D42A27DB-BD31-4B8C-83A1-F6EECF244321}">
                <p14:modId xmlns:p14="http://schemas.microsoft.com/office/powerpoint/2010/main" val="4245579000"/>
              </p:ext>
            </p:extLst>
          </p:nvPr>
        </p:nvGraphicFramePr>
        <p:xfrm>
          <a:off x="704850" y="6838949"/>
          <a:ext cx="5962650" cy="2019301"/>
        </p:xfrm>
        <a:graphic>
          <a:graphicData uri="http://schemas.openxmlformats.org/drawingml/2006/table">
            <a:tbl>
              <a:tblPr firstRow="1" bandRow="1">
                <a:tableStyleId>{2D5ABB26-0587-4C30-8999-92F81FD0307C}</a:tableStyleId>
              </a:tblPr>
              <a:tblGrid>
                <a:gridCol w="5962650">
                  <a:extLst>
                    <a:ext uri="{9D8B030D-6E8A-4147-A177-3AD203B41FA5}">
                      <a16:colId xmlns:a16="http://schemas.microsoft.com/office/drawing/2014/main" val="3936251073"/>
                    </a:ext>
                  </a:extLst>
                </a:gridCol>
              </a:tblGrid>
              <a:tr h="2019301">
                <a:tc>
                  <a:txBody>
                    <a:bodyPr/>
                    <a:lstStyle/>
                    <a:p>
                      <a:pPr lvl="0" indent="0">
                        <a:spcBef>
                          <a:spcPts val="1600"/>
                        </a:spcBef>
                        <a:buNone/>
                      </a:pPr>
                      <a:r>
                        <a:rPr lang="en-US" sz="1400" dirty="0">
                          <a:latin typeface="Open Sans"/>
                          <a:ea typeface="Open Sans"/>
                          <a:cs typeface="Open Sans"/>
                          <a:sym typeface="Open Sans"/>
                        </a:rPr>
                        <a:t>GRANT USAGE ON SCHEMA </a:t>
                      </a:r>
                      <a:r>
                        <a:rPr lang="en-US" sz="1400" dirty="0" err="1">
                          <a:latin typeface="Open Sans"/>
                          <a:ea typeface="Open Sans"/>
                          <a:cs typeface="Open Sans"/>
                          <a:sym typeface="Open Sans"/>
                        </a:rPr>
                        <a:t>hr_schema</a:t>
                      </a:r>
                      <a:r>
                        <a:rPr lang="en-US" sz="1400" dirty="0">
                          <a:latin typeface="Open Sans"/>
                          <a:ea typeface="Open Sans"/>
                          <a:cs typeface="Open Sans"/>
                          <a:sym typeface="Open Sans"/>
                        </a:rPr>
                        <a:t> TO </a:t>
                      </a:r>
                      <a:r>
                        <a:rPr lang="en-US" sz="1400" dirty="0" err="1">
                          <a:latin typeface="Open Sans"/>
                          <a:ea typeface="Open Sans"/>
                          <a:cs typeface="Open Sans"/>
                          <a:sym typeface="Open Sans"/>
                        </a:rPr>
                        <a:t>DomainUser</a:t>
                      </a:r>
                      <a:r>
                        <a:rPr lang="en-US" sz="1400" dirty="0">
                          <a:latin typeface="Open Sans"/>
                          <a:ea typeface="Open Sans"/>
                          <a:cs typeface="Open Sans"/>
                          <a:sym typeface="Open Sans"/>
                        </a:rPr>
                        <a:t>;</a:t>
                      </a:r>
                    </a:p>
                    <a:p>
                      <a:pPr lvl="0" indent="0">
                        <a:spcBef>
                          <a:spcPts val="1600"/>
                        </a:spcBef>
                        <a:buNone/>
                      </a:pPr>
                      <a:r>
                        <a:rPr lang="en-US" sz="1400" dirty="0">
                          <a:latin typeface="Open Sans"/>
                          <a:ea typeface="Open Sans"/>
                          <a:cs typeface="Open Sans"/>
                          <a:sym typeface="Open Sans"/>
                        </a:rPr>
                        <a:t>GRANT SELECT ON ALL TABLES IN SCHEMA </a:t>
                      </a:r>
                      <a:r>
                        <a:rPr lang="en-US" sz="1400" dirty="0" err="1">
                          <a:latin typeface="Open Sans"/>
                          <a:ea typeface="Open Sans"/>
                          <a:cs typeface="Open Sans"/>
                          <a:sym typeface="Open Sans"/>
                        </a:rPr>
                        <a:t>hr_schema</a:t>
                      </a:r>
                      <a:r>
                        <a:rPr lang="en-US" sz="1400" dirty="0">
                          <a:latin typeface="Open Sans"/>
                          <a:ea typeface="Open Sans"/>
                          <a:cs typeface="Open Sans"/>
                          <a:sym typeface="Open Sans"/>
                        </a:rPr>
                        <a:t> TO </a:t>
                      </a:r>
                      <a:r>
                        <a:rPr lang="en-US" sz="1400" dirty="0" err="1">
                          <a:latin typeface="Open Sans"/>
                          <a:ea typeface="Open Sans"/>
                          <a:cs typeface="Open Sans"/>
                          <a:sym typeface="Open Sans"/>
                        </a:rPr>
                        <a:t>DomainUser</a:t>
                      </a:r>
                      <a:r>
                        <a:rPr lang="en-US" sz="1400" dirty="0">
                          <a:latin typeface="Open Sans"/>
                          <a:ea typeface="Open Sans"/>
                          <a:cs typeface="Open Sans"/>
                          <a:sym typeface="Open Sans"/>
                        </a:rPr>
                        <a:t>;</a:t>
                      </a:r>
                    </a:p>
                    <a:p>
                      <a:pPr lvl="0" indent="0">
                        <a:spcBef>
                          <a:spcPts val="1600"/>
                        </a:spcBef>
                        <a:buNone/>
                      </a:pPr>
                      <a:endParaRPr lang="en-US" sz="1400" dirty="0">
                        <a:latin typeface="Open Sans"/>
                        <a:ea typeface="Open Sans"/>
                        <a:cs typeface="Open Sans"/>
                        <a:sym typeface="Open Sans"/>
                      </a:endParaRPr>
                    </a:p>
                    <a:p>
                      <a:pPr lvl="0" indent="0">
                        <a:spcBef>
                          <a:spcPts val="1600"/>
                        </a:spcBef>
                        <a:buNone/>
                      </a:pPr>
                      <a:r>
                        <a:rPr lang="en-US" sz="1400" dirty="0">
                          <a:latin typeface="Open Sans"/>
                          <a:ea typeface="Open Sans"/>
                          <a:cs typeface="Open Sans"/>
                          <a:sym typeface="Open Sans"/>
                        </a:rPr>
                        <a:t>REVOKE SELECT ON </a:t>
                      </a:r>
                      <a:r>
                        <a:rPr lang="en-US" sz="1400" dirty="0" err="1">
                          <a:latin typeface="Open Sans"/>
                          <a:ea typeface="Open Sans"/>
                          <a:cs typeface="Open Sans"/>
                          <a:sym typeface="Open Sans"/>
                        </a:rPr>
                        <a:t>hr_schema.salary</a:t>
                      </a:r>
                      <a:r>
                        <a:rPr lang="en-US" sz="1400" dirty="0">
                          <a:latin typeface="Open Sans"/>
                          <a:ea typeface="Open Sans"/>
                          <a:cs typeface="Open Sans"/>
                          <a:sym typeface="Open Sans"/>
                        </a:rPr>
                        <a:t> FROM </a:t>
                      </a:r>
                      <a:r>
                        <a:rPr lang="en-US" sz="1400" dirty="0" err="1">
                          <a:latin typeface="Open Sans"/>
                          <a:ea typeface="Open Sans"/>
                          <a:cs typeface="Open Sans"/>
                          <a:sym typeface="Open Sans"/>
                        </a:rPr>
                        <a:t>DomainUser</a:t>
                      </a:r>
                      <a:r>
                        <a:rPr lang="en-US" sz="1400" dirty="0">
                          <a:latin typeface="Open Sans"/>
                          <a:ea typeface="Open Sans"/>
                          <a:cs typeface="Open Sans"/>
                          <a:sym typeface="Open Sans"/>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3795446"/>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335"/>
        <p:cNvGrpSpPr/>
        <p:nvPr/>
      </p:nvGrpSpPr>
      <p:grpSpPr>
        <a:xfrm>
          <a:off x="0" y="0"/>
          <a:ext cx="0" cy="0"/>
          <a:chOff x="0" y="0"/>
          <a:chExt cx="0" cy="0"/>
        </a:xfrm>
      </p:grpSpPr>
      <p:sp>
        <p:nvSpPr>
          <p:cNvPr id="336" name="Google Shape;336;p7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4</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Above and Beyond (optional)</a:t>
            </a:r>
            <a:endParaRPr sz="3000">
              <a:solidFill>
                <a:srgbClr val="FFFFFF"/>
              </a:solidFill>
              <a:latin typeface="Open Sans"/>
              <a:ea typeface="Open Sans"/>
              <a:cs typeface="Open Sans"/>
              <a:sym typeface="Open Sans"/>
            </a:endParaRPr>
          </a:p>
        </p:txBody>
      </p:sp>
      <p:sp>
        <p:nvSpPr>
          <p:cNvPr id="337" name="Google Shape;337;p7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342" name="Google Shape;342;p7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4: Above and Beyond</a:t>
            </a:r>
            <a:endParaRPr/>
          </a:p>
        </p:txBody>
      </p:sp>
      <p:sp>
        <p:nvSpPr>
          <p:cNvPr id="343" name="Google Shape;343;p76"/>
          <p:cNvSpPr txBox="1">
            <a:spLocks noGrp="1"/>
          </p:cNvSpPr>
          <p:nvPr>
            <p:ph type="body" idx="1"/>
          </p:nvPr>
        </p:nvSpPr>
        <p:spPr>
          <a:xfrm>
            <a:off x="264945" y="2025129"/>
            <a:ext cx="7242600" cy="623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200"/>
              <a:t>This last step is called Above and Beyond. In this step, I have proposed 3 challenges for you to complete, which are above and beyond the scope of the project. This is a chance to flex your coding muscles and show everyone how good you really are.</a:t>
            </a:r>
            <a:endParaRPr sz="2200"/>
          </a:p>
          <a:p>
            <a:pPr marL="0" lvl="0" indent="0" algn="l" rtl="0">
              <a:spcBef>
                <a:spcPts val="1600"/>
              </a:spcBef>
              <a:spcAft>
                <a:spcPts val="0"/>
              </a:spcAft>
              <a:buClr>
                <a:schemeClr val="dk1"/>
              </a:buClr>
              <a:buSzPts val="1100"/>
              <a:buFont typeface="Arial"/>
              <a:buNone/>
            </a:pPr>
            <a:r>
              <a:rPr lang="en" sz="2200"/>
              <a:t>These challenge steps will bring your project even more in line with a real-world project, as these are the kind of “finishing touches” that will make your database more usable. Imagine building a car without air conditioning or turn signals. Sure, it will work, but who would want to drive it.</a:t>
            </a:r>
            <a:endParaRPr sz="2200"/>
          </a:p>
          <a:p>
            <a:pPr marL="0" lvl="0" indent="0" algn="l" rtl="0">
              <a:spcBef>
                <a:spcPts val="1600"/>
              </a:spcBef>
              <a:spcAft>
                <a:spcPts val="0"/>
              </a:spcAft>
              <a:buClr>
                <a:schemeClr val="dk1"/>
              </a:buClr>
              <a:buSzPts val="1100"/>
              <a:buFont typeface="Arial"/>
              <a:buNone/>
            </a:pPr>
            <a:r>
              <a:rPr lang="en" sz="2200"/>
              <a:t>I encourage you to take on these challenges in this course and any future courses you take. I designed these challenges to be a challenge to your current abilities, but I ensured they are not an unattainable challenge. Remember, these challenges are completely optional - you can pass the project by doing none of them, or just some of them, but I encourage you to at least attempt them!</a:t>
            </a:r>
            <a:endParaRPr sz="2200"/>
          </a:p>
          <a:p>
            <a:pPr marL="0" lvl="0" indent="0" algn="l" rtl="0">
              <a:spcBef>
                <a:spcPts val="1600"/>
              </a:spcBef>
              <a:spcAft>
                <a:spcPts val="1600"/>
              </a:spcAft>
              <a:buNone/>
            </a:pPr>
            <a:endParaRPr sz="22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7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Standout Suggestion 1</a:t>
            </a:r>
            <a:endParaRPr dirty="0"/>
          </a:p>
        </p:txBody>
      </p:sp>
      <p:sp>
        <p:nvSpPr>
          <p:cNvPr id="349" name="Google Shape;349;p77"/>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b="1" dirty="0">
                <a:latin typeface="Open Sans"/>
                <a:ea typeface="Open Sans"/>
                <a:cs typeface="Open Sans"/>
                <a:sym typeface="Open Sans"/>
              </a:rPr>
              <a:t>Create a view that returns all employee attributes; results should resemble initial Excel file</a:t>
            </a:r>
          </a:p>
          <a:p>
            <a:pPr marL="0" lvl="0" indent="0" algn="l" rtl="0">
              <a:spcBef>
                <a:spcPts val="0"/>
              </a:spcBef>
              <a:spcAft>
                <a:spcPts val="0"/>
              </a:spcAft>
              <a:buNone/>
            </a:pPr>
            <a:endParaRPr lang="en" sz="2000" b="1" dirty="0">
              <a:latin typeface="Open Sans"/>
              <a:ea typeface="Open Sans"/>
              <a:cs typeface="Open Sans"/>
              <a:sym typeface="Open Sans"/>
            </a:endParaRPr>
          </a:p>
          <a:p>
            <a:pPr marL="0" lvl="0" indent="0" algn="l" rtl="0">
              <a:spcBef>
                <a:spcPts val="0"/>
              </a:spcBef>
              <a:spcAft>
                <a:spcPts val="0"/>
              </a:spcAft>
              <a:buNone/>
            </a:pPr>
            <a:r>
              <a:rPr lang="en-US" sz="1900" dirty="0"/>
              <a:t>The SQL script for this code is present in the below git file.</a:t>
            </a:r>
          </a:p>
          <a:p>
            <a:pPr marL="0" lvl="0" indent="0" algn="l" rtl="0">
              <a:spcBef>
                <a:spcPts val="0"/>
              </a:spcBef>
              <a:spcAft>
                <a:spcPts val="0"/>
              </a:spcAft>
              <a:buNone/>
            </a:pPr>
            <a:endParaRPr lang="en-US" sz="1900" dirty="0"/>
          </a:p>
          <a:p>
            <a:pPr marL="0" lvl="0" indent="0">
              <a:buNone/>
            </a:pPr>
            <a:r>
              <a:rPr lang="en-US" sz="1600" dirty="0">
                <a:hlinkClick r:id="rId3"/>
              </a:rPr>
              <a:t>https://github.com/its-developer-hub/HR-Database-in-PostgreSQL/blob/main/SQL_Scripts/Standout_suggestion1_scripts.sql</a:t>
            </a:r>
            <a:endParaRPr lang="en-US" sz="1600" dirty="0"/>
          </a:p>
          <a:p>
            <a:pPr marL="457200" lvl="0" indent="0" algn="l" rtl="0">
              <a:spcBef>
                <a:spcPts val="1600"/>
              </a:spcBef>
              <a:spcAft>
                <a:spcPts val="0"/>
              </a:spcAft>
              <a:buNone/>
            </a:pPr>
            <a:endParaRPr lang="en-US" sz="1900" dirty="0"/>
          </a:p>
          <a:p>
            <a:pPr marL="457200" lvl="0" indent="0" algn="l" rtl="0">
              <a:spcBef>
                <a:spcPts val="1600"/>
              </a:spcBef>
              <a:spcAft>
                <a:spcPts val="0"/>
              </a:spcAft>
              <a:buNone/>
            </a:pPr>
            <a:endParaRPr lang="en-US" sz="1900" dirty="0"/>
          </a:p>
          <a:p>
            <a:pPr marL="457200" lvl="0" indent="0" algn="l" rtl="0">
              <a:spcBef>
                <a:spcPts val="1600"/>
              </a:spcBef>
              <a:spcAft>
                <a:spcPts val="0"/>
              </a:spcAft>
              <a:buNone/>
            </a:pPr>
            <a:endParaRPr lang="en-US"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5" name="Picture 4">
            <a:extLst>
              <a:ext uri="{FF2B5EF4-FFF2-40B4-BE49-F238E27FC236}">
                <a16:creationId xmlns:a16="http://schemas.microsoft.com/office/drawing/2014/main" id="{D1AC229C-EA47-A377-BFBD-4415687C7D37}"/>
              </a:ext>
            </a:extLst>
          </p:cNvPr>
          <p:cNvPicPr>
            <a:picLocks noChangeAspect="1"/>
          </p:cNvPicPr>
          <p:nvPr/>
        </p:nvPicPr>
        <p:blipFill>
          <a:blip r:embed="rId4"/>
          <a:stretch>
            <a:fillRect/>
          </a:stretch>
        </p:blipFill>
        <p:spPr>
          <a:xfrm>
            <a:off x="479483" y="5788954"/>
            <a:ext cx="7292917" cy="283314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5B936-90A0-9E34-1A84-8D3CC2D5134A}"/>
              </a:ext>
            </a:extLst>
          </p:cNvPr>
          <p:cNvSpPr>
            <a:spLocks noGrp="1"/>
          </p:cNvSpPr>
          <p:nvPr>
            <p:ph type="title"/>
          </p:nvPr>
        </p:nvSpPr>
        <p:spPr/>
        <p:txBody>
          <a:bodyPr/>
          <a:lstStyle/>
          <a:p>
            <a:r>
              <a:rPr lang="en" sz="3600" dirty="0"/>
              <a:t>Standout Suggestion 1(Contd…)</a:t>
            </a:r>
            <a:endParaRPr lang="en-US" sz="3600" dirty="0"/>
          </a:p>
        </p:txBody>
      </p:sp>
      <p:sp>
        <p:nvSpPr>
          <p:cNvPr id="3" name="Text Placeholder 2">
            <a:extLst>
              <a:ext uri="{FF2B5EF4-FFF2-40B4-BE49-F238E27FC236}">
                <a16:creationId xmlns:a16="http://schemas.microsoft.com/office/drawing/2014/main" id="{645DAAD3-F1B9-A96F-1FDC-373E86181D45}"/>
              </a:ext>
            </a:extLst>
          </p:cNvPr>
          <p:cNvSpPr>
            <a:spLocks noGrp="1"/>
          </p:cNvSpPr>
          <p:nvPr>
            <p:ph type="body" idx="1"/>
          </p:nvPr>
        </p:nvSpPr>
        <p:spPr/>
        <p:txBody>
          <a:bodyPr/>
          <a:lstStyle/>
          <a:p>
            <a:pPr marL="38100" indent="0">
              <a:buNone/>
            </a:pPr>
            <a:r>
              <a:rPr lang="en-US" sz="1600" u="sng" dirty="0" err="1"/>
              <a:t>Resultset</a:t>
            </a:r>
            <a:r>
              <a:rPr lang="en-US" sz="1600" u="sng" dirty="0"/>
              <a:t>:</a:t>
            </a:r>
          </a:p>
        </p:txBody>
      </p:sp>
      <p:pic>
        <p:nvPicPr>
          <p:cNvPr id="8" name="Picture 7">
            <a:extLst>
              <a:ext uri="{FF2B5EF4-FFF2-40B4-BE49-F238E27FC236}">
                <a16:creationId xmlns:a16="http://schemas.microsoft.com/office/drawing/2014/main" id="{2D7B4BD6-9B9C-2593-4008-CB76EFD92ADD}"/>
              </a:ext>
            </a:extLst>
          </p:cNvPr>
          <p:cNvPicPr>
            <a:picLocks noChangeAspect="1"/>
          </p:cNvPicPr>
          <p:nvPr/>
        </p:nvPicPr>
        <p:blipFill>
          <a:blip r:embed="rId2"/>
          <a:stretch>
            <a:fillRect/>
          </a:stretch>
        </p:blipFill>
        <p:spPr>
          <a:xfrm>
            <a:off x="109537" y="3125679"/>
            <a:ext cx="7553325" cy="4914900"/>
          </a:xfrm>
          <a:prstGeom prst="rect">
            <a:avLst/>
          </a:prstGeom>
        </p:spPr>
      </p:pic>
    </p:spTree>
    <p:extLst>
      <p:ext uri="{BB962C8B-B14F-4D97-AF65-F5344CB8AC3E}">
        <p14:creationId xmlns:p14="http://schemas.microsoft.com/office/powerpoint/2010/main" val="2020725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7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Standout Suggestion 2</a:t>
            </a:r>
            <a:endParaRPr dirty="0"/>
          </a:p>
        </p:txBody>
      </p:sp>
      <p:sp>
        <p:nvSpPr>
          <p:cNvPr id="355" name="Google Shape;355;p7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b="1" dirty="0">
                <a:latin typeface="Open Sans"/>
                <a:ea typeface="Open Sans"/>
                <a:cs typeface="Open Sans"/>
                <a:sym typeface="Open Sans"/>
              </a:rPr>
              <a:t>Create a stored procedure with parameters that returns current and past jobs (include employee name, job title, department, manager name, start and end date for position) when given an employee name.</a:t>
            </a:r>
            <a:endParaRPr sz="2000" b="1" dirty="0">
              <a:latin typeface="Open Sans"/>
              <a:ea typeface="Open Sans"/>
              <a:cs typeface="Open Sans"/>
              <a:sym typeface="Open Sans"/>
            </a:endParaRPr>
          </a:p>
          <a:p>
            <a:pPr marL="0" lvl="0" indent="0" algn="l" rtl="0">
              <a:spcBef>
                <a:spcPts val="1600"/>
              </a:spcBef>
              <a:spcAft>
                <a:spcPts val="0"/>
              </a:spcAft>
              <a:buNone/>
            </a:pPr>
            <a:r>
              <a:rPr lang="en" sz="1900" dirty="0">
                <a:solidFill>
                  <a:srgbClr val="FF0000"/>
                </a:solidFill>
              </a:rPr>
              <a:t>** submit screenshot of stored procedure creation code, along with a screenshot of the stored procedure executed using Toni Lembeck as the parameter value</a:t>
            </a:r>
            <a:endParaRPr sz="1900" dirty="0">
              <a:solidFill>
                <a:srgbClr val="FF0000"/>
              </a:solidFill>
            </a:endParaRPr>
          </a:p>
          <a:p>
            <a:pPr marL="457200" lvl="0" indent="0" algn="l" rtl="0">
              <a:spcBef>
                <a:spcPts val="1600"/>
              </a:spcBef>
              <a:spcAft>
                <a:spcPts val="0"/>
              </a:spcAft>
              <a:buNone/>
            </a:pPr>
            <a:endParaRPr lang="en-US" sz="1900" dirty="0"/>
          </a:p>
          <a:p>
            <a:pPr marL="457200" lvl="0" indent="0" algn="l" rtl="0">
              <a:spcBef>
                <a:spcPts val="1600"/>
              </a:spcBef>
              <a:spcAft>
                <a:spcPts val="0"/>
              </a:spcAft>
              <a:buNone/>
            </a:pPr>
            <a:r>
              <a:rPr lang="en-US" sz="1900" dirty="0"/>
              <a:t>&lt;skipped&gt;</a:t>
            </a:r>
            <a:endParaRPr sz="1900" dirty="0"/>
          </a:p>
          <a:p>
            <a:pPr marL="457200" lvl="0" indent="0" algn="l" rtl="0">
              <a:spcBef>
                <a:spcPts val="1600"/>
              </a:spcBef>
              <a:spcAft>
                <a:spcPts val="1600"/>
              </a:spcAft>
              <a:buNone/>
            </a:pPr>
            <a:endParaRPr sz="1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7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Standout Suggestion 3</a:t>
            </a:r>
            <a:endParaRPr/>
          </a:p>
        </p:txBody>
      </p:sp>
      <p:sp>
        <p:nvSpPr>
          <p:cNvPr id="361" name="Google Shape;361;p7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b="1" dirty="0">
                <a:latin typeface="Open Sans"/>
                <a:ea typeface="Open Sans"/>
                <a:cs typeface="Open Sans"/>
                <a:sym typeface="Open Sans"/>
              </a:rPr>
              <a:t>Implement user security on the restricted salary attribute.</a:t>
            </a:r>
            <a:endParaRPr sz="2000" b="1" dirty="0">
              <a:latin typeface="Open Sans"/>
              <a:ea typeface="Open Sans"/>
              <a:cs typeface="Open Sans"/>
              <a:sym typeface="Open Sans"/>
            </a:endParaRPr>
          </a:p>
          <a:p>
            <a:pPr marL="0" lvl="0" indent="0" algn="l" rtl="0">
              <a:spcBef>
                <a:spcPts val="1600"/>
              </a:spcBef>
              <a:spcAft>
                <a:spcPts val="0"/>
              </a:spcAft>
              <a:buNone/>
            </a:pPr>
            <a:r>
              <a:rPr lang="en" sz="1900" dirty="0">
                <a:solidFill>
                  <a:schemeClr val="bg2"/>
                </a:solidFill>
              </a:rPr>
              <a:t>Create a non-management user named </a:t>
            </a:r>
            <a:r>
              <a:rPr lang="en" sz="1900" dirty="0">
                <a:solidFill>
                  <a:schemeClr val="bg2"/>
                </a:solidFill>
                <a:latin typeface="Source Code Pro"/>
                <a:ea typeface="Source Code Pro"/>
                <a:cs typeface="Source Code Pro"/>
                <a:sym typeface="Source Code Pro"/>
              </a:rPr>
              <a:t>NoMgr</a:t>
            </a:r>
            <a:r>
              <a:rPr lang="en" sz="1900" dirty="0">
                <a:solidFill>
                  <a:schemeClr val="bg2"/>
                </a:solidFill>
                <a:latin typeface="Open Sans"/>
                <a:ea typeface="Open Sans"/>
                <a:cs typeface="Open Sans"/>
                <a:sym typeface="Open Sans"/>
              </a:rPr>
              <a:t>.</a:t>
            </a:r>
            <a:r>
              <a:rPr lang="en" sz="1900" dirty="0">
                <a:solidFill>
                  <a:schemeClr val="bg2"/>
                </a:solidFill>
              </a:rPr>
              <a:t> Show the code of how your would grant access to the database, but revoke access to the salary data.</a:t>
            </a:r>
          </a:p>
          <a:p>
            <a:pPr marL="0" lvl="0" indent="0" algn="l" rtl="0">
              <a:spcBef>
                <a:spcPts val="1600"/>
              </a:spcBef>
              <a:spcAft>
                <a:spcPts val="0"/>
              </a:spcAft>
              <a:buNone/>
            </a:pPr>
            <a:r>
              <a:rPr lang="en" sz="1600" u="sng" dirty="0">
                <a:solidFill>
                  <a:schemeClr val="bg2"/>
                </a:solidFill>
              </a:rPr>
              <a:t>Script:</a:t>
            </a:r>
          </a:p>
          <a:p>
            <a:pPr marL="0" lvl="0" indent="0" algn="l" rtl="0">
              <a:spcBef>
                <a:spcPts val="1600"/>
              </a:spcBef>
              <a:spcAft>
                <a:spcPts val="0"/>
              </a:spcAft>
              <a:buNone/>
            </a:pPr>
            <a:endParaRPr lang="en" sz="1900" dirty="0">
              <a:solidFill>
                <a:schemeClr val="bg2"/>
              </a:solidFill>
            </a:endParaRPr>
          </a:p>
          <a:p>
            <a:pPr marL="0" lvl="0" indent="0" algn="l" rtl="0">
              <a:spcBef>
                <a:spcPts val="1600"/>
              </a:spcBef>
              <a:spcAft>
                <a:spcPts val="0"/>
              </a:spcAft>
              <a:buNone/>
            </a:pPr>
            <a:endParaRPr sz="1900" dirty="0">
              <a:solidFill>
                <a:schemeClr val="bg2"/>
              </a:solidFill>
            </a:endParaRPr>
          </a:p>
        </p:txBody>
      </p:sp>
      <p:graphicFrame>
        <p:nvGraphicFramePr>
          <p:cNvPr id="2" name="Table 1">
            <a:extLst>
              <a:ext uri="{FF2B5EF4-FFF2-40B4-BE49-F238E27FC236}">
                <a16:creationId xmlns:a16="http://schemas.microsoft.com/office/drawing/2014/main" id="{2ABC7BAA-09B2-C051-0A29-5B359C0C7AE8}"/>
              </a:ext>
            </a:extLst>
          </p:cNvPr>
          <p:cNvGraphicFramePr>
            <a:graphicFrameLocks noGrp="1"/>
          </p:cNvGraphicFramePr>
          <p:nvPr>
            <p:extLst>
              <p:ext uri="{D42A27DB-BD31-4B8C-83A1-F6EECF244321}">
                <p14:modId xmlns:p14="http://schemas.microsoft.com/office/powerpoint/2010/main" val="382254592"/>
              </p:ext>
            </p:extLst>
          </p:nvPr>
        </p:nvGraphicFramePr>
        <p:xfrm>
          <a:off x="552450" y="5029200"/>
          <a:ext cx="5867400" cy="2152650"/>
        </p:xfrm>
        <a:graphic>
          <a:graphicData uri="http://schemas.openxmlformats.org/drawingml/2006/table">
            <a:tbl>
              <a:tblPr firstRow="1" bandRow="1">
                <a:tableStyleId>{2D5ABB26-0587-4C30-8999-92F81FD0307C}</a:tableStyleId>
              </a:tblPr>
              <a:tblGrid>
                <a:gridCol w="5867400">
                  <a:extLst>
                    <a:ext uri="{9D8B030D-6E8A-4147-A177-3AD203B41FA5}">
                      <a16:colId xmlns:a16="http://schemas.microsoft.com/office/drawing/2014/main" val="1018852063"/>
                    </a:ext>
                  </a:extLst>
                </a:gridCol>
              </a:tblGrid>
              <a:tr h="2152650">
                <a:tc>
                  <a:txBody>
                    <a:bodyPr/>
                    <a:lstStyle/>
                    <a:p>
                      <a:r>
                        <a:rPr lang="en-US" dirty="0"/>
                        <a:t>CREATE USER </a:t>
                      </a:r>
                      <a:r>
                        <a:rPr lang="en-US" dirty="0" err="1"/>
                        <a:t>NoMgr</a:t>
                      </a:r>
                      <a:r>
                        <a:rPr lang="en-US" dirty="0"/>
                        <a:t> WITH PASSWORD 'ABC@123';</a:t>
                      </a:r>
                    </a:p>
                    <a:p>
                      <a:endParaRPr lang="en-US" dirty="0"/>
                    </a:p>
                    <a:p>
                      <a:r>
                        <a:rPr lang="en-US" dirty="0"/>
                        <a:t>GRANT CONNECT ON DATABASE </a:t>
                      </a:r>
                      <a:r>
                        <a:rPr lang="en-US" dirty="0" err="1"/>
                        <a:t>hr_db</a:t>
                      </a:r>
                      <a:r>
                        <a:rPr lang="en-US" dirty="0"/>
                        <a:t> TO </a:t>
                      </a:r>
                      <a:r>
                        <a:rPr lang="en-US" dirty="0" err="1"/>
                        <a:t>NoMgr</a:t>
                      </a:r>
                      <a:r>
                        <a:rPr lang="en-US" dirty="0"/>
                        <a:t>;</a:t>
                      </a:r>
                    </a:p>
                    <a:p>
                      <a:endParaRPr lang="en-US" dirty="0"/>
                    </a:p>
                    <a:p>
                      <a:r>
                        <a:rPr lang="en-US" dirty="0"/>
                        <a:t>GRANT USAGE ON SCHEMA </a:t>
                      </a:r>
                      <a:r>
                        <a:rPr lang="en-US" dirty="0" err="1"/>
                        <a:t>hr_schema</a:t>
                      </a:r>
                      <a:r>
                        <a:rPr lang="en-US" dirty="0"/>
                        <a:t> TO </a:t>
                      </a:r>
                      <a:r>
                        <a:rPr lang="en-US" dirty="0" err="1"/>
                        <a:t>NoMgr</a:t>
                      </a:r>
                      <a:r>
                        <a:rPr lang="en-US" dirty="0"/>
                        <a:t>;</a:t>
                      </a:r>
                    </a:p>
                    <a:p>
                      <a:endParaRPr lang="en-US" dirty="0"/>
                    </a:p>
                    <a:p>
                      <a:r>
                        <a:rPr lang="en-US" dirty="0"/>
                        <a:t>GRANT SELECT ON ALL TABLES IN SCHEMA </a:t>
                      </a:r>
                      <a:r>
                        <a:rPr lang="en-US" dirty="0" err="1"/>
                        <a:t>hr_schema</a:t>
                      </a:r>
                      <a:r>
                        <a:rPr lang="en-US" dirty="0"/>
                        <a:t> TO </a:t>
                      </a:r>
                      <a:r>
                        <a:rPr lang="en-US" dirty="0" err="1"/>
                        <a:t>NoMgr</a:t>
                      </a:r>
                      <a:r>
                        <a:rPr lang="en-US" dirty="0"/>
                        <a:t>;</a:t>
                      </a:r>
                    </a:p>
                    <a:p>
                      <a:endParaRPr lang="en-US" dirty="0"/>
                    </a:p>
                    <a:p>
                      <a:r>
                        <a:rPr lang="en-US" dirty="0"/>
                        <a:t>REVOKE SELECT ON </a:t>
                      </a:r>
                      <a:r>
                        <a:rPr lang="en-US" dirty="0" err="1"/>
                        <a:t>hr_schema.salary</a:t>
                      </a:r>
                      <a:r>
                        <a:rPr lang="en-US" dirty="0"/>
                        <a:t> FROM </a:t>
                      </a:r>
                      <a:r>
                        <a:rPr lang="en-US" dirty="0" err="1"/>
                        <a:t>NoMgr</a:t>
                      </a:r>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7237276"/>
                  </a:ext>
                </a:extLst>
              </a:tr>
            </a:tbl>
          </a:graphicData>
        </a:graphic>
      </p:graphicFrame>
      <p:pic>
        <p:nvPicPr>
          <p:cNvPr id="4" name="Picture 3">
            <a:extLst>
              <a:ext uri="{FF2B5EF4-FFF2-40B4-BE49-F238E27FC236}">
                <a16:creationId xmlns:a16="http://schemas.microsoft.com/office/drawing/2014/main" id="{F5F0CC60-3F2A-CFA6-8262-FD10599C9EB3}"/>
              </a:ext>
            </a:extLst>
          </p:cNvPr>
          <p:cNvPicPr>
            <a:picLocks noChangeAspect="1"/>
          </p:cNvPicPr>
          <p:nvPr/>
        </p:nvPicPr>
        <p:blipFill>
          <a:blip r:embed="rId3"/>
          <a:stretch>
            <a:fillRect/>
          </a:stretch>
        </p:blipFill>
        <p:spPr>
          <a:xfrm>
            <a:off x="552449" y="7583746"/>
            <a:ext cx="6130749" cy="215265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365"/>
        <p:cNvGrpSpPr/>
        <p:nvPr/>
      </p:nvGrpSpPr>
      <p:grpSpPr>
        <a:xfrm>
          <a:off x="0" y="0"/>
          <a:ext cx="0" cy="0"/>
          <a:chOff x="0" y="0"/>
          <a:chExt cx="0" cy="0"/>
        </a:xfrm>
      </p:grpSpPr>
      <p:sp>
        <p:nvSpPr>
          <p:cNvPr id="366" name="Google Shape;366;p8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Appendix</a:t>
            </a:r>
            <a:endParaRPr sz="3000" b="1">
              <a:solidFill>
                <a:srgbClr val="FFFFFF"/>
              </a:solidFill>
              <a:latin typeface="Open Sans"/>
              <a:ea typeface="Open Sans"/>
              <a:cs typeface="Open Sans"/>
              <a:sym typeface="Open Sans"/>
            </a:endParaRPr>
          </a:p>
          <a:p>
            <a:pPr marL="0" lvl="0" indent="0" algn="l" rtl="0">
              <a:lnSpc>
                <a:spcPct val="150000"/>
              </a:lnSpc>
              <a:spcBef>
                <a:spcPts val="0"/>
              </a:spcBef>
              <a:spcAft>
                <a:spcPts val="0"/>
              </a:spcAft>
              <a:buClr>
                <a:schemeClr val="lt1"/>
              </a:buClr>
              <a:buFont typeface="Open Sans"/>
              <a:buNone/>
            </a:pPr>
            <a:endParaRPr sz="3000" b="1">
              <a:solidFill>
                <a:srgbClr val="FFFFFF"/>
              </a:solidFill>
              <a:latin typeface="Open Sans"/>
              <a:ea typeface="Open Sans"/>
              <a:cs typeface="Open Sans"/>
              <a:sym typeface="Open Sans"/>
            </a:endParaRPr>
          </a:p>
        </p:txBody>
      </p:sp>
      <p:sp>
        <p:nvSpPr>
          <p:cNvPr id="367" name="Google Shape;367;p8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8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Additional Info</a:t>
            </a:r>
            <a:endParaRPr dirty="0"/>
          </a:p>
        </p:txBody>
      </p:sp>
      <p:sp>
        <p:nvSpPr>
          <p:cNvPr id="373" name="Google Shape;373;p81"/>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800" b="1" u="sng" dirty="0" err="1"/>
              <a:t>Github</a:t>
            </a:r>
            <a:r>
              <a:rPr lang="en-US" sz="1800" b="1" u="sng" dirty="0"/>
              <a:t> Repository:</a:t>
            </a:r>
          </a:p>
          <a:p>
            <a:pPr marL="0" lvl="0" indent="0" algn="l" rtl="0">
              <a:spcBef>
                <a:spcPts val="0"/>
              </a:spcBef>
              <a:spcAft>
                <a:spcPts val="0"/>
              </a:spcAft>
              <a:buNone/>
            </a:pPr>
            <a:r>
              <a:rPr lang="en-US" sz="1800" dirty="0"/>
              <a:t>	All SQL scripts are available in the below </a:t>
            </a:r>
            <a:r>
              <a:rPr lang="en-US" sz="1800" dirty="0" err="1"/>
              <a:t>Github</a:t>
            </a:r>
            <a:r>
              <a:rPr lang="en-US" sz="1800" dirty="0"/>
              <a:t> repository.</a:t>
            </a:r>
          </a:p>
          <a:p>
            <a:pPr marL="0" lvl="0" indent="0" algn="l" rtl="0">
              <a:spcBef>
                <a:spcPts val="0"/>
              </a:spcBef>
              <a:spcAft>
                <a:spcPts val="0"/>
              </a:spcAft>
              <a:buNone/>
            </a:pPr>
            <a:endParaRPr lang="en-US" sz="1800" dirty="0"/>
          </a:p>
          <a:p>
            <a:pPr marL="0" lvl="0" indent="0">
              <a:buNone/>
            </a:pPr>
            <a:r>
              <a:rPr lang="en-US" sz="1800" dirty="0">
                <a:hlinkClick r:id="rId3"/>
              </a:rPr>
              <a:t>https://github.com/its-developer-hub/HR-Database-in-PostgreSQL.git</a:t>
            </a:r>
            <a:endParaRPr lang="en-US" sz="1800" dirty="0"/>
          </a:p>
          <a:p>
            <a:pPr marL="0" lvl="0" indent="0">
              <a:buNone/>
            </a:pPr>
            <a:endParaRPr lang="en-US" sz="1800" dirty="0"/>
          </a:p>
          <a:p>
            <a:pPr marL="0" lvl="0" indent="0">
              <a:buNone/>
            </a:pPr>
            <a:endParaRPr lang="en-US" sz="1800" dirty="0"/>
          </a:p>
          <a:p>
            <a:pPr marL="0" lvl="0" indent="0">
              <a:buNone/>
            </a:pPr>
            <a:r>
              <a:rPr lang="en-US" sz="1800" b="1" u="sng" dirty="0"/>
              <a:t>Lucid Chart – ER Diagrams:</a:t>
            </a:r>
          </a:p>
          <a:p>
            <a:pPr marL="0" lvl="0" indent="0">
              <a:buNone/>
            </a:pPr>
            <a:endParaRPr lang="en-US" sz="1800" dirty="0"/>
          </a:p>
          <a:p>
            <a:pPr marL="0" lvl="0" indent="0">
              <a:buNone/>
            </a:pPr>
            <a:r>
              <a:rPr lang="en-US" sz="1900" dirty="0">
                <a:hlinkClick r:id="rId4"/>
              </a:rPr>
              <a:t>https://lucid.app/lucidchart/f8bf1864-18f0-4b8c-b086-899c808ec23f/edit?invitationId=inv_3f202787-7206-4507-ba54-ac994db8102e</a:t>
            </a:r>
            <a:endParaRPr lang="en-US" sz="1900" dirty="0"/>
          </a:p>
          <a:p>
            <a:pPr marL="0" lvl="0" indent="0">
              <a:buNone/>
            </a:pPr>
            <a:endParaRPr lang="en-US" sz="1900" dirty="0"/>
          </a:p>
          <a:p>
            <a:pPr marL="0" indent="0">
              <a:buNone/>
            </a:pPr>
            <a:r>
              <a:rPr lang="en-US" sz="2000" b="1" u="sng" dirty="0"/>
              <a:t>HR-Dataset.csv file:</a:t>
            </a:r>
          </a:p>
          <a:p>
            <a:pPr marL="0" indent="0">
              <a:buNone/>
            </a:pPr>
            <a:endParaRPr lang="en-US" sz="2000" dirty="0">
              <a:hlinkClick r:id="rId5"/>
            </a:endParaRPr>
          </a:p>
          <a:p>
            <a:pPr marL="0" indent="0">
              <a:buNone/>
            </a:pPr>
            <a:r>
              <a:rPr lang="en-US" sz="2000" dirty="0">
                <a:hlinkClick r:id="rId5"/>
              </a:rPr>
              <a:t>https://github.com/its-developer-hub/HR-Database-in-PostgreSQL/blob/main/Raw_Data/hr-dataset.csv</a:t>
            </a:r>
            <a:endParaRPr lang="en-US" sz="2000" dirty="0"/>
          </a:p>
          <a:p>
            <a:pPr marL="0" lvl="0" indent="0">
              <a:buNone/>
            </a:pPr>
            <a:endParaRPr lang="en-US" sz="1900" dirty="0"/>
          </a:p>
          <a:p>
            <a:pPr marL="0" lvl="0" indent="0">
              <a:buNone/>
            </a:pPr>
            <a:r>
              <a:rPr lang="en-US" sz="1900" b="1" u="sng" dirty="0"/>
              <a:t>Best Practices document:</a:t>
            </a:r>
          </a:p>
          <a:p>
            <a:pPr marL="0" lvl="0" indent="0">
              <a:buNone/>
            </a:pPr>
            <a:endParaRPr lang="en-US" sz="1900" dirty="0"/>
          </a:p>
          <a:p>
            <a:pPr marL="0" indent="0">
              <a:buNone/>
            </a:pPr>
            <a:r>
              <a:rPr lang="en-US" sz="1800" dirty="0"/>
              <a:t> </a:t>
            </a:r>
            <a:r>
              <a:rPr lang="en-US" sz="1800" u="sng" dirty="0">
                <a:solidFill>
                  <a:schemeClr val="hlink"/>
                </a:solidFill>
                <a:hlinkClick r:id="rId6"/>
              </a:rPr>
              <a:t>IT Best Practices document</a:t>
            </a:r>
            <a:endParaRPr lang="en-US" sz="1800" dirty="0"/>
          </a:p>
          <a:p>
            <a:pPr marL="0" lvl="0" indent="0">
              <a:buNone/>
            </a:pPr>
            <a:endParaRPr lang="en-US" sz="1900" dirty="0"/>
          </a:p>
          <a:p>
            <a:pPr marL="0" lvl="0" indent="0">
              <a:buNone/>
            </a:pPr>
            <a:endParaRPr sz="1900"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1562</TotalTime>
  <Words>3569</Words>
  <Application>Microsoft Office PowerPoint</Application>
  <PresentationFormat>Custom</PresentationFormat>
  <Paragraphs>482</Paragraphs>
  <Slides>41</Slides>
  <Notes>30</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41</vt:i4>
      </vt:variant>
    </vt:vector>
  </HeadingPairs>
  <TitlesOfParts>
    <vt:vector size="52" baseType="lpstr">
      <vt:lpstr>Helvetica Neue</vt:lpstr>
      <vt:lpstr>Open Sans</vt:lpstr>
      <vt:lpstr>Courier New</vt:lpstr>
      <vt:lpstr>Wingdings</vt:lpstr>
      <vt:lpstr>Arial</vt:lpstr>
      <vt:lpstr>Open Sans Light</vt:lpstr>
      <vt:lpstr>Source Code Pro</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 (contd)</vt:lpstr>
      <vt:lpstr>Data Architect Business Requirement</vt:lpstr>
      <vt:lpstr>Data Architect Technical Requirement</vt:lpstr>
      <vt:lpstr>Data Architect Technical Requirement (contd…)</vt:lpstr>
      <vt:lpstr>PowerPoint Presentation</vt:lpstr>
      <vt:lpstr>Data Architect Technical Requirement</vt:lpstr>
      <vt:lpstr>PowerPoint Presentation</vt:lpstr>
      <vt:lpstr>PowerPoint Presentation</vt:lpstr>
      <vt:lpstr>PowerPoint Presentation</vt:lpstr>
      <vt:lpstr>Step 2: Relational Database Design</vt:lpstr>
      <vt:lpstr>ERD</vt:lpstr>
      <vt:lpstr>ERD</vt:lpstr>
      <vt:lpstr>ERD</vt:lpstr>
      <vt:lpstr>PowerPoint Presentation</vt:lpstr>
      <vt:lpstr>Step 3: Create A Physical Database</vt:lpstr>
      <vt:lpstr>DDL</vt:lpstr>
      <vt:lpstr>DDL (contd…)</vt:lpstr>
      <vt:lpstr>DDL (contd…)</vt:lpstr>
      <vt:lpstr>DDL for Stg table to store raw HR-Dataset.csv file</vt:lpstr>
      <vt:lpstr>DML</vt:lpstr>
      <vt:lpstr>DML</vt:lpstr>
      <vt:lpstr>CRUD</vt:lpstr>
      <vt:lpstr>CRUD</vt:lpstr>
      <vt:lpstr>CRUD</vt:lpstr>
      <vt:lpstr>CRUD</vt:lpstr>
      <vt:lpstr>CRUD</vt:lpstr>
      <vt:lpstr>CRUD</vt:lpstr>
      <vt:lpstr>CRUD</vt:lpstr>
      <vt:lpstr>PowerPoint Presentation</vt:lpstr>
      <vt:lpstr>Step 4: Above and Beyond</vt:lpstr>
      <vt:lpstr>Standout Suggestion 1</vt:lpstr>
      <vt:lpstr>Standout Suggestion 1(Contd…)</vt:lpstr>
      <vt:lpstr>Standout Suggestion 2</vt:lpstr>
      <vt:lpstr>Standout Suggestion 3</vt:lpstr>
      <vt:lpstr>PowerPoint Presentation</vt:lpstr>
      <vt:lpstr>Additional Info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Velavan</dc:creator>
  <cp:lastModifiedBy>Velavan Dhanavel</cp:lastModifiedBy>
  <cp:revision>61</cp:revision>
  <dcterms:modified xsi:type="dcterms:W3CDTF">2026-01-03T07:49:53Z</dcterms:modified>
</cp:coreProperties>
</file>