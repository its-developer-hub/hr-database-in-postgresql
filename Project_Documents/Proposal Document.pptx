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46"/>
  </p:notesMasterIdLst>
  <p:sldIdLst>
    <p:sldId id="256" r:id="rId5"/>
    <p:sldId id="258" r:id="rId6"/>
    <p:sldId id="259" r:id="rId7"/>
    <p:sldId id="260" r:id="rId8"/>
    <p:sldId id="261" r:id="rId9"/>
    <p:sldId id="287" r:id="rId10"/>
    <p:sldId id="262" r:id="rId11"/>
    <p:sldId id="263" r:id="rId12"/>
    <p:sldId id="288" r:id="rId13"/>
    <p:sldId id="289" r:id="rId14"/>
    <p:sldId id="264" r:id="rId15"/>
    <p:sldId id="290" r:id="rId16"/>
    <p:sldId id="291" r:id="rId17"/>
    <p:sldId id="265" r:id="rId18"/>
    <p:sldId id="266" r:id="rId19"/>
    <p:sldId id="267" r:id="rId20"/>
    <p:sldId id="268" r:id="rId21"/>
    <p:sldId id="269" r:id="rId22"/>
    <p:sldId id="270" r:id="rId23"/>
    <p:sldId id="271" r:id="rId24"/>
    <p:sldId id="272" r:id="rId25"/>
    <p:sldId id="293" r:id="rId26"/>
    <p:sldId id="295" r:id="rId27"/>
    <p:sldId id="297" r:id="rId28"/>
    <p:sldId id="298" r:id="rId29"/>
    <p:sldId id="296" r:id="rId30"/>
    <p:sldId id="273" r:id="rId31"/>
    <p:sldId id="274" r:id="rId32"/>
    <p:sldId id="275" r:id="rId33"/>
    <p:sldId id="276" r:id="rId34"/>
    <p:sldId id="277" r:id="rId35"/>
    <p:sldId id="278" r:id="rId36"/>
    <p:sldId id="279" r:id="rId37"/>
    <p:sldId id="280" r:id="rId38"/>
    <p:sldId id="281" r:id="rId39"/>
    <p:sldId id="282" r:id="rId40"/>
    <p:sldId id="292" r:id="rId41"/>
    <p:sldId id="283" r:id="rId42"/>
    <p:sldId id="284" r:id="rId43"/>
    <p:sldId id="285" r:id="rId44"/>
    <p:sldId id="286" r:id="rId45"/>
  </p:sldIdLst>
  <p:sldSz cx="7772400" cy="10058400"/>
  <p:notesSz cx="6858000" cy="9144000"/>
  <p:embeddedFontLst>
    <p:embeddedFont>
      <p:font typeface="Helvetica Neue" panose="020B0604020202020204" charset="0"/>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Open Sans Light" panose="020B0306030504020204" pitchFamily="34" charset="0"/>
      <p:regular r:id="rId55"/>
      <p:bold r:id="rId56"/>
      <p:italic r:id="rId57"/>
      <p:boldItalic r:id="rId58"/>
    </p:embeddedFont>
    <p:embeddedFont>
      <p:font typeface="Source Code Pro" panose="020B0509030403020204" pitchFamily="49"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3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font" Target="fonts/font8.fntdata"/><Relationship Id="rId62"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font" Target="fonts/font11.fntdata"/><Relationship Id="rId61" Type="http://schemas.openxmlformats.org/officeDocument/2006/relationships/font" Target="fonts/font1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5.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5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d8c850c25_0_38: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d8c850c2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8d8c850c25_0_86: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8d8c850c2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8d8c850c25_0_5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8d8c850c2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8d8c850c25_0_6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8d8c850c2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8d8c850c25_0_7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8d8c850c2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8d8c850c25_0_6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8d8c850c25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d8c850c25_0_92: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d8c850c25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8d8c850c25_0_9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8d8c850c2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d8c850c25_0_10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d8c850c2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8d8c850c25_0_12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8d8c850c25_0_11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8d8c850c2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8d8c850c25_0_11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8d8c850c2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8c7a96e589_1_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8c7a96e589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8c7a96e589_1_1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8c7a96e589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8c7a96e589_1_1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8c7a96e589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8c7a96e589_1_2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8c7a96e589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8c7a96e589_1_3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8c7a96e589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8c49221f98_6_1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8c49221f98_6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8c28c705c4_0_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g8c28c705c4_0_7: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8c28c705c4_0_17: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8c28c705c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8d8c850c25_0_13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8d8c850c2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8c49221f98_6_2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8c49221f98_6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c49221f98_6_2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c49221f98_6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64b864f3db_0_6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g64b864f3db_0_6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8c28c705c4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8c28c705c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hyperlink" Target="https://drive.google.com/file/d/1YdBZPpaIQvnD9NbgkeLMb5PeFtnhGGRP/view?usp=sharin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hyperlink" Target="https://drive.google.com/file/d/1YdBZPpaIQvnD9NbgkeLMb5PeFtnhGGRP/view?usp=sharing" TargetMode="Externa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its-developer-hub/HR-Database-in-PostgreSQL/blob/main/SQL_Scripts/DDL_Scripts.sql" TargetMode="External"/><Relationship Id="rId2" Type="http://schemas.openxmlformats.org/officeDocument/2006/relationships/notesSlide" Target="../notesSlides/notesSlide16.xml"/><Relationship Id="rId1" Type="http://schemas.openxmlformats.org/officeDocument/2006/relationships/slideLayout" Target="../slideLayouts/slideLayout25.xml"/><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5.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5.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its-developer-hub/HR-Database-in-PostgreSQL/blob/main/Raw_Data/hr-dataset.csv" TargetMode="Externa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5.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5.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its-developer-hub/HR-Database-in-PostgreSQL/blob/main/SQL_Scripts/Standout_suggestion1_scripts.sql" TargetMode="External"/><Relationship Id="rId2" Type="http://schemas.openxmlformats.org/officeDocument/2006/relationships/notesSlide" Target="../notesSlides/notesSlide26.xml"/><Relationship Id="rId1" Type="http://schemas.openxmlformats.org/officeDocument/2006/relationships/slideLayout" Target="../slideLayouts/slideLayout25.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3" Type="http://schemas.openxmlformats.org/officeDocument/2006/relationships/hyperlink" Target="https://github.com/its-developer-hub/HR-Database-in-PostgreSQL.git" TargetMode="External"/><Relationship Id="rId2" Type="http://schemas.openxmlformats.org/officeDocument/2006/relationships/notesSlide" Target="../notesSlides/notesSlide30.xml"/><Relationship Id="rId1" Type="http://schemas.openxmlformats.org/officeDocument/2006/relationships/slideLayout" Target="../slideLayouts/slideLayout25.xml"/><Relationship Id="rId6" Type="http://schemas.openxmlformats.org/officeDocument/2006/relationships/hyperlink" Target="https://drive.google.com/file/d/1YdBZPpaIQvnD9NbgkeLMb5PeFtnhGGRP/view?usp=sharing" TargetMode="External"/><Relationship Id="rId5" Type="http://schemas.openxmlformats.org/officeDocument/2006/relationships/hyperlink" Target="https://github.com/its-developer-hub/HR-Database-in-PostgreSQL/blob/main/Raw_Data/hr-dataset.csv" TargetMode="External"/><Relationship Id="rId4" Type="http://schemas.openxmlformats.org/officeDocument/2006/relationships/hyperlink" Target="https://lucid.app/lucidchart/f8bf1864-18f0-4b8c-b086-899c808ec23f/edit?invitationId=inv_3f202787-7206-4507-ba54-ac994db8102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049275" y="8353850"/>
            <a:ext cx="1375200" cy="1375200"/>
          </a:xfrm>
          <a:prstGeom prst="rect">
            <a:avLst/>
          </a:prstGeom>
          <a:noFill/>
          <a:ln>
            <a:noFill/>
          </a:ln>
        </p:spPr>
      </p:pic>
      <p:pic>
        <p:nvPicPr>
          <p:cNvPr id="178" name="Google Shape;178;p51"/>
          <p:cNvPicPr preferRelativeResize="0"/>
          <p:nvPr/>
        </p:nvPicPr>
        <p:blipFill>
          <a:blip r:embed="rId4">
            <a:alphaModFix/>
          </a:blip>
          <a:stretch>
            <a:fillRect/>
          </a:stretch>
        </p:blipFill>
        <p:spPr>
          <a:xfrm>
            <a:off x="1146225" y="2111300"/>
            <a:ext cx="5479925" cy="5479925"/>
          </a:xfrm>
          <a:prstGeom prst="rect">
            <a:avLst/>
          </a:prstGeom>
          <a:noFill/>
          <a:ln>
            <a:noFill/>
          </a:ln>
        </p:spPr>
      </p:pic>
      <p:sp>
        <p:nvSpPr>
          <p:cNvPr id="179" name="Google Shape;179;p51"/>
          <p:cNvSpPr txBox="1">
            <a:spLocks noGrp="1"/>
          </p:cNvSpPr>
          <p:nvPr>
            <p:ph type="title" idx="4294967295"/>
          </p:nvPr>
        </p:nvSpPr>
        <p:spPr>
          <a:xfrm>
            <a:off x="264945" y="423371"/>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Tech ABC Corp - HR Database</a:t>
            </a:r>
            <a:endParaRPr sz="4000">
              <a:solidFill>
                <a:srgbClr val="FFFFFF"/>
              </a:solidFill>
            </a:endParaRPr>
          </a:p>
          <a:p>
            <a:pPr marL="0" lvl="0" indent="0" algn="l" rtl="0">
              <a:spcBef>
                <a:spcPts val="0"/>
              </a:spcBef>
              <a:spcAft>
                <a:spcPts val="0"/>
              </a:spcAft>
              <a:buNone/>
            </a:pPr>
            <a:endParaRPr/>
          </a:p>
        </p:txBody>
      </p:sp>
      <p:sp>
        <p:nvSpPr>
          <p:cNvPr id="180" name="Google Shape;180;p51"/>
          <p:cNvSpPr txBox="1">
            <a:spLocks noGrp="1"/>
          </p:cNvSpPr>
          <p:nvPr>
            <p:ph type="title" idx="4294967295"/>
          </p:nvPr>
        </p:nvSpPr>
        <p:spPr>
          <a:xfrm>
            <a:off x="264945" y="107454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500" dirty="0">
                <a:solidFill>
                  <a:srgbClr val="FFFFFF"/>
                </a:solidFill>
              </a:rPr>
              <a:t>[Velavan Dhanavel &amp; 26-Dec-2025]</a:t>
            </a:r>
            <a:endParaRPr sz="2500" dirty="0">
              <a:solidFill>
                <a:srgbClr val="FFFFFF"/>
              </a:solidFill>
            </a:endParaRPr>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Business Scenario</a:t>
            </a:r>
            <a:endParaRPr/>
          </a:p>
        </p:txBody>
      </p:sp>
      <p:sp>
        <p:nvSpPr>
          <p:cNvPr id="194" name="Google Shape;194;p53"/>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marR="241300" lvl="0" indent="0" algn="l" rtl="0">
              <a:lnSpc>
                <a:spcPct val="170000"/>
              </a:lnSpc>
              <a:spcBef>
                <a:spcPts val="0"/>
              </a:spcBef>
              <a:spcAft>
                <a:spcPts val="0"/>
              </a:spcAft>
              <a:buClr>
                <a:schemeClr val="dk1"/>
              </a:buClr>
              <a:buSzPts val="1100"/>
              <a:buFont typeface="Arial"/>
              <a:buNone/>
            </a:pPr>
            <a:r>
              <a:rPr lang="en" sz="1350" b="1" dirty="0">
                <a:solidFill>
                  <a:srgbClr val="2E3D49"/>
                </a:solidFill>
                <a:highlight>
                  <a:srgbClr val="FFFFFF"/>
                </a:highlight>
                <a:latin typeface="Open Sans"/>
                <a:ea typeface="Open Sans"/>
                <a:cs typeface="Open Sans"/>
                <a:sym typeface="Open Sans"/>
              </a:rPr>
              <a:t>  </a:t>
            </a:r>
            <a:r>
              <a:rPr lang="en" sz="1500" b="1" dirty="0">
                <a:solidFill>
                  <a:srgbClr val="2E3D49"/>
                </a:solidFill>
                <a:highlight>
                  <a:srgbClr val="FFFFFF"/>
                </a:highlight>
                <a:latin typeface="Open Sans"/>
                <a:ea typeface="Open Sans"/>
                <a:cs typeface="Open Sans"/>
                <a:sym typeface="Open Sans"/>
              </a:rPr>
              <a:t>   Business requirement</a:t>
            </a:r>
            <a:endParaRPr sz="1500" b="1" dirty="0">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40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Tech ABC Corp saw explosive growth with a sudden appearance onto the gaming scene with their new AI-powered video game console. As a result, they have gone from a small 10 person operation to 200 employees and 5 locations in under a year. HR is having trouble keeping up with the growth, since they are still maintaining employee information in a spreadsheet. While that worked for ten employees, it has becoming increasingly cumbersome to manage as the company expands.</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As such, the HR department has tasked you, as the new data architect, to design and build a database capable of managing their employee information.</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2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dirty="0">
                <a:solidFill>
                  <a:srgbClr val="2E3D49"/>
                </a:solidFill>
                <a:highlight>
                  <a:srgbClr val="FFFFFF"/>
                </a:highlight>
                <a:latin typeface="Open Sans"/>
                <a:ea typeface="Open Sans"/>
                <a:cs typeface="Open Sans"/>
                <a:sym typeface="Open Sans"/>
              </a:rPr>
              <a:t>Dataset</a:t>
            </a:r>
            <a:endParaRPr sz="1500" b="1" dirty="0">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The </a:t>
            </a:r>
            <a:r>
              <a:rPr lang="en" sz="1300" u="sng" dirty="0">
                <a:solidFill>
                  <a:schemeClr val="hlink"/>
                </a:solidFill>
                <a:highlight>
                  <a:srgbClr val="FFFFFF"/>
                </a:highlight>
                <a:latin typeface="Open Sans"/>
                <a:ea typeface="Open Sans"/>
                <a:cs typeface="Open Sans"/>
                <a:sym typeface="Open Sans"/>
                <a:hlinkClick r:id="rId3"/>
              </a:rPr>
              <a:t>HR dataset</a:t>
            </a:r>
            <a:r>
              <a:rPr lang="en" sz="1300" dirty="0">
                <a:solidFill>
                  <a:srgbClr val="525C65"/>
                </a:solidFill>
                <a:highlight>
                  <a:srgbClr val="FFFFFF"/>
                </a:highlight>
                <a:latin typeface="Open Sans"/>
                <a:ea typeface="Open Sans"/>
                <a:cs typeface="Open Sans"/>
                <a:sym typeface="Open Sans"/>
              </a:rPr>
              <a:t> you will be working with is an Excel workbook which consists of 206 records, with eleven columns. The data is in human readable format, and has not been normalized at all. The data lists the names of employees at Tech ABC Corp as well as information such as job title, department, manager's name, hire date, start date, end date, work location, and salary.</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dirty="0">
                <a:solidFill>
                  <a:srgbClr val="2E3D49"/>
                </a:solidFill>
                <a:highlight>
                  <a:schemeClr val="lt1"/>
                </a:highlight>
                <a:latin typeface="Open Sans"/>
                <a:ea typeface="Open Sans"/>
                <a:cs typeface="Open Sans"/>
                <a:sym typeface="Open Sans"/>
              </a:rPr>
              <a:t>IT Department Best Practices</a:t>
            </a:r>
            <a:endParaRPr sz="1500" b="1" dirty="0">
              <a:solidFill>
                <a:srgbClr val="2E3D49"/>
              </a:solidFill>
              <a:highlight>
                <a:schemeClr val="lt1"/>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chemeClr val="lt1"/>
                </a:highlight>
                <a:latin typeface="Open Sans"/>
                <a:ea typeface="Open Sans"/>
                <a:cs typeface="Open Sans"/>
                <a:sym typeface="Open Sans"/>
              </a:rPr>
              <a:t>The IT Department has certain Best Practices policies for databases you should follow, as detailed in the </a:t>
            </a:r>
            <a:r>
              <a:rPr lang="en" sz="1300" u="sng" dirty="0">
                <a:solidFill>
                  <a:schemeClr val="hlink"/>
                </a:solidFill>
                <a:highlight>
                  <a:schemeClr val="lt1"/>
                </a:highlight>
                <a:latin typeface="Open Sans"/>
                <a:ea typeface="Open Sans"/>
                <a:cs typeface="Open Sans"/>
                <a:sym typeface="Open Sans"/>
                <a:hlinkClick r:id="rId4"/>
              </a:rPr>
              <a:t>Best Practices document</a:t>
            </a:r>
            <a:r>
              <a:rPr lang="en" sz="1300" dirty="0">
                <a:solidFill>
                  <a:srgbClr val="525C65"/>
                </a:solidFill>
                <a:highlight>
                  <a:schemeClr val="lt1"/>
                </a:highlight>
                <a:latin typeface="Open Sans"/>
                <a:ea typeface="Open Sans"/>
                <a:cs typeface="Open Sans"/>
                <a:sym typeface="Open Sans"/>
              </a:rPr>
              <a:t>.</a:t>
            </a:r>
            <a:endParaRPr sz="1300" dirty="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98"/>
        <p:cNvGrpSpPr/>
        <p:nvPr/>
      </p:nvGrpSpPr>
      <p:grpSpPr>
        <a:xfrm>
          <a:off x="0" y="0"/>
          <a:ext cx="0" cy="0"/>
          <a:chOff x="0" y="0"/>
          <a:chExt cx="0" cy="0"/>
        </a:xfrm>
      </p:grpSpPr>
      <p:sp>
        <p:nvSpPr>
          <p:cNvPr id="199" name="Google Shape;199;p54"/>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0" name="Google Shape;200;p54"/>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1" name="Google Shape;201;p54"/>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Architecture Foundations</a:t>
            </a:r>
            <a:endParaRPr sz="3000">
              <a:solidFill>
                <a:srgbClr val="FFFF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5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1: Data Architecture Foundations</a:t>
            </a:r>
            <a:endParaRPr/>
          </a:p>
        </p:txBody>
      </p:sp>
      <p:sp>
        <p:nvSpPr>
          <p:cNvPr id="207" name="Google Shape;207;p55"/>
          <p:cNvSpPr txBox="1">
            <a:spLocks noGrp="1"/>
          </p:cNvSpPr>
          <p:nvPr>
            <p:ph type="body" idx="1"/>
          </p:nvPr>
        </p:nvSpPr>
        <p:spPr>
          <a:xfrm>
            <a:off x="264950" y="2253724"/>
            <a:ext cx="7242600" cy="75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000" dirty="0">
              <a:solidFill>
                <a:schemeClr val="dk1"/>
              </a:solidFill>
              <a:highlight>
                <a:srgbClr val="DBE2E8"/>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Hi,</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Welcome to Tech ABC Corp. We are excited to have some new talent onboard. As you may already know, Tech ABC Corp has recently experienced a lot of growth. Our AI powered video game console WOPR has been hugely successful and as a result, our company has grown from 10 employees to 200 in only 6 months (and we are projecting a 20% growth a year for the next 5 years). We have also grown from our Dallas, Texas office, to 4 other locations nationwide: New York City, NY, San Francisco, CA, Minneapolis, MN, and Nashville, TN.</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While this growth is great, it is really starting to put a strain on our record keeping in HR. We currently maintain all employee information on a shared spreadsheet. When HR consisted of only myself, managing everyone on an Excel spreadsheet was simple, but now that it is a shared document I am having serious reservations about data integrity and data security. If the wrong person got their hands on the HR file, they would see the salaries of every employee in the company, all the way up to the president.</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After speaking with Jacob Lauber, the manager of IT, he suggested I put in a request to have my HR Excel file converted into a database. He suggested I reach out to you as I am told you have experience in designing and building databases. When you are building this, please keep in mind that I want any employee with a domain login to be have read only access the database. I just don't want them having access to salary information. That needs to be restricted to HR and management level employees only. Management and HR employees should also be the only ones with write access. By our current estimates, 90% of users will be read only.</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I also want to make sure you know that am looking to turn my spreadsheet into a live database, one I can input and edit information into. I am not really concerned with reporting capabilities at the moment. Since we are working with employee data we are required by federal regulations to maintain this data for at least 7 years; additionally, since this is considered business critical data, we need to make sure it gets backed up properly.</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As a final consideration. We would like to be able to connect with the payroll department's system in the future. They maintain employee attendance and paid time off information. It would be nice if the two systems could interface in the future</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I am looking forward to working with you and seeing what kind of database you design for us.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Thanks,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Sarah Collins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Head of HR</a:t>
            </a:r>
            <a:endParaRPr sz="11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Clr>
                <a:schemeClr val="dk1"/>
              </a:buClr>
              <a:buSzPts val="1100"/>
              <a:buFont typeface="Arial"/>
              <a:buNone/>
            </a:pPr>
            <a:endParaRPr sz="1000" dirty="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5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Business Requirement</a:t>
            </a:r>
            <a:endParaRPr dirty="0"/>
          </a:p>
        </p:txBody>
      </p:sp>
      <p:sp>
        <p:nvSpPr>
          <p:cNvPr id="213" name="Google Shape;213;p56"/>
          <p:cNvSpPr txBox="1">
            <a:spLocks noGrp="1"/>
          </p:cNvSpPr>
          <p:nvPr>
            <p:ph type="body" idx="1"/>
          </p:nvPr>
        </p:nvSpPr>
        <p:spPr>
          <a:xfrm>
            <a:off x="264950" y="2496457"/>
            <a:ext cx="7242600" cy="6444343"/>
          </a:xfrm>
          <a:prstGeom prst="rect">
            <a:avLst/>
          </a:prstGeom>
        </p:spPr>
        <p:txBody>
          <a:bodyPr spcFirstLastPara="1" wrap="square" lIns="91425" tIns="91425" rIns="91425" bIns="91425" anchor="t" anchorCtr="0">
            <a:noAutofit/>
          </a:bodyPr>
          <a:lstStyle/>
          <a:p>
            <a:pPr marL="457200" lvl="0" indent="-349250" algn="l" rtl="0">
              <a:lnSpc>
                <a:spcPct val="100000"/>
              </a:lnSpc>
              <a:spcBef>
                <a:spcPts val="0"/>
              </a:spcBef>
              <a:spcAft>
                <a:spcPts val="0"/>
              </a:spcAft>
              <a:buSzPts val="1900"/>
              <a:buFont typeface="Open Sans"/>
              <a:buChar char="●"/>
            </a:pPr>
            <a:r>
              <a:rPr lang="en" sz="1900" b="1" dirty="0">
                <a:latin typeface="Open Sans"/>
                <a:ea typeface="Open Sans"/>
                <a:cs typeface="Open Sans"/>
                <a:sym typeface="Open Sans"/>
              </a:rPr>
              <a:t>Purpose of the new database:</a:t>
            </a:r>
            <a:endParaRPr sz="1900" b="1" dirty="0">
              <a:latin typeface="Open Sans"/>
              <a:ea typeface="Open Sans"/>
              <a:cs typeface="Open Sans"/>
              <a:sym typeface="Open Sans"/>
            </a:endParaRPr>
          </a:p>
          <a:p>
            <a:pPr marL="457200" lvl="0" indent="0" algn="l" rtl="0">
              <a:lnSpc>
                <a:spcPct val="100000"/>
              </a:lnSpc>
              <a:spcBef>
                <a:spcPts val="1600"/>
              </a:spcBef>
              <a:spcAft>
                <a:spcPts val="0"/>
              </a:spcAft>
              <a:buClr>
                <a:schemeClr val="dk1"/>
              </a:buClr>
              <a:buSzPts val="1100"/>
              <a:buFont typeface="Arial"/>
              <a:buNone/>
            </a:pPr>
            <a:r>
              <a:rPr lang="en-US" sz="1700" dirty="0"/>
              <a:t>To design and build a new HR Database for handling Tech ABC Corp’s employee information.</a:t>
            </a:r>
            <a:endParaRPr sz="1700" dirty="0"/>
          </a:p>
          <a:p>
            <a:pPr marL="457200" lvl="0" indent="0" algn="l" rtl="0">
              <a:lnSpc>
                <a:spcPct val="100000"/>
              </a:lnSpc>
              <a:spcBef>
                <a:spcPts val="0"/>
              </a:spcBef>
              <a:spcAft>
                <a:spcPts val="0"/>
              </a:spcAft>
              <a:buClr>
                <a:schemeClr val="dk1"/>
              </a:buClr>
              <a:buSzPts val="1100"/>
              <a:buFont typeface="Arial"/>
              <a:buNone/>
            </a:pPr>
            <a:endParaRPr sz="1700" dirty="0"/>
          </a:p>
          <a:p>
            <a:pPr marL="457200" lvl="0" indent="-349250" algn="l" rtl="0">
              <a:spcBef>
                <a:spcPts val="1200"/>
              </a:spcBef>
              <a:spcAft>
                <a:spcPts val="0"/>
              </a:spcAft>
              <a:buSzPts val="1900"/>
              <a:buFont typeface="Open Sans"/>
              <a:buChar char="●"/>
            </a:pPr>
            <a:r>
              <a:rPr lang="en" sz="1900" b="1" dirty="0">
                <a:latin typeface="Open Sans"/>
                <a:ea typeface="Open Sans"/>
                <a:cs typeface="Open Sans"/>
                <a:sym typeface="Open Sans"/>
              </a:rPr>
              <a:t>Describe current data management solution:</a:t>
            </a:r>
            <a:endParaRPr sz="1900" b="1" dirty="0">
              <a:solidFill>
                <a:srgbClr val="000000"/>
              </a:solidFill>
              <a:latin typeface="Arial"/>
              <a:ea typeface="Arial"/>
              <a:cs typeface="Arial"/>
              <a:sym typeface="Arial"/>
            </a:endParaRPr>
          </a:p>
          <a:p>
            <a:pPr marL="457200" lvl="0" indent="0" algn="l" rtl="0">
              <a:spcBef>
                <a:spcPts val="1200"/>
              </a:spcBef>
              <a:spcAft>
                <a:spcPts val="0"/>
              </a:spcAft>
              <a:buNone/>
            </a:pPr>
            <a:r>
              <a:rPr lang="en-US" sz="1700" dirty="0"/>
              <a:t>Currently, the HR dataset is stored in a shared Excel workbook. This is okay for small scale operation with single or limited user access. 	However, it would be hard to maintain with multi user access and does not provide the level of data integrity, security and scalability that a database system provides.</a:t>
            </a:r>
            <a:endParaRPr sz="1900" dirty="0">
              <a:solidFill>
                <a:srgbClr val="000000"/>
              </a:solidFill>
              <a:latin typeface="Arial"/>
              <a:ea typeface="Arial"/>
              <a:cs typeface="Arial"/>
              <a:sym typeface="Arial"/>
            </a:endParaRPr>
          </a:p>
          <a:p>
            <a:pPr marL="457200" lvl="0" indent="0" algn="l" rtl="0">
              <a:spcBef>
                <a:spcPts val="1200"/>
              </a:spcBef>
              <a:spcAft>
                <a:spcPts val="0"/>
              </a:spcAft>
              <a:buNone/>
            </a:pPr>
            <a:endParaRPr sz="1100" dirty="0">
              <a:solidFill>
                <a:srgbClr val="000000"/>
              </a:solidFill>
              <a:latin typeface="Arial"/>
              <a:ea typeface="Arial"/>
              <a:cs typeface="Arial"/>
              <a:sym typeface="Arial"/>
            </a:endParaRPr>
          </a:p>
          <a:p>
            <a:pPr marL="457200" lvl="0" indent="-349250" algn="l" rtl="0">
              <a:spcBef>
                <a:spcPts val="1200"/>
              </a:spcBef>
              <a:spcAft>
                <a:spcPts val="0"/>
              </a:spcAft>
              <a:buSzPts val="1900"/>
              <a:buFont typeface="Open Sans"/>
              <a:buChar char="●"/>
            </a:pPr>
            <a:r>
              <a:rPr lang="en" sz="1900" b="1" dirty="0">
                <a:latin typeface="Open Sans"/>
                <a:ea typeface="Open Sans"/>
                <a:cs typeface="Open Sans"/>
                <a:sym typeface="Open Sans"/>
              </a:rPr>
              <a:t>Describe current data available:</a:t>
            </a:r>
            <a:endParaRPr sz="1900" b="1" dirty="0">
              <a:latin typeface="Open Sans"/>
              <a:ea typeface="Open Sans"/>
              <a:cs typeface="Open Sans"/>
              <a:sym typeface="Open Sans"/>
            </a:endParaRPr>
          </a:p>
          <a:p>
            <a:pPr marL="457200" lvl="1" indent="0" algn="just">
              <a:buNone/>
            </a:pPr>
            <a:r>
              <a:rPr lang="en" sz="1300" b="1" dirty="0">
                <a:latin typeface="Open Sans"/>
                <a:ea typeface="Open Sans"/>
                <a:cs typeface="Open Sans"/>
                <a:sym typeface="Open Sans"/>
              </a:rPr>
              <a:t>	</a:t>
            </a:r>
            <a:r>
              <a:rPr lang="en-US" sz="1700" dirty="0"/>
              <a:t>The business currently has the following employee information in the spreadsheet: </a:t>
            </a:r>
          </a:p>
          <a:p>
            <a:pPr marL="457200" lvl="1" indent="0" algn="just">
              <a:buNone/>
            </a:pPr>
            <a:r>
              <a:rPr lang="en-US" sz="1700" dirty="0"/>
              <a:t>Employee name, Job title, Department, Manager's name, Hire date, Start date, End date, Work location, and Salary.</a:t>
            </a:r>
          </a:p>
          <a:p>
            <a:pPr marL="0" lvl="0" indent="0" algn="l" rtl="0">
              <a:spcBef>
                <a:spcPts val="1600"/>
              </a:spcBef>
              <a:spcAft>
                <a:spcPts val="0"/>
              </a:spcAft>
              <a:buNone/>
            </a:pPr>
            <a:endParaRPr lang="en-US" sz="1900" dirty="0"/>
          </a:p>
          <a:p>
            <a:pPr marL="457200" lvl="0" indent="0" algn="l" rtl="0">
              <a:spcBef>
                <a:spcPts val="1600"/>
              </a:spcBef>
              <a:spcAft>
                <a:spcPts val="1600"/>
              </a:spcAft>
              <a:buNone/>
            </a:pPr>
            <a:endParaRPr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A96D8-24EF-25D1-8D30-6C54595A815D}"/>
              </a:ext>
            </a:extLst>
          </p:cNvPr>
          <p:cNvSpPr>
            <a:spLocks noGrp="1"/>
          </p:cNvSpPr>
          <p:nvPr>
            <p:ph type="title"/>
          </p:nvPr>
        </p:nvSpPr>
        <p:spPr/>
        <p:txBody>
          <a:bodyPr/>
          <a:lstStyle/>
          <a:p>
            <a:r>
              <a:rPr lang="en" dirty="0"/>
              <a:t>Data Architect Business Requirement (contd)</a:t>
            </a:r>
            <a:endParaRPr lang="en-US" dirty="0"/>
          </a:p>
        </p:txBody>
      </p:sp>
      <p:sp>
        <p:nvSpPr>
          <p:cNvPr id="3" name="Text Placeholder 2">
            <a:extLst>
              <a:ext uri="{FF2B5EF4-FFF2-40B4-BE49-F238E27FC236}">
                <a16:creationId xmlns:a16="http://schemas.microsoft.com/office/drawing/2014/main" id="{5047374C-B6B7-A715-924A-F0BD277C10F2}"/>
              </a:ext>
            </a:extLst>
          </p:cNvPr>
          <p:cNvSpPr>
            <a:spLocks noGrp="1"/>
          </p:cNvSpPr>
          <p:nvPr>
            <p:ph type="body" idx="1"/>
          </p:nvPr>
        </p:nvSpPr>
        <p:spPr>
          <a:xfrm>
            <a:off x="264945" y="2763520"/>
            <a:ext cx="7242600" cy="6583681"/>
          </a:xfrm>
        </p:spPr>
        <p:txBody>
          <a:bodyPr/>
          <a:lstStyle/>
          <a:p>
            <a:pPr lvl="0" indent="-349250">
              <a:spcBef>
                <a:spcPts val="1600"/>
              </a:spcBef>
              <a:buSzPts val="1900"/>
              <a:buFont typeface="Open Sans"/>
              <a:buChar char="●"/>
            </a:pPr>
            <a:r>
              <a:rPr lang="en-US" sz="1900" b="1" dirty="0">
                <a:latin typeface="Open Sans"/>
                <a:ea typeface="Open Sans"/>
                <a:cs typeface="Open Sans"/>
                <a:sym typeface="Open Sans"/>
              </a:rPr>
              <a:t>Additional data requests:</a:t>
            </a:r>
          </a:p>
          <a:p>
            <a:pPr lvl="0" indent="0">
              <a:lnSpc>
                <a:spcPct val="100000"/>
              </a:lnSpc>
              <a:spcBef>
                <a:spcPts val="1600"/>
              </a:spcBef>
              <a:buNone/>
            </a:pPr>
            <a:r>
              <a:rPr lang="en-US" sz="1800" dirty="0">
                <a:sym typeface="Open Sans"/>
              </a:rPr>
              <a:t>To e</a:t>
            </a:r>
            <a:r>
              <a:rPr lang="en-US" sz="1800" dirty="0"/>
              <a:t>nsure </a:t>
            </a:r>
            <a:r>
              <a:rPr lang="en-US" sz="1800" b="1" dirty="0"/>
              <a:t>long-term data retention</a:t>
            </a:r>
            <a:r>
              <a:rPr lang="en-US" sz="1800" dirty="0"/>
              <a:t> (for at least 7 years)</a:t>
            </a:r>
          </a:p>
          <a:p>
            <a:pPr lvl="0" indent="0">
              <a:lnSpc>
                <a:spcPct val="100000"/>
              </a:lnSpc>
              <a:spcBef>
                <a:spcPts val="1600"/>
              </a:spcBef>
              <a:buNone/>
            </a:pPr>
            <a:r>
              <a:rPr lang="en-US" sz="1800" dirty="0"/>
              <a:t>To build </a:t>
            </a:r>
            <a:r>
              <a:rPr lang="en-US" sz="1800" b="1" dirty="0"/>
              <a:t>reliable backups</a:t>
            </a:r>
            <a:r>
              <a:rPr lang="en-US" sz="1800" dirty="0"/>
              <a:t> considering criticality of the data.</a:t>
            </a:r>
          </a:p>
          <a:p>
            <a:pPr lvl="0" indent="0">
              <a:lnSpc>
                <a:spcPct val="100000"/>
              </a:lnSpc>
              <a:spcBef>
                <a:spcPts val="1600"/>
              </a:spcBef>
              <a:buNone/>
            </a:pPr>
            <a:endParaRPr lang="en-US" sz="1900" dirty="0">
              <a:sym typeface="Open Sans"/>
            </a:endParaRPr>
          </a:p>
          <a:p>
            <a:pPr lvl="0" indent="-349250">
              <a:spcBef>
                <a:spcPts val="1600"/>
              </a:spcBef>
              <a:buSzPts val="1900"/>
              <a:buFont typeface="Open Sans"/>
              <a:buChar char="●"/>
            </a:pPr>
            <a:r>
              <a:rPr lang="en-US" sz="1900" b="1" dirty="0">
                <a:latin typeface="Open Sans"/>
                <a:ea typeface="Open Sans"/>
                <a:cs typeface="Open Sans"/>
                <a:sym typeface="Open Sans"/>
              </a:rPr>
              <a:t>Who will own/manage data</a:t>
            </a:r>
          </a:p>
          <a:p>
            <a:pPr lvl="0" indent="0">
              <a:lnSpc>
                <a:spcPct val="100000"/>
              </a:lnSpc>
              <a:spcBef>
                <a:spcPts val="1600"/>
              </a:spcBef>
              <a:buNone/>
            </a:pPr>
            <a:r>
              <a:rPr lang="en-US" sz="1800" dirty="0"/>
              <a:t>HR Department will own/manage data.</a:t>
            </a:r>
          </a:p>
          <a:p>
            <a:pPr lvl="0" indent="0">
              <a:lnSpc>
                <a:spcPct val="100000"/>
              </a:lnSpc>
              <a:spcBef>
                <a:spcPts val="1600"/>
              </a:spcBef>
              <a:buNone/>
            </a:pPr>
            <a:endParaRPr lang="en-US" sz="1900" dirty="0"/>
          </a:p>
          <a:p>
            <a:pPr lvl="0" indent="0">
              <a:lnSpc>
                <a:spcPct val="100000"/>
              </a:lnSpc>
              <a:buNone/>
            </a:pPr>
            <a:endParaRPr lang="en-US" sz="1900" dirty="0"/>
          </a:p>
          <a:p>
            <a:pPr lvl="0" indent="-349250">
              <a:buSzPts val="1900"/>
              <a:buFont typeface="Open Sans"/>
              <a:buChar char="●"/>
            </a:pPr>
            <a:r>
              <a:rPr lang="en-US" sz="1900" b="1" dirty="0">
                <a:latin typeface="Open Sans"/>
                <a:ea typeface="Open Sans"/>
                <a:cs typeface="Open Sans"/>
                <a:sym typeface="Open Sans"/>
              </a:rPr>
              <a:t>Who will have access to database</a:t>
            </a:r>
          </a:p>
          <a:p>
            <a:pPr lvl="0" indent="0">
              <a:lnSpc>
                <a:spcPct val="100000"/>
              </a:lnSpc>
              <a:spcBef>
                <a:spcPts val="1600"/>
              </a:spcBef>
              <a:buNone/>
            </a:pPr>
            <a:r>
              <a:rPr lang="en-US" sz="1600" b="1" dirty="0"/>
              <a:t>Write Access</a:t>
            </a:r>
            <a:r>
              <a:rPr lang="en-US" sz="1600" dirty="0"/>
              <a:t>: Only HR and Management will have write access to database</a:t>
            </a:r>
          </a:p>
          <a:p>
            <a:pPr lvl="0" indent="0">
              <a:lnSpc>
                <a:spcPct val="100000"/>
              </a:lnSpc>
              <a:spcBef>
                <a:spcPts val="1600"/>
              </a:spcBef>
              <a:buNone/>
            </a:pPr>
            <a:r>
              <a:rPr lang="en-US" sz="1600" b="1" dirty="0"/>
              <a:t>Read Access</a:t>
            </a:r>
            <a:r>
              <a:rPr lang="en-US" sz="1600" dirty="0"/>
              <a:t>: All employees with domain login will have read-only access to data except for salary information.</a:t>
            </a:r>
          </a:p>
          <a:p>
            <a:pPr lvl="0" indent="0">
              <a:lnSpc>
                <a:spcPct val="100000"/>
              </a:lnSpc>
              <a:spcBef>
                <a:spcPts val="1600"/>
              </a:spcBef>
              <a:buNone/>
            </a:pPr>
            <a:r>
              <a:rPr lang="en-US" sz="1600" b="1" dirty="0"/>
              <a:t>Restricted Access</a:t>
            </a:r>
            <a:r>
              <a:rPr lang="en-US" sz="1600" dirty="0"/>
              <a:t>: Salary information will be restricted to HR and Management level employees only. Domain level employees won’t be able to access Salary data.</a:t>
            </a:r>
          </a:p>
          <a:p>
            <a:pPr lvl="0" indent="0">
              <a:lnSpc>
                <a:spcPct val="100000"/>
              </a:lnSpc>
              <a:spcBef>
                <a:spcPts val="1600"/>
              </a:spcBef>
              <a:buNone/>
            </a:pPr>
            <a:endParaRPr lang="en-US" sz="2800" dirty="0"/>
          </a:p>
          <a:p>
            <a:pPr lvl="0" indent="0">
              <a:lnSpc>
                <a:spcPct val="100000"/>
              </a:lnSpc>
              <a:spcBef>
                <a:spcPts val="1600"/>
              </a:spcBef>
              <a:buNone/>
            </a:pPr>
            <a:endParaRPr lang="en-US" sz="2800" dirty="0"/>
          </a:p>
          <a:p>
            <a:pPr lvl="0" indent="0">
              <a:lnSpc>
                <a:spcPct val="100000"/>
              </a:lnSpc>
              <a:spcBef>
                <a:spcPts val="1600"/>
              </a:spcBef>
              <a:buNone/>
            </a:pPr>
            <a:endParaRPr lang="en-US" sz="2800" dirty="0"/>
          </a:p>
          <a:p>
            <a:pPr lvl="0" indent="0">
              <a:lnSpc>
                <a:spcPct val="100000"/>
              </a:lnSpc>
              <a:spcBef>
                <a:spcPts val="1600"/>
              </a:spcBef>
              <a:buNone/>
            </a:pPr>
            <a:endParaRPr lang="en-US" sz="2800" dirty="0"/>
          </a:p>
          <a:p>
            <a:pPr lvl="0" indent="0">
              <a:lnSpc>
                <a:spcPct val="100000"/>
              </a:lnSpc>
              <a:spcBef>
                <a:spcPts val="1600"/>
              </a:spcBef>
              <a:buNone/>
            </a:pPr>
            <a:endParaRPr lang="en-US" sz="3200" dirty="0"/>
          </a:p>
          <a:p>
            <a:pPr lvl="0" indent="0">
              <a:buClr>
                <a:schemeClr val="dk1"/>
              </a:buClr>
              <a:buSzPts val="1100"/>
              <a:buNone/>
            </a:pPr>
            <a:endParaRPr lang="en-US" sz="3200" dirty="0"/>
          </a:p>
          <a:p>
            <a:endParaRPr lang="en-US" dirty="0"/>
          </a:p>
        </p:txBody>
      </p:sp>
    </p:spTree>
    <p:extLst>
      <p:ext uri="{BB962C8B-B14F-4D97-AF65-F5344CB8AC3E}">
        <p14:creationId xmlns:p14="http://schemas.microsoft.com/office/powerpoint/2010/main" val="133634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5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Business Requirement</a:t>
            </a:r>
            <a:endParaRPr dirty="0"/>
          </a:p>
        </p:txBody>
      </p:sp>
      <p:sp>
        <p:nvSpPr>
          <p:cNvPr id="219" name="Google Shape;219;p57"/>
          <p:cNvSpPr txBox="1">
            <a:spLocks noGrp="1"/>
          </p:cNvSpPr>
          <p:nvPr>
            <p:ph type="body" idx="1"/>
          </p:nvPr>
        </p:nvSpPr>
        <p:spPr>
          <a:xfrm>
            <a:off x="264950" y="2804160"/>
            <a:ext cx="7242600" cy="66040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Estimated size of database</a:t>
            </a: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US" sz="1700" dirty="0"/>
              <a:t>Number of Employee records now: 200</a:t>
            </a:r>
          </a:p>
          <a:p>
            <a:pPr marL="457200" lvl="0" indent="0" algn="l" rtl="0">
              <a:lnSpc>
                <a:spcPct val="100000"/>
              </a:lnSpc>
              <a:spcBef>
                <a:spcPts val="1600"/>
              </a:spcBef>
              <a:spcAft>
                <a:spcPts val="0"/>
              </a:spcAft>
              <a:buNone/>
            </a:pPr>
            <a:r>
              <a:rPr lang="en-US" sz="1700" dirty="0"/>
              <a:t>Projected Growth per year: 20% growth per Year</a:t>
            </a:r>
          </a:p>
          <a:p>
            <a:pPr marL="457200" lvl="0" indent="0" algn="l" rtl="0">
              <a:lnSpc>
                <a:spcPct val="100000"/>
              </a:lnSpc>
              <a:spcBef>
                <a:spcPts val="1600"/>
              </a:spcBef>
              <a:spcAft>
                <a:spcPts val="0"/>
              </a:spcAft>
              <a:buNone/>
            </a:pPr>
            <a:r>
              <a:rPr lang="en-US" sz="1700" dirty="0"/>
              <a:t>Projected Growth in 5 to 7 Years: 498 to 717 employee records.</a:t>
            </a:r>
            <a:endParaRPr sz="1900" dirty="0"/>
          </a:p>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Estimated annual growth</a:t>
            </a:r>
            <a:endParaRPr sz="1900" b="1" dirty="0">
              <a:latin typeface="Open Sans"/>
              <a:ea typeface="Open Sans"/>
              <a:cs typeface="Open Sans"/>
              <a:sym typeface="Open Sans"/>
            </a:endParaRPr>
          </a:p>
          <a:p>
            <a:pPr lvl="0" indent="0">
              <a:lnSpc>
                <a:spcPct val="100000"/>
              </a:lnSpc>
              <a:spcBef>
                <a:spcPts val="1600"/>
              </a:spcBef>
              <a:buNone/>
            </a:pPr>
            <a:r>
              <a:rPr lang="en-US" sz="1800" dirty="0"/>
              <a:t>Business is expecting 20% growth a year for the next 5 years</a:t>
            </a:r>
          </a:p>
          <a:p>
            <a:pPr lvl="0" indent="0">
              <a:lnSpc>
                <a:spcPct val="100000"/>
              </a:lnSpc>
              <a:spcBef>
                <a:spcPts val="1600"/>
              </a:spcBef>
              <a:buNone/>
            </a:pPr>
            <a:endParaRPr sz="1900" b="1" dirty="0">
              <a:latin typeface="Open Sans"/>
              <a:ea typeface="Open Sans"/>
              <a:cs typeface="Open Sans"/>
              <a:sym typeface="Open Sans"/>
            </a:endParaRPr>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Is any of the data sensitive/restricted</a:t>
            </a: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US" sz="1700" dirty="0"/>
              <a:t>Yes, employee salary information should be accessible only to HR and Management.</a:t>
            </a:r>
          </a:p>
          <a:p>
            <a:pPr marL="457200" lvl="0" indent="0" algn="l" rtl="0">
              <a:lnSpc>
                <a:spcPct val="100000"/>
              </a:lnSpc>
              <a:spcBef>
                <a:spcPts val="1600"/>
              </a:spcBef>
              <a:spcAft>
                <a:spcPts val="0"/>
              </a:spcAft>
              <a:buNone/>
            </a:pPr>
            <a:r>
              <a:rPr lang="en-US" sz="1700" dirty="0"/>
              <a:t>Read-Only access to all domain users, except for Salary data.</a:t>
            </a:r>
            <a:endParaRPr sz="1900" dirty="0"/>
          </a:p>
          <a:p>
            <a:pPr marL="0" lvl="0" indent="0" algn="l" rtl="0">
              <a:spcBef>
                <a:spcPts val="0"/>
              </a:spcBef>
              <a:spcAft>
                <a:spcPts val="0"/>
              </a:spcAft>
              <a:buNone/>
            </a:pP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endParaRPr sz="1700" dirty="0"/>
          </a:p>
          <a:p>
            <a:pPr marL="457200" lvl="0" indent="0" algn="l" rtl="0">
              <a:lnSpc>
                <a:spcPct val="100000"/>
              </a:lnSpc>
              <a:spcBef>
                <a:spcPts val="0"/>
              </a:spcBef>
              <a:spcAft>
                <a:spcPts val="0"/>
              </a:spcAft>
              <a:buNone/>
            </a:pPr>
            <a:endParaRPr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5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Technical Requirement</a:t>
            </a:r>
            <a:endParaRPr dirty="0"/>
          </a:p>
        </p:txBody>
      </p:sp>
      <p:sp>
        <p:nvSpPr>
          <p:cNvPr id="225" name="Google Shape;225;p58"/>
          <p:cNvSpPr txBox="1">
            <a:spLocks noGrp="1"/>
          </p:cNvSpPr>
          <p:nvPr>
            <p:ph type="body" idx="1"/>
          </p:nvPr>
        </p:nvSpPr>
        <p:spPr>
          <a:xfrm>
            <a:off x="264950" y="2253724"/>
            <a:ext cx="7242600" cy="7312307"/>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Justification for the new database</a:t>
            </a:r>
            <a:endParaRPr sz="1900" b="1" dirty="0">
              <a:latin typeface="Open Sans"/>
              <a:ea typeface="Open Sans"/>
              <a:cs typeface="Open Sans"/>
              <a:sym typeface="Open Sans"/>
            </a:endParaRPr>
          </a:p>
          <a:p>
            <a:pPr marL="742950" indent="-285750">
              <a:lnSpc>
                <a:spcPct val="100000"/>
              </a:lnSpc>
              <a:spcBef>
                <a:spcPts val="1600"/>
              </a:spcBef>
              <a:buSzPct val="94000"/>
              <a:buFont typeface="Wingdings" panose="05000000000000000000" pitchFamily="2" charset="2"/>
              <a:buChar char="§"/>
            </a:pPr>
            <a:r>
              <a:rPr lang="en-US" sz="1700" dirty="0"/>
              <a:t>Migrating from an excel spreadsheet to a Relational Database provides robustness, concurrency and data security.</a:t>
            </a:r>
          </a:p>
          <a:p>
            <a:pPr marL="800100" indent="-342900">
              <a:lnSpc>
                <a:spcPct val="100000"/>
              </a:lnSpc>
              <a:spcBef>
                <a:spcPts val="1600"/>
              </a:spcBef>
              <a:buSzPct val="94000"/>
              <a:buFont typeface="Wingdings" panose="05000000000000000000" pitchFamily="2" charset="2"/>
              <a:buChar char="§"/>
            </a:pPr>
            <a:r>
              <a:rPr lang="en-US" sz="1700" dirty="0"/>
              <a:t>Supports multi-user role based user access.</a:t>
            </a:r>
          </a:p>
          <a:p>
            <a:pPr marL="800100" indent="-342900">
              <a:lnSpc>
                <a:spcPct val="100000"/>
              </a:lnSpc>
              <a:spcBef>
                <a:spcPts val="1600"/>
              </a:spcBef>
              <a:buSzPct val="94000"/>
              <a:buFont typeface="Wingdings" panose="05000000000000000000" pitchFamily="2" charset="2"/>
              <a:buChar char="§"/>
            </a:pPr>
            <a:r>
              <a:rPr lang="en-US" sz="1700" dirty="0"/>
              <a:t>Enables long term data retention and provides reliable backup.</a:t>
            </a:r>
          </a:p>
          <a:p>
            <a:pPr marL="800100" indent="-342900">
              <a:lnSpc>
                <a:spcPct val="100000"/>
              </a:lnSpc>
              <a:spcBef>
                <a:spcPts val="1600"/>
              </a:spcBef>
              <a:buSzPct val="94000"/>
              <a:buFont typeface="Wingdings" panose="05000000000000000000" pitchFamily="2" charset="2"/>
              <a:buChar char="§"/>
            </a:pPr>
            <a:r>
              <a:rPr lang="en-US" sz="1700" dirty="0"/>
              <a:t>Ensures scalability and enables future integration.</a:t>
            </a:r>
            <a:endParaRPr sz="17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Database objects</a:t>
            </a: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 sz="1700" dirty="0"/>
              <a:t>List the database objects (tables, views, special procedures)  that will be created for the database. </a:t>
            </a:r>
            <a:endParaRPr sz="1700" dirty="0"/>
          </a:p>
          <a:p>
            <a:pPr marL="457200" lvl="0" indent="0" algn="l" rtl="0">
              <a:lnSpc>
                <a:spcPct val="100000"/>
              </a:lnSpc>
              <a:spcBef>
                <a:spcPts val="0"/>
              </a:spcBef>
              <a:spcAft>
                <a:spcPts val="0"/>
              </a:spcAft>
              <a:buNone/>
            </a:pPr>
            <a:endParaRPr sz="1700" dirty="0"/>
          </a:p>
          <a:p>
            <a:pPr lvl="0" indent="0">
              <a:buNone/>
            </a:pPr>
            <a:endParaRPr sz="1900" dirty="0"/>
          </a:p>
        </p:txBody>
      </p:sp>
      <p:graphicFrame>
        <p:nvGraphicFramePr>
          <p:cNvPr id="4" name="Table 3">
            <a:extLst>
              <a:ext uri="{FF2B5EF4-FFF2-40B4-BE49-F238E27FC236}">
                <a16:creationId xmlns:a16="http://schemas.microsoft.com/office/drawing/2014/main" id="{5BE50F06-7948-001D-209E-80BEDF5F899B}"/>
              </a:ext>
            </a:extLst>
          </p:cNvPr>
          <p:cNvGraphicFramePr>
            <a:graphicFrameLocks noGrp="1"/>
          </p:cNvGraphicFramePr>
          <p:nvPr>
            <p:extLst>
              <p:ext uri="{D42A27DB-BD31-4B8C-83A1-F6EECF244321}">
                <p14:modId xmlns:p14="http://schemas.microsoft.com/office/powerpoint/2010/main" val="2541693604"/>
              </p:ext>
            </p:extLst>
          </p:nvPr>
        </p:nvGraphicFramePr>
        <p:xfrm>
          <a:off x="929640" y="6583680"/>
          <a:ext cx="2956560" cy="2871002"/>
        </p:xfrm>
        <a:graphic>
          <a:graphicData uri="http://schemas.openxmlformats.org/drawingml/2006/table">
            <a:tbl>
              <a:tblPr firstRow="1" bandRow="1">
                <a:tableStyleId>{FABFCF23-3B69-468F-B69F-88F6DE6A72F2}</a:tableStyleId>
              </a:tblPr>
              <a:tblGrid>
                <a:gridCol w="2956560">
                  <a:extLst>
                    <a:ext uri="{9D8B030D-6E8A-4147-A177-3AD203B41FA5}">
                      <a16:colId xmlns:a16="http://schemas.microsoft.com/office/drawing/2014/main" val="1596007106"/>
                    </a:ext>
                  </a:extLst>
                </a:gridCol>
              </a:tblGrid>
              <a:tr h="371642">
                <a:tc>
                  <a:txBody>
                    <a:bodyPr/>
                    <a:lstStyle/>
                    <a:p>
                      <a:r>
                        <a:rPr lang="en-US" sz="1600" dirty="0"/>
                        <a:t>Tables:</a:t>
                      </a:r>
                    </a:p>
                  </a:txBody>
                  <a:tcPr/>
                </a:tc>
                <a:extLst>
                  <a:ext uri="{0D108BD9-81ED-4DB2-BD59-A6C34878D82A}">
                    <a16:rowId xmlns:a16="http://schemas.microsoft.com/office/drawing/2014/main" val="1537298189"/>
                  </a:ext>
                </a:extLst>
              </a:tr>
              <a:tr h="2452838">
                <a:tc>
                  <a:txBody>
                    <a:bodyPr/>
                    <a:lstStyle/>
                    <a:p>
                      <a:pPr lvl="0" indent="0">
                        <a:buNone/>
                      </a:pPr>
                      <a:r>
                        <a:rPr lang="en-US" sz="1800" dirty="0"/>
                        <a:t>EMPLOYEE   </a:t>
                      </a:r>
                    </a:p>
                    <a:p>
                      <a:pPr lvl="0" indent="0">
                        <a:buNone/>
                      </a:pPr>
                      <a:r>
                        <a:rPr lang="en-US" sz="1800" dirty="0"/>
                        <a:t>EMPLOYMENT </a:t>
                      </a:r>
                    </a:p>
                    <a:p>
                      <a:pPr lvl="0" indent="0">
                        <a:buNone/>
                      </a:pPr>
                      <a:r>
                        <a:rPr lang="en-US" sz="1800" dirty="0"/>
                        <a:t>JOB</a:t>
                      </a:r>
                    </a:p>
                    <a:p>
                      <a:pPr lvl="0" indent="0">
                        <a:buNone/>
                      </a:pPr>
                      <a:r>
                        <a:rPr lang="en-US" sz="1800" dirty="0"/>
                        <a:t>SALARY    </a:t>
                      </a:r>
                    </a:p>
                    <a:p>
                      <a:pPr lvl="0" indent="0">
                        <a:buNone/>
                      </a:pPr>
                      <a:r>
                        <a:rPr lang="en-US" sz="1800" dirty="0"/>
                        <a:t>DEPARTMENT</a:t>
                      </a:r>
                    </a:p>
                    <a:p>
                      <a:pPr lvl="0" indent="0">
                        <a:buNone/>
                      </a:pPr>
                      <a:r>
                        <a:rPr lang="en-US" sz="1800" dirty="0"/>
                        <a:t>LOCATION  </a:t>
                      </a:r>
                    </a:p>
                    <a:p>
                      <a:pPr lvl="0" indent="0">
                        <a:buNone/>
                      </a:pPr>
                      <a:r>
                        <a:rPr lang="en-US" sz="1800" dirty="0"/>
                        <a:t>ADDRESS    </a:t>
                      </a:r>
                    </a:p>
                    <a:p>
                      <a:pPr lvl="0" indent="0">
                        <a:buNone/>
                      </a:pPr>
                      <a:r>
                        <a:rPr lang="en-US" sz="1800" dirty="0"/>
                        <a:t>EDUCATION</a:t>
                      </a:r>
                    </a:p>
                    <a:p>
                      <a:endParaRPr lang="en-US" dirty="0"/>
                    </a:p>
                  </a:txBody>
                  <a:tcPr/>
                </a:tc>
                <a:extLst>
                  <a:ext uri="{0D108BD9-81ED-4DB2-BD59-A6C34878D82A}">
                    <a16:rowId xmlns:a16="http://schemas.microsoft.com/office/drawing/2014/main" val="249052323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12F1-A1B9-E0C3-DD27-6911FA203162}"/>
              </a:ext>
            </a:extLst>
          </p:cNvPr>
          <p:cNvSpPr>
            <a:spLocks noGrp="1"/>
          </p:cNvSpPr>
          <p:nvPr>
            <p:ph type="title"/>
          </p:nvPr>
        </p:nvSpPr>
        <p:spPr/>
        <p:txBody>
          <a:bodyPr/>
          <a:lstStyle/>
          <a:p>
            <a:r>
              <a:rPr lang="en" dirty="0"/>
              <a:t>Data Architect Technical Requirement (contd…)</a:t>
            </a:r>
            <a:endParaRPr lang="en-US" dirty="0"/>
          </a:p>
        </p:txBody>
      </p:sp>
      <p:sp>
        <p:nvSpPr>
          <p:cNvPr id="3" name="Text Placeholder 2">
            <a:extLst>
              <a:ext uri="{FF2B5EF4-FFF2-40B4-BE49-F238E27FC236}">
                <a16:creationId xmlns:a16="http://schemas.microsoft.com/office/drawing/2014/main" id="{1692E782-3846-E6C8-2CA8-3D189F008940}"/>
              </a:ext>
            </a:extLst>
          </p:cNvPr>
          <p:cNvSpPr>
            <a:spLocks noGrp="1"/>
          </p:cNvSpPr>
          <p:nvPr>
            <p:ph type="body" idx="1"/>
          </p:nvPr>
        </p:nvSpPr>
        <p:spPr>
          <a:xfrm>
            <a:off x="264945" y="2253728"/>
            <a:ext cx="7242600" cy="7438911"/>
          </a:xfrm>
        </p:spPr>
        <p:txBody>
          <a:bodyPr/>
          <a:lstStyle/>
          <a:p>
            <a:pPr lvl="0" indent="0">
              <a:buNone/>
            </a:pPr>
            <a:endParaRPr lang="en-US" sz="2000" dirty="0"/>
          </a:p>
          <a:p>
            <a:pPr lvl="0" indent="-349250">
              <a:spcBef>
                <a:spcPts val="1600"/>
              </a:spcBef>
              <a:buSzPts val="1900"/>
              <a:buFont typeface="Open Sans"/>
              <a:buChar char="●"/>
            </a:pPr>
            <a:endParaRPr lang="en-US" sz="2000" b="1" dirty="0">
              <a:latin typeface="Open Sans"/>
              <a:ea typeface="Open Sans"/>
              <a:cs typeface="Open Sans"/>
              <a:sym typeface="Open Sans"/>
            </a:endParaRPr>
          </a:p>
          <a:p>
            <a:pPr lvl="0" indent="-349250">
              <a:spcBef>
                <a:spcPts val="1600"/>
              </a:spcBef>
              <a:buSzPts val="1900"/>
              <a:buFont typeface="Open Sans"/>
              <a:buChar char="●"/>
            </a:pPr>
            <a:endParaRPr lang="en-US" sz="2000" b="1" dirty="0">
              <a:latin typeface="Open Sans"/>
              <a:ea typeface="Open Sans"/>
              <a:cs typeface="Open Sans"/>
              <a:sym typeface="Open Sans"/>
            </a:endParaRPr>
          </a:p>
          <a:p>
            <a:pPr lvl="0" indent="-349250">
              <a:spcBef>
                <a:spcPts val="1600"/>
              </a:spcBef>
              <a:buSzPts val="1900"/>
              <a:buFont typeface="Open Sans"/>
              <a:buChar char="●"/>
            </a:pPr>
            <a:endParaRPr lang="en-US" sz="2000" b="1" dirty="0">
              <a:latin typeface="Open Sans"/>
              <a:ea typeface="Open Sans"/>
              <a:cs typeface="Open Sans"/>
              <a:sym typeface="Open Sans"/>
            </a:endParaRPr>
          </a:p>
          <a:p>
            <a:pPr lvl="0" indent="0">
              <a:lnSpc>
                <a:spcPct val="100000"/>
              </a:lnSpc>
              <a:spcBef>
                <a:spcPts val="1600"/>
              </a:spcBef>
              <a:buClr>
                <a:schemeClr val="dk1"/>
              </a:buClr>
              <a:buSzPts val="1100"/>
              <a:buNone/>
            </a:pPr>
            <a:endParaRPr lang="en-US" sz="2000" dirty="0"/>
          </a:p>
        </p:txBody>
      </p:sp>
      <p:graphicFrame>
        <p:nvGraphicFramePr>
          <p:cNvPr id="6" name="Table 5">
            <a:extLst>
              <a:ext uri="{FF2B5EF4-FFF2-40B4-BE49-F238E27FC236}">
                <a16:creationId xmlns:a16="http://schemas.microsoft.com/office/drawing/2014/main" id="{64542BE7-5A49-7DBA-DE4E-05EA0E797618}"/>
              </a:ext>
            </a:extLst>
          </p:cNvPr>
          <p:cNvGraphicFramePr>
            <a:graphicFrameLocks noGrp="1"/>
          </p:cNvGraphicFramePr>
          <p:nvPr>
            <p:extLst>
              <p:ext uri="{D42A27DB-BD31-4B8C-83A1-F6EECF244321}">
                <p14:modId xmlns:p14="http://schemas.microsoft.com/office/powerpoint/2010/main" val="3470402621"/>
              </p:ext>
            </p:extLst>
          </p:nvPr>
        </p:nvGraphicFramePr>
        <p:xfrm>
          <a:off x="805180" y="2602604"/>
          <a:ext cx="2829560" cy="889000"/>
        </p:xfrm>
        <a:graphic>
          <a:graphicData uri="http://schemas.openxmlformats.org/drawingml/2006/table">
            <a:tbl>
              <a:tblPr firstRow="1" bandRow="1">
                <a:tableStyleId>{FABFCF23-3B69-468F-B69F-88F6DE6A72F2}</a:tableStyleId>
              </a:tblPr>
              <a:tblGrid>
                <a:gridCol w="2829560">
                  <a:extLst>
                    <a:ext uri="{9D8B030D-6E8A-4147-A177-3AD203B41FA5}">
                      <a16:colId xmlns:a16="http://schemas.microsoft.com/office/drawing/2014/main" val="416164331"/>
                    </a:ext>
                  </a:extLst>
                </a:gridCol>
              </a:tblGrid>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Raw data staging table:      </a:t>
                      </a:r>
                    </a:p>
                    <a:p>
                      <a:endParaRPr lang="en-US" dirty="0"/>
                    </a:p>
                  </a:txBody>
                  <a:tcPr/>
                </a:tc>
                <a:extLst>
                  <a:ext uri="{0D108BD9-81ED-4DB2-BD59-A6C34878D82A}">
                    <a16:rowId xmlns:a16="http://schemas.microsoft.com/office/drawing/2014/main" val="243923814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HR_DATASET_RAW</a:t>
                      </a:r>
                    </a:p>
                  </a:txBody>
                  <a:tcPr/>
                </a:tc>
                <a:extLst>
                  <a:ext uri="{0D108BD9-81ED-4DB2-BD59-A6C34878D82A}">
                    <a16:rowId xmlns:a16="http://schemas.microsoft.com/office/drawing/2014/main" val="3355956720"/>
                  </a:ext>
                </a:extLst>
              </a:tr>
            </a:tbl>
          </a:graphicData>
        </a:graphic>
      </p:graphicFrame>
      <p:graphicFrame>
        <p:nvGraphicFramePr>
          <p:cNvPr id="7" name="Table 6">
            <a:extLst>
              <a:ext uri="{FF2B5EF4-FFF2-40B4-BE49-F238E27FC236}">
                <a16:creationId xmlns:a16="http://schemas.microsoft.com/office/drawing/2014/main" id="{6B9C55B2-0EC6-A38F-D9D8-73C10CC5ECDB}"/>
              </a:ext>
            </a:extLst>
          </p:cNvPr>
          <p:cNvGraphicFramePr>
            <a:graphicFrameLocks noGrp="1"/>
          </p:cNvGraphicFramePr>
          <p:nvPr>
            <p:extLst>
              <p:ext uri="{D42A27DB-BD31-4B8C-83A1-F6EECF244321}">
                <p14:modId xmlns:p14="http://schemas.microsoft.com/office/powerpoint/2010/main" val="2129515261"/>
              </p:ext>
            </p:extLst>
          </p:nvPr>
        </p:nvGraphicFramePr>
        <p:xfrm>
          <a:off x="805180" y="3840480"/>
          <a:ext cx="2829560" cy="749300"/>
        </p:xfrm>
        <a:graphic>
          <a:graphicData uri="http://schemas.openxmlformats.org/drawingml/2006/table">
            <a:tbl>
              <a:tblPr firstRow="1" bandRow="1">
                <a:tableStyleId>{FABFCF23-3B69-468F-B69F-88F6DE6A72F2}</a:tableStyleId>
              </a:tblPr>
              <a:tblGrid>
                <a:gridCol w="2829560">
                  <a:extLst>
                    <a:ext uri="{9D8B030D-6E8A-4147-A177-3AD203B41FA5}">
                      <a16:colId xmlns:a16="http://schemas.microsoft.com/office/drawing/2014/main" val="3893243578"/>
                    </a:ext>
                  </a:extLst>
                </a:gridCol>
              </a:tblGrid>
              <a:tr h="254145">
                <a:tc>
                  <a:txBody>
                    <a:bodyPr/>
                    <a:lstStyle/>
                    <a:p>
                      <a:pPr lvl="0" indent="0">
                        <a:buNone/>
                      </a:pPr>
                      <a:r>
                        <a:rPr lang="en-US" sz="1400" dirty="0"/>
                        <a:t>View:</a:t>
                      </a:r>
                    </a:p>
                  </a:txBody>
                  <a:tcPr/>
                </a:tc>
                <a:extLst>
                  <a:ext uri="{0D108BD9-81ED-4DB2-BD59-A6C34878D82A}">
                    <a16:rowId xmlns:a16="http://schemas.microsoft.com/office/drawing/2014/main" val="572838403"/>
                  </a:ext>
                </a:extLst>
              </a:tr>
              <a:tr h="4445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HR_DATASET</a:t>
                      </a:r>
                    </a:p>
                  </a:txBody>
                  <a:tcPr/>
                </a:tc>
                <a:extLst>
                  <a:ext uri="{0D108BD9-81ED-4DB2-BD59-A6C34878D82A}">
                    <a16:rowId xmlns:a16="http://schemas.microsoft.com/office/drawing/2014/main" val="2326310923"/>
                  </a:ext>
                </a:extLst>
              </a:tr>
            </a:tbl>
          </a:graphicData>
        </a:graphic>
      </p:graphicFrame>
    </p:spTree>
    <p:extLst>
      <p:ext uri="{BB962C8B-B14F-4D97-AF65-F5344CB8AC3E}">
        <p14:creationId xmlns:p14="http://schemas.microsoft.com/office/powerpoint/2010/main" val="1382133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57E8FF-F4C6-A799-B190-298C99D28527}"/>
              </a:ext>
            </a:extLst>
          </p:cNvPr>
          <p:cNvSpPr>
            <a:spLocks noGrp="1"/>
          </p:cNvSpPr>
          <p:nvPr>
            <p:ph type="body" idx="1"/>
          </p:nvPr>
        </p:nvSpPr>
        <p:spPr>
          <a:xfrm>
            <a:off x="264945" y="1301413"/>
            <a:ext cx="7242600" cy="8492827"/>
          </a:xfrm>
        </p:spPr>
        <p:txBody>
          <a:bodyPr/>
          <a:lstStyle/>
          <a:p>
            <a:pPr lvl="0" indent="-349250">
              <a:spcBef>
                <a:spcPts val="1600"/>
              </a:spcBef>
              <a:buSzPts val="1900"/>
              <a:buFont typeface="Open Sans"/>
              <a:buChar char="●"/>
            </a:pPr>
            <a:r>
              <a:rPr lang="en-US" sz="2400" b="1" dirty="0">
                <a:latin typeface="Open Sans"/>
                <a:ea typeface="Open Sans"/>
                <a:cs typeface="Open Sans"/>
                <a:sym typeface="Open Sans"/>
              </a:rPr>
              <a:t>Data ingestion</a:t>
            </a:r>
          </a:p>
          <a:p>
            <a:pPr lvl="0" indent="0">
              <a:lnSpc>
                <a:spcPct val="100000"/>
              </a:lnSpc>
              <a:spcBef>
                <a:spcPts val="1600"/>
              </a:spcBef>
              <a:buClr>
                <a:schemeClr val="dk1"/>
              </a:buClr>
              <a:buSzPts val="1100"/>
              <a:buNone/>
            </a:pPr>
            <a:r>
              <a:rPr lang="en-US" sz="2000" dirty="0"/>
              <a:t>Select a data ingestion method (ETL, Direct feed, API) based on the information provided. </a:t>
            </a:r>
          </a:p>
          <a:p>
            <a:pPr lvl="0" indent="0">
              <a:lnSpc>
                <a:spcPct val="100000"/>
              </a:lnSpc>
              <a:spcBef>
                <a:spcPts val="1600"/>
              </a:spcBef>
              <a:buClr>
                <a:schemeClr val="dk1"/>
              </a:buClr>
              <a:buSzPts val="1100"/>
              <a:buNone/>
            </a:pPr>
            <a:r>
              <a:rPr lang="en-US" sz="2000" dirty="0"/>
              <a:t>ETL is the suitable data ingestion method for this requirement. Below steps are the high-level approach for the data ingestion.</a:t>
            </a:r>
          </a:p>
          <a:p>
            <a:pPr lvl="0" indent="0">
              <a:lnSpc>
                <a:spcPct val="100000"/>
              </a:lnSpc>
              <a:spcBef>
                <a:spcPts val="1600"/>
              </a:spcBef>
              <a:buClr>
                <a:schemeClr val="dk1"/>
              </a:buClr>
              <a:buSzPts val="1100"/>
              <a:buNone/>
            </a:pPr>
            <a:r>
              <a:rPr lang="en-US" sz="2000" b="1" dirty="0"/>
              <a:t>Step 1</a:t>
            </a:r>
            <a:r>
              <a:rPr lang="en-US" sz="2000" dirty="0"/>
              <a:t>: Convert the HR-Dataset.xlsx Excel to CSV format for loading data into PostgreSQL database</a:t>
            </a:r>
          </a:p>
          <a:p>
            <a:pPr lvl="0" indent="0">
              <a:lnSpc>
                <a:spcPct val="100000"/>
              </a:lnSpc>
              <a:spcBef>
                <a:spcPts val="1600"/>
              </a:spcBef>
              <a:buClr>
                <a:schemeClr val="dk1"/>
              </a:buClr>
              <a:buSzPts val="1100"/>
              <a:buNone/>
            </a:pPr>
            <a:r>
              <a:rPr lang="en-US" sz="2000" b="1" dirty="0"/>
              <a:t>Step 2</a:t>
            </a:r>
            <a:r>
              <a:rPr lang="en-US" sz="2000" dirty="0"/>
              <a:t>: Create a Staging table to hold the raw data from HR-Dataset.csv file.</a:t>
            </a:r>
          </a:p>
          <a:p>
            <a:pPr lvl="0" indent="0">
              <a:lnSpc>
                <a:spcPct val="100000"/>
              </a:lnSpc>
              <a:spcBef>
                <a:spcPts val="1600"/>
              </a:spcBef>
              <a:buClr>
                <a:schemeClr val="dk1"/>
              </a:buClr>
              <a:buSzPts val="1100"/>
              <a:buNone/>
            </a:pPr>
            <a:r>
              <a:rPr lang="en-US" sz="2000" b="1" dirty="0"/>
              <a:t>Step 3</a:t>
            </a:r>
            <a:r>
              <a:rPr lang="en-US" sz="2000" dirty="0"/>
              <a:t>: Use the \copy command to copy the </a:t>
            </a:r>
            <a:r>
              <a:rPr lang="en-US" sz="2000" dirty="0" err="1"/>
              <a:t>HR_Dataset</a:t>
            </a:r>
            <a:r>
              <a:rPr lang="en-US" sz="2000" dirty="0"/>
              <a:t> file data into Raw table in stage schema.</a:t>
            </a:r>
          </a:p>
          <a:p>
            <a:pPr lvl="0" indent="0">
              <a:lnSpc>
                <a:spcPct val="100000"/>
              </a:lnSpc>
              <a:spcBef>
                <a:spcPts val="1600"/>
              </a:spcBef>
              <a:buClr>
                <a:schemeClr val="dk1"/>
              </a:buClr>
              <a:buSzPts val="1100"/>
              <a:buNone/>
            </a:pPr>
            <a:endParaRPr lang="en-US" sz="2000" dirty="0"/>
          </a:p>
          <a:p>
            <a:pPr lvl="0" indent="0">
              <a:lnSpc>
                <a:spcPct val="100000"/>
              </a:lnSpc>
              <a:spcBef>
                <a:spcPts val="1600"/>
              </a:spcBef>
              <a:buClr>
                <a:schemeClr val="dk1"/>
              </a:buClr>
              <a:buSzPts val="1100"/>
              <a:buNone/>
            </a:pPr>
            <a:endParaRPr lang="en-US" sz="2000" dirty="0"/>
          </a:p>
          <a:p>
            <a:pPr lvl="0" indent="0">
              <a:lnSpc>
                <a:spcPct val="100000"/>
              </a:lnSpc>
              <a:spcBef>
                <a:spcPts val="1600"/>
              </a:spcBef>
              <a:buClr>
                <a:schemeClr val="dk1"/>
              </a:buClr>
              <a:buSzPts val="1100"/>
              <a:buNone/>
            </a:pPr>
            <a:endParaRPr lang="en-US" sz="2000" dirty="0"/>
          </a:p>
          <a:p>
            <a:pPr lvl="0" indent="0">
              <a:lnSpc>
                <a:spcPct val="100000"/>
              </a:lnSpc>
              <a:spcBef>
                <a:spcPts val="1600"/>
              </a:spcBef>
              <a:buClr>
                <a:schemeClr val="dk1"/>
              </a:buClr>
              <a:buSzPts val="1100"/>
              <a:buNone/>
            </a:pPr>
            <a:r>
              <a:rPr lang="en-US" sz="2000" b="1" dirty="0"/>
              <a:t>Step 4:</a:t>
            </a:r>
            <a:r>
              <a:rPr lang="en-US" sz="2000" dirty="0"/>
              <a:t> Insert data from staging table to Target tables listed in ER diagram.</a:t>
            </a:r>
          </a:p>
          <a:p>
            <a:pPr lvl="0" indent="0">
              <a:lnSpc>
                <a:spcPct val="100000"/>
              </a:lnSpc>
              <a:spcBef>
                <a:spcPts val="1600"/>
              </a:spcBef>
              <a:buClr>
                <a:schemeClr val="dk1"/>
              </a:buClr>
              <a:buSzPts val="1100"/>
              <a:buNone/>
            </a:pPr>
            <a:endParaRPr lang="en-US" sz="2000" dirty="0"/>
          </a:p>
          <a:p>
            <a:endParaRPr lang="en-US" dirty="0"/>
          </a:p>
        </p:txBody>
      </p:sp>
      <p:graphicFrame>
        <p:nvGraphicFramePr>
          <p:cNvPr id="5" name="Table 4">
            <a:extLst>
              <a:ext uri="{FF2B5EF4-FFF2-40B4-BE49-F238E27FC236}">
                <a16:creationId xmlns:a16="http://schemas.microsoft.com/office/drawing/2014/main" id="{7AAF17C0-16FF-20F7-CBFC-16F26C307E3A}"/>
              </a:ext>
            </a:extLst>
          </p:cNvPr>
          <p:cNvGraphicFramePr>
            <a:graphicFrameLocks noGrp="1"/>
          </p:cNvGraphicFramePr>
          <p:nvPr>
            <p:extLst>
              <p:ext uri="{D42A27DB-BD31-4B8C-83A1-F6EECF244321}">
                <p14:modId xmlns:p14="http://schemas.microsoft.com/office/powerpoint/2010/main" val="4274485312"/>
              </p:ext>
            </p:extLst>
          </p:nvPr>
        </p:nvGraphicFramePr>
        <p:xfrm>
          <a:off x="805180" y="6491307"/>
          <a:ext cx="6162040" cy="1188720"/>
        </p:xfrm>
        <a:graphic>
          <a:graphicData uri="http://schemas.openxmlformats.org/drawingml/2006/table">
            <a:tbl>
              <a:tblPr firstRow="1" bandRow="1">
                <a:tableStyleId>{2D5ABB26-0587-4C30-8999-92F81FD0307C}</a:tableStyleId>
              </a:tblPr>
              <a:tblGrid>
                <a:gridCol w="6162040">
                  <a:extLst>
                    <a:ext uri="{9D8B030D-6E8A-4147-A177-3AD203B41FA5}">
                      <a16:colId xmlns:a16="http://schemas.microsoft.com/office/drawing/2014/main" val="2879452555"/>
                    </a:ext>
                  </a:extLst>
                </a:gridCol>
              </a:tblGrid>
              <a:tr h="10067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i="1" dirty="0">
                          <a:latin typeface="Courier New" panose="02070309020205020404" pitchFamily="49" charset="0"/>
                          <a:cs typeface="Courier New" panose="02070309020205020404" pitchFamily="49" charset="0"/>
                        </a:rPr>
                        <a:t>\copy STG_SCHEMA.HR_DATASET_RAW FROM 'C:\Learning\Udacity - DA\hr-dataset.csv' CSV HEADER;</a:t>
                      </a:r>
                    </a:p>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3328286"/>
                  </a:ext>
                </a:extLst>
              </a:tr>
            </a:tbl>
          </a:graphicData>
        </a:graphic>
      </p:graphicFrame>
    </p:spTree>
    <p:extLst>
      <p:ext uri="{BB962C8B-B14F-4D97-AF65-F5344CB8AC3E}">
        <p14:creationId xmlns:p14="http://schemas.microsoft.com/office/powerpoint/2010/main" val="20864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Technical Requirement</a:t>
            </a:r>
            <a:endParaRPr dirty="0"/>
          </a:p>
        </p:txBody>
      </p:sp>
      <p:sp>
        <p:nvSpPr>
          <p:cNvPr id="231" name="Google Shape;231;p59"/>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Data governance (Ownership and User access)</a:t>
            </a: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r>
              <a:rPr lang="en" sz="1700" b="1" dirty="0">
                <a:latin typeface="Open Sans"/>
                <a:ea typeface="Open Sans"/>
                <a:cs typeface="Open Sans"/>
                <a:sym typeface="Open Sans"/>
              </a:rPr>
              <a:t>Ownership: </a:t>
            </a:r>
            <a:r>
              <a:rPr lang="en" sz="1700" dirty="0"/>
              <a:t>who will own and maintain the data</a:t>
            </a:r>
          </a:p>
          <a:p>
            <a:pPr marL="457200" lvl="0" indent="0" algn="l" rtl="0">
              <a:lnSpc>
                <a:spcPct val="100000"/>
              </a:lnSpc>
              <a:spcBef>
                <a:spcPts val="1600"/>
              </a:spcBef>
              <a:spcAft>
                <a:spcPts val="0"/>
              </a:spcAft>
              <a:buNone/>
            </a:pPr>
            <a:r>
              <a:rPr lang="en" sz="1700" dirty="0"/>
              <a:t>HR will own the data.</a:t>
            </a:r>
            <a:endParaRPr sz="1700" dirty="0"/>
          </a:p>
          <a:p>
            <a:pPr marL="457200" lvl="0" indent="0" algn="l" rtl="0">
              <a:lnSpc>
                <a:spcPct val="100000"/>
              </a:lnSpc>
              <a:spcBef>
                <a:spcPts val="0"/>
              </a:spcBef>
              <a:spcAft>
                <a:spcPts val="0"/>
              </a:spcAft>
              <a:buNone/>
            </a:pPr>
            <a:endParaRPr sz="1700" dirty="0"/>
          </a:p>
          <a:p>
            <a:pPr marL="457200" lvl="0" indent="0" algn="l" rtl="0">
              <a:lnSpc>
                <a:spcPct val="100000"/>
              </a:lnSpc>
              <a:spcBef>
                <a:spcPts val="0"/>
              </a:spcBef>
              <a:spcAft>
                <a:spcPts val="0"/>
              </a:spcAft>
              <a:buNone/>
            </a:pPr>
            <a:r>
              <a:rPr lang="en" sz="1700" b="1" dirty="0">
                <a:latin typeface="Open Sans"/>
                <a:ea typeface="Open Sans"/>
                <a:cs typeface="Open Sans"/>
                <a:sym typeface="Open Sans"/>
              </a:rPr>
              <a:t>User Access: </a:t>
            </a:r>
            <a:r>
              <a:rPr lang="en" sz="1700" dirty="0"/>
              <a:t>who will and will not have access to the data</a:t>
            </a:r>
          </a:p>
          <a:p>
            <a:pPr marL="457200" lvl="0" indent="0" algn="l" rtl="0">
              <a:lnSpc>
                <a:spcPct val="100000"/>
              </a:lnSpc>
              <a:spcBef>
                <a:spcPts val="0"/>
              </a:spcBef>
              <a:spcAft>
                <a:spcPts val="0"/>
              </a:spcAft>
              <a:buNone/>
            </a:pPr>
            <a:endParaRPr lang="en-US" sz="1700" dirty="0"/>
          </a:p>
          <a:p>
            <a:pPr marL="457200" lvl="0" indent="0" algn="l" rtl="0">
              <a:lnSpc>
                <a:spcPct val="100000"/>
              </a:lnSpc>
              <a:spcBef>
                <a:spcPts val="0"/>
              </a:spcBef>
              <a:spcAft>
                <a:spcPts val="0"/>
              </a:spcAft>
              <a:buNone/>
            </a:pPr>
            <a:endParaRPr lang="en-US" sz="1700" dirty="0"/>
          </a:p>
          <a:p>
            <a:pPr marL="457200" lvl="0" indent="0" algn="l" rtl="0">
              <a:lnSpc>
                <a:spcPct val="100000"/>
              </a:lnSpc>
              <a:spcBef>
                <a:spcPts val="0"/>
              </a:spcBef>
              <a:spcAft>
                <a:spcPts val="0"/>
              </a:spcAft>
              <a:buNone/>
            </a:pPr>
            <a:endParaRPr lang="en-US" sz="1700" dirty="0"/>
          </a:p>
          <a:p>
            <a:pPr marL="457200" lvl="0" indent="0" algn="l" rtl="0">
              <a:lnSpc>
                <a:spcPct val="100000"/>
              </a:lnSpc>
              <a:spcBef>
                <a:spcPts val="0"/>
              </a:spcBef>
              <a:spcAft>
                <a:spcPts val="0"/>
              </a:spcAft>
              <a:buNone/>
            </a:pPr>
            <a:endParaRPr lang="en-US" sz="1700" dirty="0"/>
          </a:p>
          <a:p>
            <a:pPr marL="457200" lvl="0" indent="0" algn="l" rtl="0">
              <a:lnSpc>
                <a:spcPct val="100000"/>
              </a:lnSpc>
              <a:spcBef>
                <a:spcPts val="0"/>
              </a:spcBef>
              <a:spcAft>
                <a:spcPts val="0"/>
              </a:spcAft>
              <a:buNone/>
            </a:pPr>
            <a:endParaRPr sz="1700" dirty="0"/>
          </a:p>
          <a:p>
            <a:pPr lvl="0" indent="0">
              <a:lnSpc>
                <a:spcPct val="100000"/>
              </a:lnSpc>
              <a:spcBef>
                <a:spcPts val="1600"/>
              </a:spcBef>
              <a:buNone/>
            </a:pPr>
            <a:endParaRPr lang="en-US" sz="1800" b="1" dirty="0"/>
          </a:p>
          <a:p>
            <a:pPr lvl="0" indent="0">
              <a:lnSpc>
                <a:spcPct val="100000"/>
              </a:lnSpc>
              <a:spcBef>
                <a:spcPts val="1600"/>
              </a:spcBef>
              <a:buNone/>
            </a:pPr>
            <a:endParaRPr lang="en-US" sz="1800" b="1" dirty="0"/>
          </a:p>
          <a:p>
            <a:pPr lvl="0" indent="0">
              <a:lnSpc>
                <a:spcPct val="100000"/>
              </a:lnSpc>
              <a:spcBef>
                <a:spcPts val="1600"/>
              </a:spcBef>
              <a:buNone/>
            </a:pPr>
            <a:r>
              <a:rPr lang="en-US" sz="1400" b="1" dirty="0"/>
              <a:t>Note:</a:t>
            </a:r>
          </a:p>
          <a:p>
            <a:pPr lvl="0" indent="0">
              <a:lnSpc>
                <a:spcPct val="100000"/>
              </a:lnSpc>
              <a:spcBef>
                <a:spcPts val="1600"/>
              </a:spcBef>
              <a:buNone/>
            </a:pPr>
            <a:r>
              <a:rPr lang="en-US" sz="1400" b="1" dirty="0"/>
              <a:t>Write Access</a:t>
            </a:r>
            <a:r>
              <a:rPr lang="en-US" sz="1400" dirty="0"/>
              <a:t>: Only HR and Management will have write access to database</a:t>
            </a:r>
          </a:p>
          <a:p>
            <a:pPr lvl="0" indent="0">
              <a:lnSpc>
                <a:spcPct val="100000"/>
              </a:lnSpc>
              <a:spcBef>
                <a:spcPts val="1600"/>
              </a:spcBef>
              <a:buNone/>
            </a:pPr>
            <a:r>
              <a:rPr lang="en-US" sz="1400" b="1" dirty="0"/>
              <a:t>Read Access</a:t>
            </a:r>
            <a:r>
              <a:rPr lang="en-US" sz="1400" dirty="0"/>
              <a:t>: All employees with domain login will have read-only access to data except for salary information.</a:t>
            </a:r>
          </a:p>
          <a:p>
            <a:pPr lvl="0" indent="0">
              <a:lnSpc>
                <a:spcPct val="100000"/>
              </a:lnSpc>
              <a:spcBef>
                <a:spcPts val="1600"/>
              </a:spcBef>
              <a:buNone/>
            </a:pPr>
            <a:r>
              <a:rPr lang="en-US" sz="1400" b="1" dirty="0"/>
              <a:t>Restricted Access</a:t>
            </a:r>
            <a:r>
              <a:rPr lang="en-US" sz="1400" dirty="0"/>
              <a:t>: Salary information will be restricted to HR and Management level employees only. Domain level employees won’t be able to access Salary data.</a:t>
            </a:r>
          </a:p>
          <a:p>
            <a:pPr marL="457200" lvl="0" indent="0" algn="l" rtl="0">
              <a:lnSpc>
                <a:spcPct val="100000"/>
              </a:lnSpc>
              <a:spcBef>
                <a:spcPts val="0"/>
              </a:spcBef>
              <a:spcAft>
                <a:spcPts val="0"/>
              </a:spcAft>
              <a:buNone/>
            </a:pPr>
            <a:endParaRPr sz="1700" dirty="0"/>
          </a:p>
          <a:p>
            <a:pPr marL="0" lvl="0" indent="0" algn="l" rtl="0">
              <a:lnSpc>
                <a:spcPct val="100000"/>
              </a:lnSpc>
              <a:spcBef>
                <a:spcPts val="0"/>
              </a:spcBef>
              <a:spcAft>
                <a:spcPts val="0"/>
              </a:spcAft>
              <a:buClr>
                <a:schemeClr val="dk1"/>
              </a:buClr>
              <a:buSzPts val="1100"/>
              <a:buFont typeface="Arial"/>
              <a:buNone/>
            </a:pPr>
            <a:endParaRPr sz="1700" dirty="0"/>
          </a:p>
        </p:txBody>
      </p:sp>
      <p:graphicFrame>
        <p:nvGraphicFramePr>
          <p:cNvPr id="2" name="Table 1">
            <a:extLst>
              <a:ext uri="{FF2B5EF4-FFF2-40B4-BE49-F238E27FC236}">
                <a16:creationId xmlns:a16="http://schemas.microsoft.com/office/drawing/2014/main" id="{A335A956-C9FA-2AD4-DFE4-6769A02760B6}"/>
              </a:ext>
            </a:extLst>
          </p:cNvPr>
          <p:cNvGraphicFramePr>
            <a:graphicFrameLocks noGrp="1"/>
          </p:cNvGraphicFramePr>
          <p:nvPr>
            <p:extLst>
              <p:ext uri="{D42A27DB-BD31-4B8C-83A1-F6EECF244321}">
                <p14:modId xmlns:p14="http://schemas.microsoft.com/office/powerpoint/2010/main" val="3472757463"/>
              </p:ext>
            </p:extLst>
          </p:nvPr>
        </p:nvGraphicFramePr>
        <p:xfrm>
          <a:off x="927100" y="4285794"/>
          <a:ext cx="5918200" cy="1833880"/>
        </p:xfrm>
        <a:graphic>
          <a:graphicData uri="http://schemas.openxmlformats.org/drawingml/2006/table">
            <a:tbl>
              <a:tblPr firstRow="1" bandRow="1">
                <a:tableStyleId>{F2DE63D5-997A-4646-A377-4702673A728D}</a:tableStyleId>
              </a:tblPr>
              <a:tblGrid>
                <a:gridCol w="1727200">
                  <a:extLst>
                    <a:ext uri="{9D8B030D-6E8A-4147-A177-3AD203B41FA5}">
                      <a16:colId xmlns:a16="http://schemas.microsoft.com/office/drawing/2014/main" val="1875648179"/>
                    </a:ext>
                  </a:extLst>
                </a:gridCol>
                <a:gridCol w="1727200">
                  <a:extLst>
                    <a:ext uri="{9D8B030D-6E8A-4147-A177-3AD203B41FA5}">
                      <a16:colId xmlns:a16="http://schemas.microsoft.com/office/drawing/2014/main" val="3620786877"/>
                    </a:ext>
                  </a:extLst>
                </a:gridCol>
                <a:gridCol w="2463800">
                  <a:extLst>
                    <a:ext uri="{9D8B030D-6E8A-4147-A177-3AD203B41FA5}">
                      <a16:colId xmlns:a16="http://schemas.microsoft.com/office/drawing/2014/main" val="1345852359"/>
                    </a:ext>
                  </a:extLst>
                </a:gridCol>
              </a:tblGrid>
              <a:tr h="370840">
                <a:tc>
                  <a:txBody>
                    <a:bodyPr/>
                    <a:lstStyle/>
                    <a:p>
                      <a:r>
                        <a:rPr lang="en-US" dirty="0"/>
                        <a:t>User Role</a:t>
                      </a:r>
                    </a:p>
                  </a:txBody>
                  <a:tcPr/>
                </a:tc>
                <a:tc>
                  <a:txBody>
                    <a:bodyPr/>
                    <a:lstStyle/>
                    <a:p>
                      <a:r>
                        <a:rPr lang="en-US" dirty="0"/>
                        <a:t>User Type</a:t>
                      </a:r>
                    </a:p>
                  </a:txBody>
                  <a:tcPr/>
                </a:tc>
                <a:tc>
                  <a:txBody>
                    <a:bodyPr/>
                    <a:lstStyle/>
                    <a:p>
                      <a:r>
                        <a:rPr lang="en-US" dirty="0"/>
                        <a:t>Access Restrictions</a:t>
                      </a:r>
                    </a:p>
                  </a:txBody>
                  <a:tcPr/>
                </a:tc>
                <a:extLst>
                  <a:ext uri="{0D108BD9-81ED-4DB2-BD59-A6C34878D82A}">
                    <a16:rowId xmlns:a16="http://schemas.microsoft.com/office/drawing/2014/main" val="2487948491"/>
                  </a:ext>
                </a:extLst>
              </a:tr>
              <a:tr h="370840">
                <a:tc>
                  <a:txBody>
                    <a:bodyPr/>
                    <a:lstStyle/>
                    <a:p>
                      <a:r>
                        <a:rPr lang="en-US" dirty="0"/>
                        <a:t>HR_USER</a:t>
                      </a:r>
                    </a:p>
                  </a:txBody>
                  <a:tcPr/>
                </a:tc>
                <a:tc>
                  <a:txBody>
                    <a:bodyPr/>
                    <a:lstStyle/>
                    <a:p>
                      <a:r>
                        <a:rPr lang="en-US" dirty="0"/>
                        <a:t>HR and Management level Users</a:t>
                      </a:r>
                    </a:p>
                  </a:txBody>
                  <a:tcPr/>
                </a:tc>
                <a:tc>
                  <a:txBody>
                    <a:bodyPr/>
                    <a:lstStyle/>
                    <a:p>
                      <a:r>
                        <a:rPr lang="en-US" dirty="0"/>
                        <a:t>Write Access to all data.</a:t>
                      </a:r>
                    </a:p>
                    <a:p>
                      <a:r>
                        <a:rPr lang="en-US" dirty="0"/>
                        <a:t>Read Access to all data including Salary Information.</a:t>
                      </a:r>
                    </a:p>
                  </a:txBody>
                  <a:tcPr/>
                </a:tc>
                <a:extLst>
                  <a:ext uri="{0D108BD9-81ED-4DB2-BD59-A6C34878D82A}">
                    <a16:rowId xmlns:a16="http://schemas.microsoft.com/office/drawing/2014/main" val="857300882"/>
                  </a:ext>
                </a:extLst>
              </a:tr>
              <a:tr h="370840">
                <a:tc>
                  <a:txBody>
                    <a:bodyPr/>
                    <a:lstStyle/>
                    <a:p>
                      <a:r>
                        <a:rPr lang="en-US" dirty="0"/>
                        <a:t>DOMAIN_USER</a:t>
                      </a:r>
                    </a:p>
                  </a:txBody>
                  <a:tcPr/>
                </a:tc>
                <a:tc>
                  <a:txBody>
                    <a:bodyPr/>
                    <a:lstStyle/>
                    <a:p>
                      <a:r>
                        <a:rPr lang="en-US" dirty="0"/>
                        <a:t>Domain level Employees</a:t>
                      </a:r>
                    </a:p>
                  </a:txBody>
                  <a:tcPr/>
                </a:tc>
                <a:tc>
                  <a:txBody>
                    <a:bodyPr/>
                    <a:lstStyle/>
                    <a:p>
                      <a:r>
                        <a:rPr lang="en-US" dirty="0"/>
                        <a:t>Read only access.</a:t>
                      </a:r>
                    </a:p>
                    <a:p>
                      <a:r>
                        <a:rPr lang="en-US" dirty="0"/>
                        <a:t>No read access to Salary information</a:t>
                      </a:r>
                    </a:p>
                  </a:txBody>
                  <a:tcPr/>
                </a:tc>
                <a:extLst>
                  <a:ext uri="{0D108BD9-81ED-4DB2-BD59-A6C34878D82A}">
                    <a16:rowId xmlns:a16="http://schemas.microsoft.com/office/drawing/2014/main" val="116293434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FB6FBC-9504-DDBF-638B-DAA19F780C62}"/>
              </a:ext>
            </a:extLst>
          </p:cNvPr>
          <p:cNvSpPr>
            <a:spLocks noGrp="1"/>
          </p:cNvSpPr>
          <p:nvPr>
            <p:ph type="body" idx="1"/>
          </p:nvPr>
        </p:nvSpPr>
        <p:spPr>
          <a:xfrm>
            <a:off x="264945" y="304800"/>
            <a:ext cx="7242600" cy="8883329"/>
          </a:xfrm>
        </p:spPr>
        <p:txBody>
          <a:bodyPr/>
          <a:lstStyle/>
          <a:p>
            <a:pPr lvl="0" indent="-349250">
              <a:buSzPts val="1900"/>
              <a:buFont typeface="Open Sans"/>
              <a:buChar char="●"/>
            </a:pPr>
            <a:r>
              <a:rPr lang="en-US" sz="2000" b="1" dirty="0">
                <a:latin typeface="Open Sans"/>
                <a:ea typeface="Open Sans"/>
                <a:cs typeface="Open Sans"/>
                <a:sym typeface="Open Sans"/>
              </a:rPr>
              <a:t>Scalability </a:t>
            </a:r>
          </a:p>
          <a:p>
            <a:pPr lvl="0" indent="0">
              <a:spcBef>
                <a:spcPts val="1600"/>
              </a:spcBef>
              <a:buNone/>
            </a:pPr>
            <a:r>
              <a:rPr lang="en-US" sz="1800" dirty="0"/>
              <a:t>Replication or sharding to be used to ensure scalability based on user needs</a:t>
            </a:r>
          </a:p>
          <a:p>
            <a:pPr marL="800100" indent="-342900">
              <a:spcBef>
                <a:spcPts val="1600"/>
              </a:spcBef>
            </a:pPr>
            <a:r>
              <a:rPr lang="en-US" sz="1800" dirty="0"/>
              <a:t>Replication should be done to avoid data loss or to enable high availability.</a:t>
            </a:r>
          </a:p>
          <a:p>
            <a:pPr marL="800100" indent="-342900">
              <a:spcBef>
                <a:spcPts val="1600"/>
              </a:spcBef>
            </a:pPr>
            <a:r>
              <a:rPr lang="en-US" sz="1800" dirty="0"/>
              <a:t>Sharding may not be required for this database as the estimated volume do not exceed beyond few thousands of rows.</a:t>
            </a:r>
          </a:p>
          <a:p>
            <a:pPr lvl="0" indent="-349250">
              <a:spcBef>
                <a:spcPts val="1600"/>
              </a:spcBef>
              <a:buSzPts val="1900"/>
              <a:buFont typeface="Open Sans"/>
              <a:buChar char="●"/>
            </a:pPr>
            <a:r>
              <a:rPr lang="en-US" sz="2000" b="1" dirty="0">
                <a:latin typeface="Open Sans"/>
                <a:ea typeface="Open Sans"/>
                <a:cs typeface="Open Sans"/>
                <a:sym typeface="Open Sans"/>
              </a:rPr>
              <a:t>Flexibility</a:t>
            </a:r>
            <a:endParaRPr lang="en-US" sz="2000" dirty="0"/>
          </a:p>
          <a:p>
            <a:pPr lvl="0" indent="0">
              <a:spcBef>
                <a:spcPts val="1600"/>
              </a:spcBef>
              <a:buNone/>
            </a:pPr>
            <a:r>
              <a:rPr lang="en-US" sz="1800" dirty="0"/>
              <a:t>Describe measures taken to ensure future data integration if needed</a:t>
            </a:r>
          </a:p>
          <a:p>
            <a:pPr lvl="0" indent="0">
              <a:spcBef>
                <a:spcPts val="1600"/>
              </a:spcBef>
              <a:buNone/>
            </a:pPr>
            <a:r>
              <a:rPr lang="en-US" sz="1800" dirty="0"/>
              <a:t>This HR Database has been designed in 3NF which ensures the following:</a:t>
            </a:r>
          </a:p>
          <a:p>
            <a:pPr marL="800100" indent="-342900">
              <a:spcBef>
                <a:spcPts val="1600"/>
              </a:spcBef>
            </a:pPr>
            <a:r>
              <a:rPr lang="en-US" sz="1800" dirty="0"/>
              <a:t>Every entity is isolated as per the normalization rules.</a:t>
            </a:r>
          </a:p>
          <a:p>
            <a:pPr marL="800100" indent="-342900">
              <a:spcBef>
                <a:spcPts val="1600"/>
              </a:spcBef>
            </a:pPr>
            <a:r>
              <a:rPr lang="en-US" sz="1800" dirty="0"/>
              <a:t>New entities to be added to the database can be linked via corresponding foreign keys.</a:t>
            </a:r>
          </a:p>
          <a:p>
            <a:pPr marL="800100" indent="-342900">
              <a:spcBef>
                <a:spcPts val="1600"/>
              </a:spcBef>
            </a:pPr>
            <a:r>
              <a:rPr lang="en-US" sz="1800" dirty="0"/>
              <a:t>New attributes can be added as needed to the appropriate table without impacting other tables.</a:t>
            </a:r>
          </a:p>
          <a:p>
            <a:pPr marL="800100" indent="-342900">
              <a:spcBef>
                <a:spcPts val="1600"/>
              </a:spcBef>
            </a:pPr>
            <a:r>
              <a:rPr lang="en-US" sz="1800" dirty="0"/>
              <a:t>Future data integration can be done without breaking the existing setup or requiring major re-design.</a:t>
            </a:r>
          </a:p>
          <a:p>
            <a:endParaRPr lang="en-US" dirty="0"/>
          </a:p>
        </p:txBody>
      </p:sp>
    </p:spTree>
    <p:extLst>
      <p:ext uri="{BB962C8B-B14F-4D97-AF65-F5344CB8AC3E}">
        <p14:creationId xmlns:p14="http://schemas.microsoft.com/office/powerpoint/2010/main" val="2450152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D4FE1D-9F0B-73B4-0DAE-A9FB2EF68A21}"/>
              </a:ext>
            </a:extLst>
          </p:cNvPr>
          <p:cNvSpPr>
            <a:spLocks noGrp="1"/>
          </p:cNvSpPr>
          <p:nvPr>
            <p:ph type="body" idx="1"/>
          </p:nvPr>
        </p:nvSpPr>
        <p:spPr/>
        <p:txBody>
          <a:bodyPr/>
          <a:lstStyle/>
          <a:p>
            <a:pPr lvl="0" indent="0">
              <a:spcBef>
                <a:spcPts val="1600"/>
              </a:spcBef>
              <a:buNone/>
            </a:pPr>
            <a:endParaRPr lang="en-US" sz="2000" dirty="0"/>
          </a:p>
          <a:p>
            <a:pPr lvl="0" indent="-349250">
              <a:spcBef>
                <a:spcPts val="1600"/>
              </a:spcBef>
              <a:buSzPts val="1900"/>
              <a:buFont typeface="Open Sans"/>
              <a:buChar char="●"/>
            </a:pPr>
            <a:r>
              <a:rPr lang="en-US" sz="2000" b="1" dirty="0">
                <a:latin typeface="Open Sans"/>
                <a:ea typeface="Open Sans"/>
                <a:cs typeface="Open Sans"/>
                <a:sym typeface="Open Sans"/>
              </a:rPr>
              <a:t>Storage &amp; retention</a:t>
            </a:r>
          </a:p>
          <a:p>
            <a:pPr lvl="0" indent="0">
              <a:lnSpc>
                <a:spcPct val="100000"/>
              </a:lnSpc>
              <a:spcBef>
                <a:spcPts val="1600"/>
              </a:spcBef>
              <a:buNone/>
            </a:pPr>
            <a:r>
              <a:rPr lang="en-US" sz="2000" b="1" dirty="0">
                <a:latin typeface="Open Sans"/>
                <a:ea typeface="Open Sans"/>
                <a:cs typeface="Open Sans"/>
                <a:sym typeface="Open Sans"/>
              </a:rPr>
              <a:t>Storage (disk or in-memory): </a:t>
            </a:r>
            <a:r>
              <a:rPr lang="en-US" sz="2000" dirty="0"/>
              <a:t>check </a:t>
            </a:r>
            <a:r>
              <a:rPr lang="en-US" sz="2000" u="sng" dirty="0">
                <a:solidFill>
                  <a:schemeClr val="hlink"/>
                </a:solidFill>
                <a:hlinkClick r:id="rId2"/>
              </a:rPr>
              <a:t>IT best practices document</a:t>
            </a:r>
            <a:endParaRPr lang="en-US" sz="2000" dirty="0"/>
          </a:p>
          <a:p>
            <a:pPr lvl="0" indent="0">
              <a:lnSpc>
                <a:spcPct val="100000"/>
              </a:lnSpc>
              <a:buNone/>
            </a:pPr>
            <a:endParaRPr lang="en-US" sz="2000" dirty="0"/>
          </a:p>
          <a:p>
            <a:pPr lvl="0" indent="0">
              <a:lnSpc>
                <a:spcPct val="100000"/>
              </a:lnSpc>
              <a:buNone/>
            </a:pPr>
            <a:r>
              <a:rPr lang="en-US" sz="2000" b="1" dirty="0">
                <a:latin typeface="Open Sans"/>
                <a:ea typeface="Open Sans"/>
                <a:cs typeface="Open Sans"/>
                <a:sym typeface="Open Sans"/>
              </a:rPr>
              <a:t>Retention: </a:t>
            </a:r>
            <a:r>
              <a:rPr lang="en-US" sz="2000" dirty="0"/>
              <a:t>7 Years or more.</a:t>
            </a:r>
          </a:p>
          <a:p>
            <a:pPr lvl="0" indent="0">
              <a:lnSpc>
                <a:spcPct val="100000"/>
              </a:lnSpc>
              <a:buNone/>
            </a:pPr>
            <a:endParaRPr lang="en-US" sz="2000" dirty="0"/>
          </a:p>
          <a:p>
            <a:pPr lvl="0" indent="0">
              <a:lnSpc>
                <a:spcPct val="100000"/>
              </a:lnSpc>
              <a:buNone/>
            </a:pPr>
            <a:endParaRPr lang="en-US" sz="2000" dirty="0"/>
          </a:p>
          <a:p>
            <a:pPr lvl="0" indent="0">
              <a:lnSpc>
                <a:spcPct val="100000"/>
              </a:lnSpc>
              <a:buNone/>
            </a:pPr>
            <a:endParaRPr lang="en-US" sz="2000" dirty="0"/>
          </a:p>
          <a:p>
            <a:pPr lvl="0" indent="-349250">
              <a:buSzPts val="1900"/>
              <a:buFont typeface="Open Sans"/>
              <a:buChar char="●"/>
            </a:pPr>
            <a:r>
              <a:rPr lang="en-US" sz="2000" b="1" dirty="0">
                <a:latin typeface="Open Sans"/>
                <a:ea typeface="Open Sans"/>
                <a:cs typeface="Open Sans"/>
                <a:sym typeface="Open Sans"/>
              </a:rPr>
              <a:t>Backup</a:t>
            </a:r>
          </a:p>
          <a:p>
            <a:pPr lvl="0" indent="0">
              <a:spcBef>
                <a:spcPts val="1600"/>
              </a:spcBef>
              <a:buNone/>
            </a:pPr>
            <a:r>
              <a:rPr lang="en-US" sz="2000" dirty="0"/>
              <a:t> </a:t>
            </a:r>
            <a:r>
              <a:rPr lang="en-US" sz="2000" u="sng" dirty="0">
                <a:solidFill>
                  <a:schemeClr val="hlink"/>
                </a:solidFill>
                <a:hlinkClick r:id="rId2"/>
              </a:rPr>
              <a:t>IT Best Practices document</a:t>
            </a:r>
            <a:r>
              <a:rPr lang="en-US" sz="2000" dirty="0"/>
              <a:t> lists Backup schedule requirements</a:t>
            </a:r>
          </a:p>
          <a:p>
            <a:pPr lvl="0" indent="0">
              <a:lnSpc>
                <a:spcPct val="100000"/>
              </a:lnSpc>
              <a:spcBef>
                <a:spcPts val="1600"/>
              </a:spcBef>
              <a:buNone/>
            </a:pPr>
            <a:endParaRPr lang="en-US" sz="2000" dirty="0"/>
          </a:p>
          <a:p>
            <a:endParaRPr lang="en-US" sz="2000" dirty="0"/>
          </a:p>
        </p:txBody>
      </p:sp>
    </p:spTree>
    <p:extLst>
      <p:ext uri="{BB962C8B-B14F-4D97-AF65-F5344CB8AC3E}">
        <p14:creationId xmlns:p14="http://schemas.microsoft.com/office/powerpoint/2010/main" val="510782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5"/>
        <p:cNvGrpSpPr/>
        <p:nvPr/>
      </p:nvGrpSpPr>
      <p:grpSpPr>
        <a:xfrm>
          <a:off x="0" y="0"/>
          <a:ext cx="0" cy="0"/>
          <a:chOff x="0" y="0"/>
          <a:chExt cx="0" cy="0"/>
        </a:xfrm>
      </p:grpSpPr>
      <p:sp>
        <p:nvSpPr>
          <p:cNvPr id="236" name="Google Shape;236;p60"/>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Relational Database Design</a:t>
            </a:r>
            <a:endParaRPr sz="3000">
              <a:solidFill>
                <a:srgbClr val="FFFFFF"/>
              </a:solidFill>
              <a:latin typeface="Open Sans"/>
              <a:ea typeface="Open Sans"/>
              <a:cs typeface="Open Sans"/>
              <a:sym typeface="Open Sans"/>
            </a:endParaRPr>
          </a:p>
        </p:txBody>
      </p:sp>
      <p:sp>
        <p:nvSpPr>
          <p:cNvPr id="237" name="Google Shape;237;p6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6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2: Relational Database Design</a:t>
            </a:r>
            <a:endParaRPr/>
          </a:p>
        </p:txBody>
      </p:sp>
      <p:sp>
        <p:nvSpPr>
          <p:cNvPr id="243" name="Google Shape;243;p61"/>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None/>
            </a:pPr>
            <a:r>
              <a:rPr lang="en" sz="1500">
                <a:solidFill>
                  <a:srgbClr val="525C65"/>
                </a:solidFill>
                <a:highlight>
                  <a:srgbClr val="FFFFFF"/>
                </a:highlight>
                <a:latin typeface="Open Sans"/>
                <a:ea typeface="Open Sans"/>
                <a:cs typeface="Open Sans"/>
                <a:sym typeface="Open Sans"/>
              </a:rPr>
              <a:t>This step is where you will go through the process of designing a new database for Tech ABC Corp's HR department. Using the </a:t>
            </a:r>
            <a:r>
              <a:rPr lang="en" sz="1500" u="sng">
                <a:solidFill>
                  <a:schemeClr val="hlink"/>
                </a:solidFill>
                <a:highlight>
                  <a:srgbClr val="FFFFFF"/>
                </a:highlight>
                <a:latin typeface="Open Sans"/>
                <a:ea typeface="Open Sans"/>
                <a:cs typeface="Open Sans"/>
                <a:sym typeface="Open Sans"/>
                <a:hlinkClick r:id="rId3"/>
              </a:rPr>
              <a:t>dataset</a:t>
            </a:r>
            <a:r>
              <a:rPr lang="en" sz="1500">
                <a:solidFill>
                  <a:srgbClr val="525C65"/>
                </a:solidFill>
                <a:highlight>
                  <a:srgbClr val="FFFFFF"/>
                </a:highlight>
                <a:latin typeface="Open Sans"/>
                <a:ea typeface="Open Sans"/>
                <a:cs typeface="Open Sans"/>
                <a:sym typeface="Open Sans"/>
              </a:rPr>
              <a:t> provided, along with the requirements gathered in step one, you are going to develop a relational database set to the 3NF.</a:t>
            </a:r>
            <a:endParaRPr sz="1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500">
                <a:solidFill>
                  <a:srgbClr val="525C65"/>
                </a:solidFill>
                <a:highlight>
                  <a:srgbClr val="FFFFFF"/>
                </a:highlight>
                <a:latin typeface="Open Sans"/>
                <a:ea typeface="Open Sans"/>
                <a:cs typeface="Open Sans"/>
                <a:sym typeface="Open Sans"/>
              </a:rPr>
              <a:t>Using Lucidchart, you will create 3 entity relationship diagrams (ERDs) to show how you developed the final design for your data.</a:t>
            </a:r>
            <a:endParaRPr sz="1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Clr>
                <a:schemeClr val="dk1"/>
              </a:buClr>
              <a:buSzPts val="1100"/>
              <a:buFont typeface="Arial"/>
              <a:buNone/>
            </a:pPr>
            <a:r>
              <a:rPr lang="en" sz="1500">
                <a:solidFill>
                  <a:srgbClr val="525C65"/>
                </a:solidFill>
                <a:highlight>
                  <a:srgbClr val="FFFFFF"/>
                </a:highlight>
                <a:latin typeface="Open Sans"/>
                <a:ea typeface="Open Sans"/>
                <a:cs typeface="Open Sans"/>
                <a:sym typeface="Open Sans"/>
              </a:rPr>
              <a:t>You will submit a screenshot for each of the 3 ERDs you create. You will find detailed instructions for developing each of the ERDs over the next several pages.</a:t>
            </a:r>
            <a:endParaRPr sz="150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ERD</a:t>
            </a:r>
            <a:endParaRPr dirty="0"/>
          </a:p>
        </p:txBody>
      </p:sp>
      <p:sp>
        <p:nvSpPr>
          <p:cNvPr id="249" name="Google Shape;249;p62"/>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Conceptual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rgbClr val="FFFFFF"/>
                </a:highlight>
                <a:latin typeface="Open Sans"/>
                <a:ea typeface="Open Sans"/>
                <a:cs typeface="Open Sans"/>
                <a:sym typeface="Open Sans"/>
              </a:rPr>
              <a:t>This is the most general level of data modeling. At the conceptual level, you should be thinking about creating entities that represent business objects for the database. Think broadly here. Attributes (or column names) are not required at this point, but relationship lines are required (although Crow's foot notation is not needed at this level). Create at least three entities for this model; thinking about the 3NF will aid you in deciding the type of entities to create.</a:t>
            </a: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200" dirty="0">
                <a:solidFill>
                  <a:srgbClr val="525C65"/>
                </a:solidFill>
                <a:highlight>
                  <a:srgbClr val="FFFFFF"/>
                </a:highlight>
                <a:latin typeface="Open Sans"/>
                <a:ea typeface="Open Sans"/>
                <a:cs typeface="Open Sans"/>
                <a:sym typeface="Open Sans"/>
              </a:rPr>
              <a:t>Use Lucidchart’s built-in template for DBMS ER Diagram UML.</a:t>
            </a: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None/>
            </a:pP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None/>
            </a:pPr>
            <a:endParaRPr sz="1200" dirty="0">
              <a:solidFill>
                <a:srgbClr val="525C65"/>
              </a:solidFill>
              <a:highlight>
                <a:srgbClr val="FFFFFF"/>
              </a:highlight>
              <a:latin typeface="Open Sans"/>
              <a:ea typeface="Open Sans"/>
              <a:cs typeface="Open Sans"/>
              <a:sym typeface="Open Sans"/>
            </a:endParaRPr>
          </a:p>
          <a:p>
            <a:pPr marL="457200" lvl="0" indent="0" algn="l" rtl="0">
              <a:spcBef>
                <a:spcPts val="0"/>
              </a:spcBef>
              <a:spcAft>
                <a:spcPts val="1600"/>
              </a:spcAft>
              <a:buClr>
                <a:schemeClr val="dk1"/>
              </a:buClr>
              <a:buSzPts val="1100"/>
              <a:buFont typeface="Arial"/>
              <a:buNone/>
            </a:pPr>
            <a:endParaRPr sz="1900" dirty="0"/>
          </a:p>
        </p:txBody>
      </p:sp>
      <p:pic>
        <p:nvPicPr>
          <p:cNvPr id="4" name="Picture 3">
            <a:extLst>
              <a:ext uri="{FF2B5EF4-FFF2-40B4-BE49-F238E27FC236}">
                <a16:creationId xmlns:a16="http://schemas.microsoft.com/office/drawing/2014/main" id="{FAE6B90A-503D-268A-B9DF-F74C2E2E2B67}"/>
              </a:ext>
            </a:extLst>
          </p:cNvPr>
          <p:cNvPicPr>
            <a:picLocks noChangeAspect="1"/>
          </p:cNvPicPr>
          <p:nvPr/>
        </p:nvPicPr>
        <p:blipFill>
          <a:blip r:embed="rId3"/>
          <a:stretch>
            <a:fillRect/>
          </a:stretch>
        </p:blipFill>
        <p:spPr>
          <a:xfrm>
            <a:off x="468050" y="5215838"/>
            <a:ext cx="6420430" cy="41807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6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56" name="Google Shape;256;p63"/>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Logical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logical model is the next level of refinement from the conceptual ERD. At this point, you should have normalized the data to the 3NF. Attributes should also be listed now in the ERD. You can still use human-friendly entity and attribute names in the logical model, and while relationship lines are required, Crow's foot notation is still not needed at this point.</a:t>
            </a:r>
            <a:endParaRPr sz="14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400" dirty="0">
                <a:solidFill>
                  <a:srgbClr val="525C65"/>
                </a:solidFill>
                <a:highlight>
                  <a:srgbClr val="FFFFFF"/>
                </a:highlight>
                <a:latin typeface="Open Sans"/>
                <a:ea typeface="Open Sans"/>
                <a:cs typeface="Open Sans"/>
                <a:sym typeface="Open Sans"/>
              </a:rPr>
              <a:t>Use Lucidchart’s built-in template for DBMS ER Diagram UML.</a:t>
            </a:r>
            <a:endParaRPr sz="14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Clr>
                <a:schemeClr val="dk1"/>
              </a:buClr>
              <a:buSzPts val="1100"/>
              <a:buFont typeface="Arial"/>
              <a:buNone/>
            </a:pPr>
            <a:endParaRPr sz="1200" dirty="0">
              <a:solidFill>
                <a:srgbClr val="525C65"/>
              </a:solidFill>
              <a:highlight>
                <a:schemeClr val="lt1"/>
              </a:highlight>
              <a:latin typeface="Open Sans"/>
              <a:ea typeface="Open Sans"/>
              <a:cs typeface="Open Sans"/>
              <a:sym typeface="Open Sans"/>
            </a:endParaRPr>
          </a:p>
          <a:p>
            <a:pPr marL="457200" lvl="0" indent="0" algn="l" rtl="0">
              <a:spcBef>
                <a:spcPts val="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1600"/>
              </a:spcAft>
              <a:buNone/>
            </a:pPr>
            <a:endParaRPr sz="1900" dirty="0"/>
          </a:p>
        </p:txBody>
      </p:sp>
      <p:pic>
        <p:nvPicPr>
          <p:cNvPr id="4" name="Picture 3">
            <a:extLst>
              <a:ext uri="{FF2B5EF4-FFF2-40B4-BE49-F238E27FC236}">
                <a16:creationId xmlns:a16="http://schemas.microsoft.com/office/drawing/2014/main" id="{FF893E82-6974-64B6-CECE-B96B90CDD5C1}"/>
              </a:ext>
            </a:extLst>
          </p:cNvPr>
          <p:cNvPicPr>
            <a:picLocks noChangeAspect="1"/>
          </p:cNvPicPr>
          <p:nvPr/>
        </p:nvPicPr>
        <p:blipFill>
          <a:blip r:embed="rId3"/>
          <a:stretch>
            <a:fillRect/>
          </a:stretch>
        </p:blipFill>
        <p:spPr>
          <a:xfrm>
            <a:off x="303777" y="5201920"/>
            <a:ext cx="7164845" cy="45313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6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63" name="Google Shape;263;p64"/>
          <p:cNvSpPr txBox="1">
            <a:spLocks noGrp="1"/>
          </p:cNvSpPr>
          <p:nvPr>
            <p:ph type="body" idx="1"/>
          </p:nvPr>
        </p:nvSpPr>
        <p:spPr>
          <a:xfrm>
            <a:off x="264950" y="199017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Physical</a:t>
            </a:r>
            <a:endParaRPr sz="1900" b="1" dirty="0">
              <a:latin typeface="Open Sans"/>
              <a:ea typeface="Open Sans"/>
              <a:cs typeface="Open Sans"/>
              <a:sym typeface="Open Sans"/>
            </a:endParaRPr>
          </a:p>
          <a:p>
            <a:pPr marL="45720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physical model is what will be built in the database. Each entity should represent a database table, complete with column names and data types. Primary keys and foreign keys should also be represented here. Primary keys should be in bold type with the (PK) designation following the field name. Foreign keys should be in normal type face, but have the designation (FK) after the column name. Finally, in the physical model, Crow's foot notation is important.</a:t>
            </a:r>
            <a:endParaRPr sz="1200" dirty="0">
              <a:solidFill>
                <a:srgbClr val="525C65"/>
              </a:solidFill>
              <a:highlight>
                <a:schemeClr val="lt1"/>
              </a:highlight>
              <a:latin typeface="Open Sans"/>
              <a:ea typeface="Open Sans"/>
              <a:cs typeface="Open Sans"/>
              <a:sym typeface="Open Sans"/>
            </a:endParaRPr>
          </a:p>
          <a:p>
            <a:pPr marL="457200" lvl="0" indent="0" algn="l" rtl="0">
              <a:spcBef>
                <a:spcPts val="0"/>
              </a:spcBef>
              <a:spcAft>
                <a:spcPts val="1600"/>
              </a:spcAft>
              <a:buNone/>
            </a:pPr>
            <a:endParaRPr sz="1500" dirty="0">
              <a:solidFill>
                <a:srgbClr val="525C65"/>
              </a:solidFill>
              <a:highlight>
                <a:srgbClr val="FFFFFF"/>
              </a:highlight>
              <a:latin typeface="Open Sans"/>
              <a:ea typeface="Open Sans"/>
              <a:cs typeface="Open Sans"/>
              <a:sym typeface="Open Sans"/>
            </a:endParaRPr>
          </a:p>
        </p:txBody>
      </p:sp>
      <p:pic>
        <p:nvPicPr>
          <p:cNvPr id="4" name="Picture 3">
            <a:extLst>
              <a:ext uri="{FF2B5EF4-FFF2-40B4-BE49-F238E27FC236}">
                <a16:creationId xmlns:a16="http://schemas.microsoft.com/office/drawing/2014/main" id="{A8BCE3FF-BAFA-4634-9849-31EACF71592C}"/>
              </a:ext>
            </a:extLst>
          </p:cNvPr>
          <p:cNvPicPr>
            <a:picLocks noChangeAspect="1"/>
          </p:cNvPicPr>
          <p:nvPr/>
        </p:nvPicPr>
        <p:blipFill>
          <a:blip r:embed="rId3"/>
          <a:stretch>
            <a:fillRect/>
          </a:stretch>
        </p:blipFill>
        <p:spPr>
          <a:xfrm>
            <a:off x="147217" y="5366425"/>
            <a:ext cx="7477966" cy="38217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Create A Physical Database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3: Create A Physical Database</a:t>
            </a:r>
            <a:endParaRPr/>
          </a:p>
        </p:txBody>
      </p:sp>
      <p:sp>
        <p:nvSpPr>
          <p:cNvPr id="276" name="Google Shape;276;p66"/>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In this step, you will be turning your database model into a physical database.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110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You will:</a:t>
            </a:r>
            <a:endParaRPr sz="1550" b="1"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110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Create the database using SQL DDL commands</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Load the data into your database, utilizing flat file ETL</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Answer a series of questions using CRUD SQL commands to demonstrate your database was created and populated correctly</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Submission</a:t>
            </a:r>
            <a:endParaRPr sz="15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For this step, you will need to submit SQL files containing all DDL SQL scripts used to create the database.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You will also have to submit screenshots showing CRUD commands, along with results for each of the questions found in the starter template.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Hints</a:t>
            </a:r>
            <a:endParaRPr sz="15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Your DDL script will be graded by running the code you submit. Please ensure your SQL code runs properly!</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Foreign keys cannot be created on tables that do not exist yet, so it may be easier to create all tables in the database, then to go back and run modify statements on the tables to create foreign key constraints.</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After running CRUD commands like update, insert, or delete, run a </a:t>
            </a:r>
            <a:r>
              <a:rPr lang="en" sz="1550" dirty="0">
                <a:solidFill>
                  <a:srgbClr val="525C65"/>
                </a:solidFill>
                <a:highlight>
                  <a:srgbClr val="FFFFFF"/>
                </a:highlight>
                <a:latin typeface="Source Code Pro"/>
                <a:ea typeface="Source Code Pro"/>
                <a:cs typeface="Source Code Pro"/>
                <a:sym typeface="Source Code Pro"/>
              </a:rPr>
              <a:t>SELECT*</a:t>
            </a:r>
            <a:r>
              <a:rPr lang="en" sz="1550" dirty="0">
                <a:solidFill>
                  <a:srgbClr val="525C65"/>
                </a:solidFill>
                <a:highlight>
                  <a:srgbClr val="FFFFFF"/>
                </a:highlight>
                <a:latin typeface="Open Sans"/>
                <a:ea typeface="Open Sans"/>
                <a:cs typeface="Open Sans"/>
                <a:sym typeface="Open Sans"/>
              </a:rPr>
              <a:t> command on the affected table, so the reviewer can see the results of the command.</a:t>
            </a:r>
            <a:endParaRPr sz="1050" dirty="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dirty="0">
              <a:solidFill>
                <a:srgbClr val="525C65"/>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title"/>
          </p:nvPr>
        </p:nvSpPr>
        <p:spPr>
          <a:xfrm>
            <a:off x="264950" y="336159"/>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a:t>
            </a:r>
            <a:endParaRPr dirty="0"/>
          </a:p>
        </p:txBody>
      </p:sp>
      <p:sp>
        <p:nvSpPr>
          <p:cNvPr id="282" name="Google Shape;282;p67"/>
          <p:cNvSpPr txBox="1">
            <a:spLocks noGrp="1"/>
          </p:cNvSpPr>
          <p:nvPr>
            <p:ph type="body" idx="1"/>
          </p:nvPr>
        </p:nvSpPr>
        <p:spPr>
          <a:xfrm>
            <a:off x="264950" y="1456059"/>
            <a:ext cx="7242600" cy="85295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Create a DDL SQL script capable of building the database you designed in Step 2</a:t>
            </a:r>
            <a:endParaRPr sz="1900" dirty="0"/>
          </a:p>
          <a:p>
            <a:pPr marL="457200" lvl="0" indent="0" algn="l" rtl="0">
              <a:spcBef>
                <a:spcPts val="0"/>
              </a:spcBef>
              <a:spcAft>
                <a:spcPts val="0"/>
              </a:spcAft>
              <a:buNone/>
            </a:pPr>
            <a:endParaRPr sz="1900" dirty="0"/>
          </a:p>
          <a:p>
            <a:pPr lvl="0" indent="0">
              <a:spcBef>
                <a:spcPts val="1600"/>
              </a:spcBef>
              <a:buNone/>
            </a:pPr>
            <a:r>
              <a:rPr lang="en-US" sz="1900" b="1" u="sng" dirty="0"/>
              <a:t>DDL Script :</a:t>
            </a:r>
            <a:r>
              <a:rPr lang="en-US" sz="1900" b="1" dirty="0"/>
              <a:t>   </a:t>
            </a:r>
            <a:r>
              <a:rPr lang="en-US" sz="1900" dirty="0">
                <a:hlinkClick r:id="rId3"/>
              </a:rPr>
              <a:t>https://github.com/its-developer-hub/HR-Database-in-PostgreSQL/blob/main/SQL_Scripts/DDL_Scripts.sql</a:t>
            </a:r>
            <a:endParaRPr sz="1900" dirty="0"/>
          </a:p>
          <a:p>
            <a:pPr marL="457200" lvl="0" indent="0" algn="l" rtl="0">
              <a:spcBef>
                <a:spcPts val="1600"/>
              </a:spcBef>
              <a:spcAft>
                <a:spcPts val="1600"/>
              </a:spcAft>
              <a:buNone/>
            </a:pPr>
            <a:r>
              <a:rPr lang="en-US" sz="1600" u="sng" dirty="0"/>
              <a:t>Create User &amp; DB:</a:t>
            </a:r>
          </a:p>
          <a:p>
            <a:pPr marL="457200" lvl="0" indent="0" algn="l" rtl="0">
              <a:spcBef>
                <a:spcPts val="1600"/>
              </a:spcBef>
              <a:spcAft>
                <a:spcPts val="1600"/>
              </a:spcAft>
              <a:buNone/>
            </a:pPr>
            <a:endParaRPr lang="en-US" sz="1900" dirty="0"/>
          </a:p>
          <a:p>
            <a:pPr marL="457200" lvl="0" indent="0" algn="l" rtl="0">
              <a:spcBef>
                <a:spcPts val="1600"/>
              </a:spcBef>
              <a:spcAft>
                <a:spcPts val="1600"/>
              </a:spcAft>
              <a:buNone/>
            </a:pPr>
            <a:endParaRPr lang="en-US" sz="1900" dirty="0"/>
          </a:p>
          <a:p>
            <a:pPr marL="457200" lvl="0" indent="0" algn="l" rtl="0">
              <a:spcBef>
                <a:spcPts val="1600"/>
              </a:spcBef>
              <a:spcAft>
                <a:spcPts val="1600"/>
              </a:spcAft>
              <a:buNone/>
            </a:pPr>
            <a:endParaRPr lang="en-US" sz="1900" dirty="0"/>
          </a:p>
          <a:p>
            <a:pPr marL="457200" lvl="0" indent="0" algn="l" rtl="0">
              <a:spcBef>
                <a:spcPts val="1600"/>
              </a:spcBef>
              <a:spcAft>
                <a:spcPts val="1600"/>
              </a:spcAft>
              <a:buNone/>
            </a:pPr>
            <a:endParaRPr lang="en-US" sz="1600" u="sng" dirty="0"/>
          </a:p>
          <a:p>
            <a:pPr marL="457200" lvl="0" indent="0" algn="l" rtl="0">
              <a:spcBef>
                <a:spcPts val="1600"/>
              </a:spcBef>
              <a:spcAft>
                <a:spcPts val="1600"/>
              </a:spcAft>
              <a:buNone/>
            </a:pPr>
            <a:r>
              <a:rPr lang="en-US" sz="1600" u="sng" dirty="0"/>
              <a:t>Connect to HR_DB and create schema:</a:t>
            </a:r>
          </a:p>
          <a:p>
            <a:pPr marL="457200" lvl="0" indent="0" algn="l" rtl="0">
              <a:spcBef>
                <a:spcPts val="1600"/>
              </a:spcBef>
              <a:spcAft>
                <a:spcPts val="1600"/>
              </a:spcAft>
              <a:buNone/>
            </a:pPr>
            <a:endParaRPr lang="en-US" sz="1900" dirty="0"/>
          </a:p>
          <a:p>
            <a:pPr marL="457200" lvl="0" indent="0" algn="l" rtl="0">
              <a:spcBef>
                <a:spcPts val="1600"/>
              </a:spcBef>
              <a:spcAft>
                <a:spcPts val="1600"/>
              </a:spcAft>
              <a:buNone/>
            </a:pPr>
            <a:endParaRPr lang="en-US"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2B798563-0974-5C6A-260F-0AB1FE635456}"/>
              </a:ext>
            </a:extLst>
          </p:cNvPr>
          <p:cNvPicPr>
            <a:picLocks noChangeAspect="1"/>
          </p:cNvPicPr>
          <p:nvPr/>
        </p:nvPicPr>
        <p:blipFill>
          <a:blip r:embed="rId4"/>
          <a:stretch>
            <a:fillRect/>
          </a:stretch>
        </p:blipFill>
        <p:spPr>
          <a:xfrm>
            <a:off x="878680" y="4420296"/>
            <a:ext cx="5662613" cy="2414730"/>
          </a:xfrm>
          <a:prstGeom prst="rect">
            <a:avLst/>
          </a:prstGeom>
        </p:spPr>
      </p:pic>
      <p:pic>
        <p:nvPicPr>
          <p:cNvPr id="5" name="Picture 4">
            <a:extLst>
              <a:ext uri="{FF2B5EF4-FFF2-40B4-BE49-F238E27FC236}">
                <a16:creationId xmlns:a16="http://schemas.microsoft.com/office/drawing/2014/main" id="{56E8DE59-7C1B-84F5-87A6-95DBCA8EDE63}"/>
              </a:ext>
            </a:extLst>
          </p:cNvPr>
          <p:cNvPicPr>
            <a:picLocks noChangeAspect="1"/>
          </p:cNvPicPr>
          <p:nvPr/>
        </p:nvPicPr>
        <p:blipFill>
          <a:blip r:embed="rId5"/>
          <a:stretch>
            <a:fillRect/>
          </a:stretch>
        </p:blipFill>
        <p:spPr>
          <a:xfrm>
            <a:off x="878680" y="7954925"/>
            <a:ext cx="5244472" cy="17673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571ED1-758E-D9B6-5090-B7A37CC792B0}"/>
              </a:ext>
            </a:extLst>
          </p:cNvPr>
          <p:cNvSpPr>
            <a:spLocks noGrp="1"/>
          </p:cNvSpPr>
          <p:nvPr>
            <p:ph type="body" idx="1"/>
          </p:nvPr>
        </p:nvSpPr>
        <p:spPr>
          <a:xfrm>
            <a:off x="264945" y="1436688"/>
            <a:ext cx="7242600" cy="8329220"/>
          </a:xfrm>
        </p:spPr>
        <p:txBody>
          <a:bodyPr/>
          <a:lstStyle/>
          <a:p>
            <a:r>
              <a:rPr lang="en-US" sz="1600" u="sng" dirty="0"/>
              <a:t>Create Tables:</a:t>
            </a:r>
          </a:p>
          <a:p>
            <a:endParaRPr lang="en-US" sz="1600" u="sng" dirty="0"/>
          </a:p>
          <a:p>
            <a:r>
              <a:rPr lang="en-US" sz="1600" dirty="0"/>
              <a:t>Job:</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Salary:</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Department:</a:t>
            </a:r>
          </a:p>
          <a:p>
            <a:endParaRPr lang="en-US" sz="1600" dirty="0"/>
          </a:p>
          <a:p>
            <a:pPr marL="38100" indent="0">
              <a:buNone/>
            </a:pPr>
            <a:endParaRPr lang="en-US" sz="1600" dirty="0"/>
          </a:p>
          <a:p>
            <a:endParaRPr lang="en-US" sz="1600" dirty="0"/>
          </a:p>
          <a:p>
            <a:endParaRPr lang="en-US" sz="1600" dirty="0"/>
          </a:p>
          <a:p>
            <a:endParaRPr lang="en-US" sz="1600" dirty="0"/>
          </a:p>
          <a:p>
            <a:endParaRPr lang="en-US" sz="1600" dirty="0"/>
          </a:p>
          <a:p>
            <a:r>
              <a:rPr lang="en-US" sz="1600" dirty="0"/>
              <a:t>Education:</a:t>
            </a:r>
          </a:p>
          <a:p>
            <a:endParaRPr lang="en-US" sz="1600" dirty="0"/>
          </a:p>
          <a:p>
            <a:endParaRPr lang="en-US" sz="1600" dirty="0"/>
          </a:p>
          <a:p>
            <a:endParaRPr lang="en-US" sz="1600" dirty="0"/>
          </a:p>
          <a:p>
            <a:endParaRPr lang="en-US" sz="1600" dirty="0"/>
          </a:p>
          <a:p>
            <a:endParaRPr lang="en-US" sz="1600" dirty="0"/>
          </a:p>
        </p:txBody>
      </p:sp>
      <p:sp>
        <p:nvSpPr>
          <p:cNvPr id="4" name="Google Shape;281;p67">
            <a:extLst>
              <a:ext uri="{FF2B5EF4-FFF2-40B4-BE49-F238E27FC236}">
                <a16:creationId xmlns:a16="http://schemas.microsoft.com/office/drawing/2014/main" id="{FDF7EDF9-6887-BAA8-CCC1-B1F9EF9BF424}"/>
              </a:ext>
            </a:extLst>
          </p:cNvPr>
          <p:cNvSpPr txBox="1">
            <a:spLocks noGrp="1"/>
          </p:cNvSpPr>
          <p:nvPr>
            <p:ph type="title"/>
          </p:nvPr>
        </p:nvSpPr>
        <p:spPr>
          <a:xfrm>
            <a:off x="265112" y="315913"/>
            <a:ext cx="7242175" cy="1120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 </a:t>
            </a:r>
            <a:r>
              <a:rPr lang="en" baseline="-25000" dirty="0"/>
              <a:t>(contd…)</a:t>
            </a:r>
            <a:endParaRPr baseline="-25000" dirty="0"/>
          </a:p>
        </p:txBody>
      </p:sp>
      <p:pic>
        <p:nvPicPr>
          <p:cNvPr id="10" name="Picture 9">
            <a:extLst>
              <a:ext uri="{FF2B5EF4-FFF2-40B4-BE49-F238E27FC236}">
                <a16:creationId xmlns:a16="http://schemas.microsoft.com/office/drawing/2014/main" id="{46B4061F-8A3E-0DE0-BE7E-CCDF45DF2E12}"/>
              </a:ext>
            </a:extLst>
          </p:cNvPr>
          <p:cNvPicPr>
            <a:picLocks noChangeAspect="1"/>
          </p:cNvPicPr>
          <p:nvPr/>
        </p:nvPicPr>
        <p:blipFill>
          <a:blip r:embed="rId2"/>
          <a:stretch>
            <a:fillRect/>
          </a:stretch>
        </p:blipFill>
        <p:spPr>
          <a:xfrm>
            <a:off x="552450" y="2595563"/>
            <a:ext cx="4476750" cy="1380679"/>
          </a:xfrm>
          <a:prstGeom prst="rect">
            <a:avLst/>
          </a:prstGeom>
        </p:spPr>
      </p:pic>
      <p:pic>
        <p:nvPicPr>
          <p:cNvPr id="12" name="Picture 11">
            <a:extLst>
              <a:ext uri="{FF2B5EF4-FFF2-40B4-BE49-F238E27FC236}">
                <a16:creationId xmlns:a16="http://schemas.microsoft.com/office/drawing/2014/main" id="{E3B8C247-0549-3F52-F99D-F3ABA47EB043}"/>
              </a:ext>
            </a:extLst>
          </p:cNvPr>
          <p:cNvPicPr>
            <a:picLocks noChangeAspect="1"/>
          </p:cNvPicPr>
          <p:nvPr/>
        </p:nvPicPr>
        <p:blipFill>
          <a:blip r:embed="rId3"/>
          <a:stretch>
            <a:fillRect/>
          </a:stretch>
        </p:blipFill>
        <p:spPr>
          <a:xfrm>
            <a:off x="685800" y="4580731"/>
            <a:ext cx="4343400" cy="1238250"/>
          </a:xfrm>
          <a:prstGeom prst="rect">
            <a:avLst/>
          </a:prstGeom>
        </p:spPr>
      </p:pic>
      <p:pic>
        <p:nvPicPr>
          <p:cNvPr id="14" name="Picture 13">
            <a:extLst>
              <a:ext uri="{FF2B5EF4-FFF2-40B4-BE49-F238E27FC236}">
                <a16:creationId xmlns:a16="http://schemas.microsoft.com/office/drawing/2014/main" id="{4A0DE462-A33C-C034-3A05-C5FE62429230}"/>
              </a:ext>
            </a:extLst>
          </p:cNvPr>
          <p:cNvPicPr>
            <a:picLocks noChangeAspect="1"/>
          </p:cNvPicPr>
          <p:nvPr/>
        </p:nvPicPr>
        <p:blipFill>
          <a:blip r:embed="rId4"/>
          <a:stretch>
            <a:fillRect/>
          </a:stretch>
        </p:blipFill>
        <p:spPr>
          <a:xfrm>
            <a:off x="685800" y="6587441"/>
            <a:ext cx="4686300" cy="1215693"/>
          </a:xfrm>
          <a:prstGeom prst="rect">
            <a:avLst/>
          </a:prstGeom>
        </p:spPr>
      </p:pic>
      <p:pic>
        <p:nvPicPr>
          <p:cNvPr id="16" name="Picture 15">
            <a:extLst>
              <a:ext uri="{FF2B5EF4-FFF2-40B4-BE49-F238E27FC236}">
                <a16:creationId xmlns:a16="http://schemas.microsoft.com/office/drawing/2014/main" id="{3241AA1F-3A25-2559-C730-303E797208B5}"/>
              </a:ext>
            </a:extLst>
          </p:cNvPr>
          <p:cNvPicPr>
            <a:picLocks noChangeAspect="1"/>
          </p:cNvPicPr>
          <p:nvPr/>
        </p:nvPicPr>
        <p:blipFill>
          <a:blip r:embed="rId5"/>
          <a:stretch>
            <a:fillRect/>
          </a:stretch>
        </p:blipFill>
        <p:spPr>
          <a:xfrm>
            <a:off x="685800" y="8495393"/>
            <a:ext cx="4076700" cy="1175265"/>
          </a:xfrm>
          <a:prstGeom prst="rect">
            <a:avLst/>
          </a:prstGeom>
        </p:spPr>
      </p:pic>
    </p:spTree>
    <p:extLst>
      <p:ext uri="{BB962C8B-B14F-4D97-AF65-F5344CB8AC3E}">
        <p14:creationId xmlns:p14="http://schemas.microsoft.com/office/powerpoint/2010/main" val="4026946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DBB50-8365-C70C-337A-68275846389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E24FCA-ABD8-6E17-358C-D171F0D452BA}"/>
              </a:ext>
            </a:extLst>
          </p:cNvPr>
          <p:cNvSpPr>
            <a:spLocks noGrp="1"/>
          </p:cNvSpPr>
          <p:nvPr>
            <p:ph type="body" idx="1"/>
          </p:nvPr>
        </p:nvSpPr>
        <p:spPr>
          <a:xfrm>
            <a:off x="264945" y="1608138"/>
            <a:ext cx="7242600" cy="7402511"/>
          </a:xfrm>
        </p:spPr>
        <p:txBody>
          <a:bodyPr/>
          <a:lstStyle/>
          <a:p>
            <a:r>
              <a:rPr lang="en-US" sz="1600" dirty="0"/>
              <a:t>Address:</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Location:</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Employee:</a:t>
            </a:r>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Employment:</a:t>
            </a:r>
          </a:p>
          <a:p>
            <a:endParaRPr lang="en-US" sz="1600" dirty="0"/>
          </a:p>
          <a:p>
            <a:endParaRPr lang="en-US" sz="1600" u="sng" dirty="0"/>
          </a:p>
          <a:p>
            <a:endParaRPr lang="en-US" sz="1600" u="sng" dirty="0"/>
          </a:p>
          <a:p>
            <a:endParaRPr lang="en-US" sz="1600" u="sng" dirty="0"/>
          </a:p>
        </p:txBody>
      </p:sp>
      <p:sp>
        <p:nvSpPr>
          <p:cNvPr id="4" name="Google Shape;281;p67">
            <a:extLst>
              <a:ext uri="{FF2B5EF4-FFF2-40B4-BE49-F238E27FC236}">
                <a16:creationId xmlns:a16="http://schemas.microsoft.com/office/drawing/2014/main" id="{77AF3ACA-D80E-444D-85C5-05C85F820625}"/>
              </a:ext>
            </a:extLst>
          </p:cNvPr>
          <p:cNvSpPr txBox="1">
            <a:spLocks noGrp="1"/>
          </p:cNvSpPr>
          <p:nvPr>
            <p:ph type="title"/>
          </p:nvPr>
        </p:nvSpPr>
        <p:spPr>
          <a:xfrm>
            <a:off x="265112" y="487363"/>
            <a:ext cx="7242175" cy="1120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 </a:t>
            </a:r>
            <a:r>
              <a:rPr lang="en" baseline="-25000" dirty="0"/>
              <a:t>(contd…)</a:t>
            </a:r>
            <a:endParaRPr baseline="-25000" dirty="0"/>
          </a:p>
        </p:txBody>
      </p:sp>
      <p:pic>
        <p:nvPicPr>
          <p:cNvPr id="5" name="Picture 4">
            <a:extLst>
              <a:ext uri="{FF2B5EF4-FFF2-40B4-BE49-F238E27FC236}">
                <a16:creationId xmlns:a16="http://schemas.microsoft.com/office/drawing/2014/main" id="{5CC151B5-DDE1-A40E-88BE-151E8E357AE7}"/>
              </a:ext>
            </a:extLst>
          </p:cNvPr>
          <p:cNvPicPr>
            <a:picLocks noChangeAspect="1"/>
          </p:cNvPicPr>
          <p:nvPr/>
        </p:nvPicPr>
        <p:blipFill>
          <a:blip r:embed="rId2"/>
          <a:stretch>
            <a:fillRect/>
          </a:stretch>
        </p:blipFill>
        <p:spPr>
          <a:xfrm>
            <a:off x="838199" y="2055478"/>
            <a:ext cx="3676651" cy="1322305"/>
          </a:xfrm>
          <a:prstGeom prst="rect">
            <a:avLst/>
          </a:prstGeom>
        </p:spPr>
      </p:pic>
      <p:pic>
        <p:nvPicPr>
          <p:cNvPr id="7" name="Picture 6">
            <a:extLst>
              <a:ext uri="{FF2B5EF4-FFF2-40B4-BE49-F238E27FC236}">
                <a16:creationId xmlns:a16="http://schemas.microsoft.com/office/drawing/2014/main" id="{FEBAEA9E-F45D-A7E0-D1E6-7B11A1F58707}"/>
              </a:ext>
            </a:extLst>
          </p:cNvPr>
          <p:cNvPicPr>
            <a:picLocks noChangeAspect="1"/>
          </p:cNvPicPr>
          <p:nvPr/>
        </p:nvPicPr>
        <p:blipFill>
          <a:blip r:embed="rId3"/>
          <a:stretch>
            <a:fillRect/>
          </a:stretch>
        </p:blipFill>
        <p:spPr>
          <a:xfrm>
            <a:off x="838198" y="4057650"/>
            <a:ext cx="5320699" cy="1322304"/>
          </a:xfrm>
          <a:prstGeom prst="rect">
            <a:avLst/>
          </a:prstGeom>
        </p:spPr>
      </p:pic>
      <p:pic>
        <p:nvPicPr>
          <p:cNvPr id="9" name="Picture 8">
            <a:extLst>
              <a:ext uri="{FF2B5EF4-FFF2-40B4-BE49-F238E27FC236}">
                <a16:creationId xmlns:a16="http://schemas.microsoft.com/office/drawing/2014/main" id="{7DF3ABB5-071A-77E0-7E1E-3AA5E4AD1089}"/>
              </a:ext>
            </a:extLst>
          </p:cNvPr>
          <p:cNvPicPr>
            <a:picLocks noChangeAspect="1"/>
          </p:cNvPicPr>
          <p:nvPr/>
        </p:nvPicPr>
        <p:blipFill>
          <a:blip r:embed="rId4"/>
          <a:stretch>
            <a:fillRect/>
          </a:stretch>
        </p:blipFill>
        <p:spPr>
          <a:xfrm>
            <a:off x="838198" y="5989220"/>
            <a:ext cx="5124452" cy="1508866"/>
          </a:xfrm>
          <a:prstGeom prst="rect">
            <a:avLst/>
          </a:prstGeom>
        </p:spPr>
      </p:pic>
      <p:pic>
        <p:nvPicPr>
          <p:cNvPr id="13" name="Picture 12">
            <a:extLst>
              <a:ext uri="{FF2B5EF4-FFF2-40B4-BE49-F238E27FC236}">
                <a16:creationId xmlns:a16="http://schemas.microsoft.com/office/drawing/2014/main" id="{2718B816-5B2B-76CF-BB31-0C85DB96AABA}"/>
              </a:ext>
            </a:extLst>
          </p:cNvPr>
          <p:cNvPicPr>
            <a:picLocks noChangeAspect="1"/>
          </p:cNvPicPr>
          <p:nvPr/>
        </p:nvPicPr>
        <p:blipFill>
          <a:blip r:embed="rId5"/>
          <a:stretch>
            <a:fillRect/>
          </a:stretch>
        </p:blipFill>
        <p:spPr>
          <a:xfrm>
            <a:off x="838197" y="8014116"/>
            <a:ext cx="5320699" cy="1818810"/>
          </a:xfrm>
          <a:prstGeom prst="rect">
            <a:avLst/>
          </a:prstGeom>
        </p:spPr>
      </p:pic>
    </p:spTree>
    <p:extLst>
      <p:ext uri="{BB962C8B-B14F-4D97-AF65-F5344CB8AC3E}">
        <p14:creationId xmlns:p14="http://schemas.microsoft.com/office/powerpoint/2010/main" val="3227020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276E-BFBE-4D46-98E2-5651029F325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7D2DC2D-5FFC-9A54-FED8-B28E90A23936}"/>
              </a:ext>
            </a:extLst>
          </p:cNvPr>
          <p:cNvSpPr>
            <a:spLocks noGrp="1"/>
          </p:cNvSpPr>
          <p:nvPr>
            <p:ph type="body" idx="1"/>
          </p:nvPr>
        </p:nvSpPr>
        <p:spPr>
          <a:xfrm>
            <a:off x="264945" y="1608138"/>
            <a:ext cx="7242600" cy="7402511"/>
          </a:xfrm>
        </p:spPr>
        <p:txBody>
          <a:bodyPr/>
          <a:lstStyle/>
          <a:p>
            <a:pPr marL="38100" indent="0">
              <a:buNone/>
            </a:pPr>
            <a:r>
              <a:rPr lang="en-US" sz="2000" dirty="0"/>
              <a:t>Follow the below steps to load data from HR-Dataset file to Staging table.</a:t>
            </a:r>
          </a:p>
          <a:p>
            <a:endParaRPr lang="en-US" sz="1600" dirty="0"/>
          </a:p>
          <a:p>
            <a:endParaRPr lang="en-US" sz="1600" b="1" dirty="0"/>
          </a:p>
          <a:p>
            <a:r>
              <a:rPr lang="en-US" sz="1600" b="1" dirty="0"/>
              <a:t>Step 1</a:t>
            </a:r>
            <a:r>
              <a:rPr lang="en-US" sz="1600" dirty="0"/>
              <a:t>: Convert the HR-Dataset.xlsx Excel to CSV format for loading data into PostgreSQL database.  Since this is a comma </a:t>
            </a:r>
            <a:r>
              <a:rPr lang="en-US" sz="1600" dirty="0" err="1"/>
              <a:t>separted</a:t>
            </a:r>
            <a:r>
              <a:rPr lang="en-US" sz="1600" dirty="0"/>
              <a:t> file, remove any comma within a field value. Below is the csv format converted file which has been used to load the raw data into HR_DB.</a:t>
            </a:r>
          </a:p>
          <a:p>
            <a:pPr marL="495300" lvl="1" indent="0">
              <a:buNone/>
            </a:pPr>
            <a:r>
              <a:rPr lang="en-US" sz="1600" b="1" dirty="0"/>
              <a:t>HR-Dataset.csv file: </a:t>
            </a:r>
            <a:r>
              <a:rPr lang="en-US" sz="1600" dirty="0">
                <a:hlinkClick r:id="rId2"/>
              </a:rPr>
              <a:t>https://github.com/its-developer-hub/HR-Database-in-PostgreSQL/blob/main/Raw_Data/hr-dataset.csv</a:t>
            </a:r>
            <a:endParaRPr lang="en-US" sz="1600" dirty="0"/>
          </a:p>
          <a:p>
            <a:pPr lvl="0" indent="0">
              <a:lnSpc>
                <a:spcPct val="100000"/>
              </a:lnSpc>
              <a:spcBef>
                <a:spcPts val="1600"/>
              </a:spcBef>
              <a:buClr>
                <a:schemeClr val="dk1"/>
              </a:buClr>
              <a:buSzPts val="1100"/>
              <a:buNone/>
            </a:pPr>
            <a:r>
              <a:rPr lang="en-US" sz="1600" b="1" dirty="0"/>
              <a:t>Step 2</a:t>
            </a:r>
            <a:r>
              <a:rPr lang="en-US" sz="1600" dirty="0"/>
              <a:t>: Create a Staging table to hold the raw data from HR-Dataset.csv file.</a:t>
            </a:r>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marL="38100" indent="0">
              <a:buNone/>
            </a:pPr>
            <a:endParaRPr lang="en-US" sz="1600" u="sng" dirty="0"/>
          </a:p>
        </p:txBody>
      </p:sp>
      <p:sp>
        <p:nvSpPr>
          <p:cNvPr id="4" name="Google Shape;281;p67">
            <a:extLst>
              <a:ext uri="{FF2B5EF4-FFF2-40B4-BE49-F238E27FC236}">
                <a16:creationId xmlns:a16="http://schemas.microsoft.com/office/drawing/2014/main" id="{257047FD-B974-C938-F9EA-34A0D146EF06}"/>
              </a:ext>
            </a:extLst>
          </p:cNvPr>
          <p:cNvSpPr txBox="1">
            <a:spLocks noGrp="1"/>
          </p:cNvSpPr>
          <p:nvPr>
            <p:ph type="title"/>
          </p:nvPr>
        </p:nvSpPr>
        <p:spPr>
          <a:xfrm>
            <a:off x="265112" y="487363"/>
            <a:ext cx="7242175" cy="1120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DDL for Stg table to store raw HR-Dataset.csv file</a:t>
            </a:r>
            <a:endParaRPr sz="3200" baseline="-25000" dirty="0"/>
          </a:p>
        </p:txBody>
      </p:sp>
      <p:pic>
        <p:nvPicPr>
          <p:cNvPr id="6" name="Picture 5">
            <a:extLst>
              <a:ext uri="{FF2B5EF4-FFF2-40B4-BE49-F238E27FC236}">
                <a16:creationId xmlns:a16="http://schemas.microsoft.com/office/drawing/2014/main" id="{4447F47B-8B4C-D7FA-1CDA-58B48298D733}"/>
              </a:ext>
            </a:extLst>
          </p:cNvPr>
          <p:cNvPicPr>
            <a:picLocks noChangeAspect="1"/>
          </p:cNvPicPr>
          <p:nvPr/>
        </p:nvPicPr>
        <p:blipFill>
          <a:blip r:embed="rId3"/>
          <a:stretch>
            <a:fillRect/>
          </a:stretch>
        </p:blipFill>
        <p:spPr>
          <a:xfrm>
            <a:off x="823912" y="5795166"/>
            <a:ext cx="6683375" cy="3642521"/>
          </a:xfrm>
          <a:prstGeom prst="rect">
            <a:avLst/>
          </a:prstGeom>
        </p:spPr>
      </p:pic>
    </p:spTree>
    <p:extLst>
      <p:ext uri="{BB962C8B-B14F-4D97-AF65-F5344CB8AC3E}">
        <p14:creationId xmlns:p14="http://schemas.microsoft.com/office/powerpoint/2010/main" val="934720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301EB-7791-61B6-B0B4-4970A001C72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7C9E828-1CD8-2332-E397-7BD4EFABBCB7}"/>
              </a:ext>
            </a:extLst>
          </p:cNvPr>
          <p:cNvSpPr>
            <a:spLocks noGrp="1"/>
          </p:cNvSpPr>
          <p:nvPr>
            <p:ph type="body" idx="1"/>
          </p:nvPr>
        </p:nvSpPr>
        <p:spPr>
          <a:xfrm>
            <a:off x="264945" y="1466850"/>
            <a:ext cx="7242600" cy="7543799"/>
          </a:xfrm>
        </p:spPr>
        <p:txBody>
          <a:bodyPr/>
          <a:lstStyle/>
          <a:p>
            <a:pPr lvl="0" indent="0">
              <a:lnSpc>
                <a:spcPct val="100000"/>
              </a:lnSpc>
              <a:spcBef>
                <a:spcPts val="1600"/>
              </a:spcBef>
              <a:buClr>
                <a:schemeClr val="dk1"/>
              </a:buClr>
              <a:buSzPts val="1100"/>
              <a:buNone/>
            </a:pPr>
            <a:r>
              <a:rPr lang="en-US" sz="1600" b="1" dirty="0"/>
              <a:t>Step 3</a:t>
            </a:r>
            <a:r>
              <a:rPr lang="en-US" sz="1600" dirty="0"/>
              <a:t>: Use the \copy command to copy the </a:t>
            </a:r>
            <a:r>
              <a:rPr lang="en-US" sz="1600" dirty="0" err="1"/>
              <a:t>HR_Dataset</a:t>
            </a:r>
            <a:r>
              <a:rPr lang="en-US" sz="1600" dirty="0"/>
              <a:t> file data into Raw table in stage schema.</a:t>
            </a:r>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b="1" dirty="0"/>
          </a:p>
          <a:p>
            <a:pPr lvl="0" indent="0">
              <a:lnSpc>
                <a:spcPct val="100000"/>
              </a:lnSpc>
              <a:spcBef>
                <a:spcPts val="1600"/>
              </a:spcBef>
              <a:buClr>
                <a:schemeClr val="dk1"/>
              </a:buClr>
              <a:buSzPts val="1100"/>
              <a:buNone/>
            </a:pPr>
            <a:r>
              <a:rPr lang="en-US" sz="1600" b="1" dirty="0"/>
              <a:t>Step 4:</a:t>
            </a:r>
            <a:r>
              <a:rPr lang="en-US" sz="1600" dirty="0"/>
              <a:t> Insert data from staging table to Target tables listed in ER diagram.</a:t>
            </a:r>
          </a:p>
          <a:p>
            <a:endParaRPr lang="en-US" sz="1600" dirty="0"/>
          </a:p>
          <a:p>
            <a:endParaRPr lang="en-US" sz="1600" dirty="0"/>
          </a:p>
          <a:p>
            <a:endParaRPr lang="en-US" sz="1600" dirty="0"/>
          </a:p>
          <a:p>
            <a:endParaRPr lang="en-US" sz="1600" u="sng" dirty="0"/>
          </a:p>
          <a:p>
            <a:endParaRPr lang="en-US" sz="1600" u="sng"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lvl="0" indent="0">
              <a:lnSpc>
                <a:spcPct val="100000"/>
              </a:lnSpc>
              <a:spcBef>
                <a:spcPts val="1600"/>
              </a:spcBef>
              <a:buClr>
                <a:schemeClr val="dk1"/>
              </a:buClr>
              <a:buSzPts val="1100"/>
              <a:buNone/>
            </a:pPr>
            <a:endParaRPr lang="en-US" sz="1600" dirty="0"/>
          </a:p>
          <a:p>
            <a:pPr marL="38100" indent="0">
              <a:buNone/>
            </a:pPr>
            <a:endParaRPr lang="en-US" sz="1600" u="sng" dirty="0"/>
          </a:p>
        </p:txBody>
      </p:sp>
      <p:sp>
        <p:nvSpPr>
          <p:cNvPr id="4" name="Google Shape;281;p67">
            <a:extLst>
              <a:ext uri="{FF2B5EF4-FFF2-40B4-BE49-F238E27FC236}">
                <a16:creationId xmlns:a16="http://schemas.microsoft.com/office/drawing/2014/main" id="{BD1A09D3-D824-C06E-EAAD-D93C08BFE397}"/>
              </a:ext>
            </a:extLst>
          </p:cNvPr>
          <p:cNvSpPr txBox="1">
            <a:spLocks noGrp="1"/>
          </p:cNvSpPr>
          <p:nvPr>
            <p:ph type="title"/>
          </p:nvPr>
        </p:nvSpPr>
        <p:spPr>
          <a:xfrm>
            <a:off x="265112" y="487363"/>
            <a:ext cx="7242175" cy="1120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DML</a:t>
            </a:r>
            <a:endParaRPr sz="3200" baseline="-25000" dirty="0"/>
          </a:p>
        </p:txBody>
      </p:sp>
      <p:pic>
        <p:nvPicPr>
          <p:cNvPr id="5" name="Picture 4">
            <a:extLst>
              <a:ext uri="{FF2B5EF4-FFF2-40B4-BE49-F238E27FC236}">
                <a16:creationId xmlns:a16="http://schemas.microsoft.com/office/drawing/2014/main" id="{C7231219-E637-06EB-F86F-79A013127776}"/>
              </a:ext>
            </a:extLst>
          </p:cNvPr>
          <p:cNvPicPr>
            <a:picLocks noChangeAspect="1"/>
          </p:cNvPicPr>
          <p:nvPr/>
        </p:nvPicPr>
        <p:blipFill>
          <a:blip r:embed="rId2"/>
          <a:stretch>
            <a:fillRect/>
          </a:stretch>
        </p:blipFill>
        <p:spPr>
          <a:xfrm>
            <a:off x="804360" y="2717006"/>
            <a:ext cx="6468478" cy="571500"/>
          </a:xfrm>
          <a:prstGeom prst="rect">
            <a:avLst/>
          </a:prstGeom>
        </p:spPr>
      </p:pic>
      <p:pic>
        <p:nvPicPr>
          <p:cNvPr id="10" name="Picture 9">
            <a:extLst>
              <a:ext uri="{FF2B5EF4-FFF2-40B4-BE49-F238E27FC236}">
                <a16:creationId xmlns:a16="http://schemas.microsoft.com/office/drawing/2014/main" id="{C70E6C3E-4ACB-E597-1470-DE9B3406F910}"/>
              </a:ext>
            </a:extLst>
          </p:cNvPr>
          <p:cNvPicPr>
            <a:picLocks noChangeAspect="1"/>
          </p:cNvPicPr>
          <p:nvPr/>
        </p:nvPicPr>
        <p:blipFill>
          <a:blip r:embed="rId3"/>
          <a:stretch>
            <a:fillRect/>
          </a:stretch>
        </p:blipFill>
        <p:spPr>
          <a:xfrm>
            <a:off x="804360" y="4670714"/>
            <a:ext cx="5634540" cy="4951105"/>
          </a:xfrm>
          <a:prstGeom prst="rect">
            <a:avLst/>
          </a:prstGeom>
        </p:spPr>
      </p:pic>
    </p:spTree>
    <p:extLst>
      <p:ext uri="{BB962C8B-B14F-4D97-AF65-F5344CB8AC3E}">
        <p14:creationId xmlns:p14="http://schemas.microsoft.com/office/powerpoint/2010/main" val="3490677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748E-C570-865A-245B-381D6EFAFFF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FBD1B3D-62E6-8CB7-63D5-997B457818D3}"/>
              </a:ext>
            </a:extLst>
          </p:cNvPr>
          <p:cNvSpPr>
            <a:spLocks noGrp="1"/>
          </p:cNvSpPr>
          <p:nvPr>
            <p:ph type="body" idx="1"/>
          </p:nvPr>
        </p:nvSpPr>
        <p:spPr>
          <a:xfrm>
            <a:off x="264945" y="1608138"/>
            <a:ext cx="7242600" cy="7402511"/>
          </a:xfrm>
        </p:spPr>
        <p:txBody>
          <a:bodyPr/>
          <a:lstStyle/>
          <a:p>
            <a:r>
              <a:rPr lang="en-US" sz="1600" b="1" u="sng" dirty="0"/>
              <a:t>Step 4:</a:t>
            </a:r>
            <a:r>
              <a:rPr lang="en-US" sz="1600" u="sng" dirty="0"/>
              <a:t> (Contd..)</a:t>
            </a:r>
          </a:p>
          <a:p>
            <a:endParaRPr lang="en-US" sz="1600" u="sng" dirty="0"/>
          </a:p>
          <a:p>
            <a:endParaRPr lang="en-US" sz="1600" u="sng" dirty="0"/>
          </a:p>
        </p:txBody>
      </p:sp>
      <p:sp>
        <p:nvSpPr>
          <p:cNvPr id="4" name="Google Shape;281;p67">
            <a:extLst>
              <a:ext uri="{FF2B5EF4-FFF2-40B4-BE49-F238E27FC236}">
                <a16:creationId xmlns:a16="http://schemas.microsoft.com/office/drawing/2014/main" id="{B0D0937C-93F0-E259-2BAF-FB53592059FF}"/>
              </a:ext>
            </a:extLst>
          </p:cNvPr>
          <p:cNvSpPr txBox="1">
            <a:spLocks noGrp="1"/>
          </p:cNvSpPr>
          <p:nvPr>
            <p:ph type="title"/>
          </p:nvPr>
        </p:nvSpPr>
        <p:spPr>
          <a:xfrm>
            <a:off x="265112" y="487363"/>
            <a:ext cx="7242175" cy="1120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DML</a:t>
            </a:r>
            <a:endParaRPr baseline="-25000" dirty="0"/>
          </a:p>
        </p:txBody>
      </p:sp>
      <p:pic>
        <p:nvPicPr>
          <p:cNvPr id="6" name="Picture 5">
            <a:extLst>
              <a:ext uri="{FF2B5EF4-FFF2-40B4-BE49-F238E27FC236}">
                <a16:creationId xmlns:a16="http://schemas.microsoft.com/office/drawing/2014/main" id="{46190078-00EB-89FC-0582-DA329909C2E2}"/>
              </a:ext>
            </a:extLst>
          </p:cNvPr>
          <p:cNvPicPr>
            <a:picLocks noChangeAspect="1"/>
          </p:cNvPicPr>
          <p:nvPr/>
        </p:nvPicPr>
        <p:blipFill>
          <a:blip r:embed="rId2"/>
          <a:stretch>
            <a:fillRect/>
          </a:stretch>
        </p:blipFill>
        <p:spPr>
          <a:xfrm>
            <a:off x="781050" y="2108993"/>
            <a:ext cx="5029200" cy="3237186"/>
          </a:xfrm>
          <a:prstGeom prst="rect">
            <a:avLst/>
          </a:prstGeom>
        </p:spPr>
      </p:pic>
      <p:pic>
        <p:nvPicPr>
          <p:cNvPr id="10" name="Picture 9">
            <a:extLst>
              <a:ext uri="{FF2B5EF4-FFF2-40B4-BE49-F238E27FC236}">
                <a16:creationId xmlns:a16="http://schemas.microsoft.com/office/drawing/2014/main" id="{45A5D576-4269-FF6E-5C5B-2CFF3908FB42}"/>
              </a:ext>
            </a:extLst>
          </p:cNvPr>
          <p:cNvPicPr>
            <a:picLocks noChangeAspect="1"/>
          </p:cNvPicPr>
          <p:nvPr/>
        </p:nvPicPr>
        <p:blipFill>
          <a:blip r:embed="rId3"/>
          <a:stretch>
            <a:fillRect/>
          </a:stretch>
        </p:blipFill>
        <p:spPr>
          <a:xfrm>
            <a:off x="781050" y="5346180"/>
            <a:ext cx="5575138" cy="4612854"/>
          </a:xfrm>
          <a:prstGeom prst="rect">
            <a:avLst/>
          </a:prstGeom>
        </p:spPr>
      </p:pic>
    </p:spTree>
    <p:extLst>
      <p:ext uri="{BB962C8B-B14F-4D97-AF65-F5344CB8AC3E}">
        <p14:creationId xmlns:p14="http://schemas.microsoft.com/office/powerpoint/2010/main" val="993931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6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CRUD</a:t>
            </a:r>
            <a:endParaRPr dirty="0"/>
          </a:p>
        </p:txBody>
      </p:sp>
      <p:sp>
        <p:nvSpPr>
          <p:cNvPr id="289" name="Google Shape;289;p68"/>
          <p:cNvSpPr txBox="1">
            <a:spLocks noGrp="1"/>
          </p:cNvSpPr>
          <p:nvPr>
            <p:ph type="body" idx="1"/>
          </p:nvPr>
        </p:nvSpPr>
        <p:spPr>
          <a:xfrm>
            <a:off x="264950" y="2156849"/>
            <a:ext cx="7242600" cy="7731900"/>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1: Return a list of employees with Job Titles and Department Names</a:t>
            </a:r>
            <a:endParaRPr sz="1900" b="1" dirty="0">
              <a:latin typeface="Open Sans"/>
              <a:ea typeface="Open Sans"/>
              <a:cs typeface="Open Sans"/>
              <a:sym typeface="Open Sans"/>
            </a:endParaRPr>
          </a:p>
          <a:p>
            <a:pPr marL="0" lvl="0" indent="0" algn="l" rtl="0">
              <a:spcBef>
                <a:spcPts val="1600"/>
              </a:spcBef>
              <a:spcAft>
                <a:spcPts val="0"/>
              </a:spcAft>
              <a:buNone/>
            </a:pPr>
            <a:r>
              <a:rPr lang="en-US" sz="1900" b="1" dirty="0">
                <a:latin typeface="Open Sans"/>
                <a:ea typeface="Open Sans"/>
                <a:cs typeface="Open Sans"/>
                <a:sym typeface="Open Sans"/>
              </a:rPr>
              <a:t>Query:</a:t>
            </a: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A80D628F-DDE6-A81D-9339-E28DED4C34ED}"/>
              </a:ext>
            </a:extLst>
          </p:cNvPr>
          <p:cNvPicPr>
            <a:picLocks noChangeAspect="1"/>
          </p:cNvPicPr>
          <p:nvPr/>
        </p:nvPicPr>
        <p:blipFill>
          <a:blip r:embed="rId3"/>
          <a:stretch>
            <a:fillRect/>
          </a:stretch>
        </p:blipFill>
        <p:spPr>
          <a:xfrm>
            <a:off x="433387" y="5763188"/>
            <a:ext cx="6905625" cy="3895725"/>
          </a:xfrm>
          <a:prstGeom prst="rect">
            <a:avLst/>
          </a:prstGeom>
        </p:spPr>
      </p:pic>
      <p:graphicFrame>
        <p:nvGraphicFramePr>
          <p:cNvPr id="4" name="Table 3">
            <a:extLst>
              <a:ext uri="{FF2B5EF4-FFF2-40B4-BE49-F238E27FC236}">
                <a16:creationId xmlns:a16="http://schemas.microsoft.com/office/drawing/2014/main" id="{E59093FA-3EB8-D8DA-62CB-DA65A6A8E06E}"/>
              </a:ext>
            </a:extLst>
          </p:cNvPr>
          <p:cNvGraphicFramePr>
            <a:graphicFrameLocks noGrp="1"/>
          </p:cNvGraphicFramePr>
          <p:nvPr>
            <p:extLst>
              <p:ext uri="{D42A27DB-BD31-4B8C-83A1-F6EECF244321}">
                <p14:modId xmlns:p14="http://schemas.microsoft.com/office/powerpoint/2010/main" val="2802891315"/>
              </p:ext>
            </p:extLst>
          </p:nvPr>
        </p:nvGraphicFramePr>
        <p:xfrm>
          <a:off x="493450" y="3960600"/>
          <a:ext cx="5948363" cy="1371600"/>
        </p:xfrm>
        <a:graphic>
          <a:graphicData uri="http://schemas.openxmlformats.org/drawingml/2006/table">
            <a:tbl>
              <a:tblPr firstRow="1" bandRow="1">
                <a:tableStyleId>{2D5ABB26-0587-4C30-8999-92F81FD0307C}</a:tableStyleId>
              </a:tblPr>
              <a:tblGrid>
                <a:gridCol w="5948363">
                  <a:extLst>
                    <a:ext uri="{9D8B030D-6E8A-4147-A177-3AD203B41FA5}">
                      <a16:colId xmlns:a16="http://schemas.microsoft.com/office/drawing/2014/main" val="1382943385"/>
                    </a:ext>
                  </a:extLst>
                </a:gridCol>
              </a:tblGrid>
              <a:tr h="1253962">
                <a:tc>
                  <a:txBody>
                    <a:bodyPr/>
                    <a:lstStyle/>
                    <a:p>
                      <a:r>
                        <a:rPr lang="en-US" dirty="0"/>
                        <a:t>select distinct </a:t>
                      </a:r>
                      <a:r>
                        <a:rPr lang="en-US" dirty="0" err="1"/>
                        <a:t>e.emp_nm</a:t>
                      </a:r>
                      <a:r>
                        <a:rPr lang="en-US" dirty="0"/>
                        <a:t>, </a:t>
                      </a:r>
                      <a:r>
                        <a:rPr lang="en-US" dirty="0" err="1"/>
                        <a:t>j.job_title</a:t>
                      </a:r>
                      <a:r>
                        <a:rPr lang="en-US" dirty="0"/>
                        <a:t>, </a:t>
                      </a:r>
                      <a:r>
                        <a:rPr lang="en-US" dirty="0" err="1"/>
                        <a:t>d.dept_nm</a:t>
                      </a:r>
                      <a:endParaRPr lang="en-US" dirty="0"/>
                    </a:p>
                    <a:p>
                      <a:r>
                        <a:rPr lang="en-US" dirty="0"/>
                        <a:t>FROM </a:t>
                      </a:r>
                      <a:r>
                        <a:rPr lang="en-US" dirty="0" err="1"/>
                        <a:t>hr_schema.employment</a:t>
                      </a:r>
                      <a:r>
                        <a:rPr lang="en-US" dirty="0"/>
                        <a:t> </a:t>
                      </a:r>
                      <a:r>
                        <a:rPr lang="en-US" dirty="0" err="1"/>
                        <a:t>em</a:t>
                      </a:r>
                      <a:endParaRPr lang="en-US" dirty="0"/>
                    </a:p>
                    <a:p>
                      <a:r>
                        <a:rPr lang="en-US" dirty="0"/>
                        <a:t>JOIN </a:t>
                      </a:r>
                      <a:r>
                        <a:rPr lang="en-US" dirty="0" err="1"/>
                        <a:t>hr_schema.employee</a:t>
                      </a:r>
                      <a:r>
                        <a:rPr lang="en-US" dirty="0"/>
                        <a:t> e ON </a:t>
                      </a:r>
                      <a:r>
                        <a:rPr lang="en-US" dirty="0" err="1"/>
                        <a:t>em.emp_id</a:t>
                      </a:r>
                      <a:r>
                        <a:rPr lang="en-US" dirty="0"/>
                        <a:t> = </a:t>
                      </a:r>
                      <a:r>
                        <a:rPr lang="en-US" dirty="0" err="1"/>
                        <a:t>e.emp_id</a:t>
                      </a:r>
                      <a:endParaRPr lang="en-US" dirty="0"/>
                    </a:p>
                    <a:p>
                      <a:r>
                        <a:rPr lang="en-US" dirty="0"/>
                        <a:t>JOIN </a:t>
                      </a:r>
                      <a:r>
                        <a:rPr lang="en-US" dirty="0" err="1"/>
                        <a:t>hr_schema.job</a:t>
                      </a:r>
                      <a:r>
                        <a:rPr lang="en-US" dirty="0"/>
                        <a:t> j ON </a:t>
                      </a:r>
                      <a:r>
                        <a:rPr lang="en-US" dirty="0" err="1"/>
                        <a:t>em.job_id</a:t>
                      </a:r>
                      <a:r>
                        <a:rPr lang="en-US" dirty="0"/>
                        <a:t> = </a:t>
                      </a:r>
                      <a:r>
                        <a:rPr lang="en-US" dirty="0" err="1"/>
                        <a:t>j.job_id</a:t>
                      </a:r>
                      <a:endParaRPr lang="en-US" dirty="0"/>
                    </a:p>
                    <a:p>
                      <a:r>
                        <a:rPr lang="en-US" dirty="0"/>
                        <a:t>JOIN </a:t>
                      </a:r>
                      <a:r>
                        <a:rPr lang="en-US" dirty="0" err="1"/>
                        <a:t>hr_schema.department</a:t>
                      </a:r>
                      <a:r>
                        <a:rPr lang="en-US" dirty="0"/>
                        <a:t> d ON </a:t>
                      </a:r>
                      <a:r>
                        <a:rPr lang="en-US" dirty="0" err="1"/>
                        <a:t>em.dept_id</a:t>
                      </a:r>
                      <a:r>
                        <a:rPr lang="en-US" dirty="0"/>
                        <a:t> = </a:t>
                      </a:r>
                      <a:r>
                        <a:rPr lang="en-US" dirty="0" err="1"/>
                        <a:t>d.dept_id</a:t>
                      </a:r>
                      <a:endParaRPr lang="en-US" dirty="0"/>
                    </a:p>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696157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6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296" name="Google Shape;296;p69"/>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2: Insert Web Programmer as a new job title</a:t>
            </a:r>
            <a:endParaRPr sz="1900" b="1" dirty="0">
              <a:latin typeface="Open Sans"/>
              <a:ea typeface="Open Sans"/>
              <a:cs typeface="Open Sans"/>
              <a:sym typeface="Open Sans"/>
            </a:endParaRPr>
          </a:p>
          <a:p>
            <a:pPr marL="0" lvl="0" indent="0" algn="l" rtl="0">
              <a:spcBef>
                <a:spcPts val="1600"/>
              </a:spcBef>
              <a:spcAft>
                <a:spcPts val="0"/>
              </a:spcAft>
              <a:buNone/>
            </a:pPr>
            <a:endParaRPr lang="en-US" sz="1900" b="1" dirty="0">
              <a:latin typeface="Open Sans"/>
              <a:ea typeface="Open Sans"/>
              <a:cs typeface="Open Sans"/>
              <a:sym typeface="Open Sans"/>
            </a:endParaRPr>
          </a:p>
          <a:p>
            <a:pPr marL="0" lvl="0" indent="0" algn="l" rtl="0">
              <a:spcBef>
                <a:spcPts val="1600"/>
              </a:spcBef>
              <a:spcAft>
                <a:spcPts val="0"/>
              </a:spcAft>
              <a:buNone/>
            </a:pPr>
            <a:r>
              <a:rPr lang="en-US" sz="1900" b="1" dirty="0">
                <a:latin typeface="Open Sans"/>
                <a:ea typeface="Open Sans"/>
                <a:cs typeface="Open Sans"/>
                <a:sym typeface="Open Sans"/>
              </a:rPr>
              <a:t>Query:</a:t>
            </a:r>
            <a:endParaRPr sz="1900" b="1" dirty="0">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lang="en-US" sz="1400" b="1" dirty="0">
              <a:latin typeface="Open Sans"/>
              <a:ea typeface="Open Sans"/>
              <a:cs typeface="Open Sans"/>
              <a:sym typeface="Open Sans"/>
            </a:endParaRPr>
          </a:p>
          <a:p>
            <a:pPr marL="457200" lvl="1" indent="0">
              <a:buNone/>
            </a:pPr>
            <a:r>
              <a:rPr lang="en-US" sz="1400" b="1" dirty="0">
                <a:latin typeface="Open Sans"/>
                <a:ea typeface="Open Sans"/>
                <a:cs typeface="Open Sans"/>
                <a:sym typeface="Open Sans"/>
              </a:rPr>
              <a:t>Run the below select statement to confirm</a:t>
            </a: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2C76BC7D-F0FA-50BC-422D-25D6B00F34BF}"/>
              </a:ext>
            </a:extLst>
          </p:cNvPr>
          <p:cNvGraphicFramePr>
            <a:graphicFrameLocks noGrp="1"/>
          </p:cNvGraphicFramePr>
          <p:nvPr>
            <p:extLst>
              <p:ext uri="{D42A27DB-BD31-4B8C-83A1-F6EECF244321}">
                <p14:modId xmlns:p14="http://schemas.microsoft.com/office/powerpoint/2010/main" val="3222662252"/>
              </p:ext>
            </p:extLst>
          </p:nvPr>
        </p:nvGraphicFramePr>
        <p:xfrm>
          <a:off x="760888" y="4553289"/>
          <a:ext cx="5667100" cy="951822"/>
        </p:xfrm>
        <a:graphic>
          <a:graphicData uri="http://schemas.openxmlformats.org/drawingml/2006/table">
            <a:tbl>
              <a:tblPr firstRow="1" bandRow="1">
                <a:tableStyleId>{2D5ABB26-0587-4C30-8999-92F81FD0307C}</a:tableStyleId>
              </a:tblPr>
              <a:tblGrid>
                <a:gridCol w="5667100">
                  <a:extLst>
                    <a:ext uri="{9D8B030D-6E8A-4147-A177-3AD203B41FA5}">
                      <a16:colId xmlns:a16="http://schemas.microsoft.com/office/drawing/2014/main" val="1074239622"/>
                    </a:ext>
                  </a:extLst>
                </a:gridCol>
              </a:tblGrid>
              <a:tr h="951822">
                <a:tc>
                  <a:txBody>
                    <a:bodyPr/>
                    <a:lstStyle/>
                    <a:p>
                      <a:r>
                        <a:rPr lang="en-US" dirty="0"/>
                        <a:t>INSERT INTO HR_SCHEMA.JOB (</a:t>
                      </a:r>
                      <a:r>
                        <a:rPr lang="en-US" dirty="0" err="1"/>
                        <a:t>job_title</a:t>
                      </a:r>
                      <a:r>
                        <a:rPr lang="en-US" dirty="0"/>
                        <a:t>)</a:t>
                      </a:r>
                    </a:p>
                    <a:p>
                      <a:r>
                        <a:rPr lang="en-US" dirty="0"/>
                        <a:t>values('Web Programmer')</a:t>
                      </a:r>
                    </a:p>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6143770"/>
                  </a:ext>
                </a:extLst>
              </a:tr>
            </a:tbl>
          </a:graphicData>
        </a:graphic>
      </p:graphicFrame>
      <p:pic>
        <p:nvPicPr>
          <p:cNvPr id="4" name="Picture 3">
            <a:extLst>
              <a:ext uri="{FF2B5EF4-FFF2-40B4-BE49-F238E27FC236}">
                <a16:creationId xmlns:a16="http://schemas.microsoft.com/office/drawing/2014/main" id="{DB9719AB-7C71-79A1-721F-C98633745E74}"/>
              </a:ext>
            </a:extLst>
          </p:cNvPr>
          <p:cNvPicPr>
            <a:picLocks noChangeAspect="1"/>
          </p:cNvPicPr>
          <p:nvPr/>
        </p:nvPicPr>
        <p:blipFill>
          <a:blip r:embed="rId3"/>
          <a:stretch>
            <a:fillRect/>
          </a:stretch>
        </p:blipFill>
        <p:spPr>
          <a:xfrm>
            <a:off x="913288" y="6039498"/>
            <a:ext cx="6594162" cy="1382813"/>
          </a:xfrm>
          <a:prstGeom prst="rect">
            <a:avLst/>
          </a:prstGeom>
        </p:spPr>
      </p:pic>
      <p:pic>
        <p:nvPicPr>
          <p:cNvPr id="6" name="Picture 5">
            <a:extLst>
              <a:ext uri="{FF2B5EF4-FFF2-40B4-BE49-F238E27FC236}">
                <a16:creationId xmlns:a16="http://schemas.microsoft.com/office/drawing/2014/main" id="{4E6E2A0C-27FD-7D84-CD76-751699EED597}"/>
              </a:ext>
            </a:extLst>
          </p:cNvPr>
          <p:cNvPicPr>
            <a:picLocks noChangeAspect="1"/>
          </p:cNvPicPr>
          <p:nvPr/>
        </p:nvPicPr>
        <p:blipFill>
          <a:blip r:embed="rId4"/>
          <a:stretch>
            <a:fillRect/>
          </a:stretch>
        </p:blipFill>
        <p:spPr>
          <a:xfrm>
            <a:off x="875188" y="8216939"/>
            <a:ext cx="4344512" cy="118956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7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03" name="Google Shape;303;p70"/>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3: Correct the job title from web programmer to web developer</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chemeClr val="lt1"/>
                </a:highlight>
                <a:latin typeface="Open Sans"/>
                <a:ea typeface="Open Sans"/>
                <a:cs typeface="Open Sans"/>
                <a:sym typeface="Open Sans"/>
              </a:rPr>
              <a:t>     </a:t>
            </a:r>
            <a:endParaRPr sz="1200" dirty="0">
              <a:solidFill>
                <a:srgbClr val="525C65"/>
              </a:solidFill>
              <a:highlight>
                <a:schemeClr val="lt1"/>
              </a:highlight>
              <a:latin typeface="Open Sans"/>
              <a:ea typeface="Open Sans"/>
              <a:cs typeface="Open Sans"/>
              <a:sym typeface="Open Sans"/>
            </a:endParaRPr>
          </a:p>
          <a:p>
            <a:pPr marL="0" lvl="0" indent="0" algn="l" rtl="0">
              <a:spcBef>
                <a:spcPts val="0"/>
              </a:spcBef>
              <a:spcAft>
                <a:spcPts val="0"/>
              </a:spcAft>
              <a:buNone/>
            </a:pPr>
            <a:r>
              <a:rPr lang="en-US" sz="1900" b="1" dirty="0">
                <a:latin typeface="Open Sans"/>
                <a:ea typeface="Open Sans"/>
                <a:cs typeface="Open Sans"/>
                <a:sym typeface="Open Sans"/>
              </a:rPr>
              <a:t>Query:</a:t>
            </a:r>
          </a:p>
          <a:p>
            <a:pPr marL="0" lvl="0" indent="0" algn="l" rtl="0">
              <a:spcBef>
                <a:spcPts val="0"/>
              </a:spcBef>
              <a:spcAft>
                <a:spcPts val="0"/>
              </a:spcAft>
              <a:buNone/>
            </a:pPr>
            <a:endParaRPr lang="en-US"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1" indent="0">
              <a:buNone/>
            </a:pPr>
            <a:endParaRPr lang="en-US" sz="1400" b="1" dirty="0">
              <a:latin typeface="Open Sans"/>
              <a:ea typeface="Open Sans"/>
              <a:cs typeface="Open Sans"/>
              <a:sym typeface="Open Sans"/>
            </a:endParaRPr>
          </a:p>
          <a:p>
            <a:pPr marL="457200" lvl="1" indent="0">
              <a:buNone/>
            </a:pPr>
            <a:r>
              <a:rPr lang="en-US" sz="1400" b="1" dirty="0">
                <a:latin typeface="Open Sans"/>
                <a:ea typeface="Open Sans"/>
                <a:cs typeface="Open Sans"/>
                <a:sym typeface="Open Sans"/>
              </a:rPr>
              <a:t>Run the below select statement to confirm</a:t>
            </a: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D5FACB07-8C07-6C8C-B77C-377530B97A50}"/>
              </a:ext>
            </a:extLst>
          </p:cNvPr>
          <p:cNvGraphicFramePr>
            <a:graphicFrameLocks noGrp="1"/>
          </p:cNvGraphicFramePr>
          <p:nvPr>
            <p:extLst>
              <p:ext uri="{D42A27DB-BD31-4B8C-83A1-F6EECF244321}">
                <p14:modId xmlns:p14="http://schemas.microsoft.com/office/powerpoint/2010/main" val="3795789607"/>
              </p:ext>
            </p:extLst>
          </p:nvPr>
        </p:nvGraphicFramePr>
        <p:xfrm>
          <a:off x="827682" y="4817623"/>
          <a:ext cx="5534400" cy="984250"/>
        </p:xfrm>
        <a:graphic>
          <a:graphicData uri="http://schemas.openxmlformats.org/drawingml/2006/table">
            <a:tbl>
              <a:tblPr firstRow="1" bandRow="1">
                <a:tableStyleId>{2D5ABB26-0587-4C30-8999-92F81FD0307C}</a:tableStyleId>
              </a:tblPr>
              <a:tblGrid>
                <a:gridCol w="5534400">
                  <a:extLst>
                    <a:ext uri="{9D8B030D-6E8A-4147-A177-3AD203B41FA5}">
                      <a16:colId xmlns:a16="http://schemas.microsoft.com/office/drawing/2014/main" val="4133416723"/>
                    </a:ext>
                  </a:extLst>
                </a:gridCol>
              </a:tblGrid>
              <a:tr h="984250">
                <a:tc>
                  <a:txBody>
                    <a:bodyPr/>
                    <a:lstStyle/>
                    <a:p>
                      <a:r>
                        <a:rPr lang="en-US" dirty="0"/>
                        <a:t>UPDATE HR_SCHEMA.JOB</a:t>
                      </a:r>
                    </a:p>
                    <a:p>
                      <a:r>
                        <a:rPr lang="en-US" dirty="0"/>
                        <a:t>SET JOB_TITLE = 'Web Developer'</a:t>
                      </a:r>
                    </a:p>
                    <a:p>
                      <a:r>
                        <a:rPr lang="en-US" dirty="0"/>
                        <a:t>WHERE JOB_TITLE = 'Web Programmer'</a:t>
                      </a:r>
                    </a:p>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739047"/>
                  </a:ext>
                </a:extLst>
              </a:tr>
            </a:tbl>
          </a:graphicData>
        </a:graphic>
      </p:graphicFrame>
      <p:pic>
        <p:nvPicPr>
          <p:cNvPr id="4" name="Picture 3">
            <a:extLst>
              <a:ext uri="{FF2B5EF4-FFF2-40B4-BE49-F238E27FC236}">
                <a16:creationId xmlns:a16="http://schemas.microsoft.com/office/drawing/2014/main" id="{CBE97D05-1214-2D7D-EC51-D4BD039AA431}"/>
              </a:ext>
            </a:extLst>
          </p:cNvPr>
          <p:cNvPicPr>
            <a:picLocks noChangeAspect="1"/>
          </p:cNvPicPr>
          <p:nvPr/>
        </p:nvPicPr>
        <p:blipFill>
          <a:blip r:embed="rId3"/>
          <a:stretch>
            <a:fillRect/>
          </a:stretch>
        </p:blipFill>
        <p:spPr>
          <a:xfrm>
            <a:off x="923549" y="6148387"/>
            <a:ext cx="5438533" cy="1395413"/>
          </a:xfrm>
          <a:prstGeom prst="rect">
            <a:avLst/>
          </a:prstGeom>
        </p:spPr>
      </p:pic>
      <p:pic>
        <p:nvPicPr>
          <p:cNvPr id="6" name="Picture 5">
            <a:extLst>
              <a:ext uri="{FF2B5EF4-FFF2-40B4-BE49-F238E27FC236}">
                <a16:creationId xmlns:a16="http://schemas.microsoft.com/office/drawing/2014/main" id="{7300F8F2-2FC6-CEB2-FBC1-4BF3599E1547}"/>
              </a:ext>
            </a:extLst>
          </p:cNvPr>
          <p:cNvPicPr>
            <a:picLocks noChangeAspect="1"/>
          </p:cNvPicPr>
          <p:nvPr/>
        </p:nvPicPr>
        <p:blipFill>
          <a:blip r:embed="rId4"/>
          <a:stretch>
            <a:fillRect/>
          </a:stretch>
        </p:blipFill>
        <p:spPr>
          <a:xfrm>
            <a:off x="904498" y="8229985"/>
            <a:ext cx="4296151" cy="13001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7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10" name="Google Shape;310;p71"/>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4: Delete the job title Web Developer from the database</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chemeClr val="lt1"/>
                </a:highlight>
                <a:latin typeface="Open Sans"/>
                <a:ea typeface="Open Sans"/>
                <a:cs typeface="Open Sans"/>
                <a:sym typeface="Open Sans"/>
              </a:rPr>
              <a:t>         </a:t>
            </a:r>
            <a:endParaRPr sz="1200" dirty="0">
              <a:solidFill>
                <a:srgbClr val="525C65"/>
              </a:solidFill>
              <a:highlight>
                <a:schemeClr val="lt1"/>
              </a:highlight>
              <a:latin typeface="Open Sans"/>
              <a:ea typeface="Open Sans"/>
              <a:cs typeface="Open Sans"/>
              <a:sym typeface="Open Sans"/>
            </a:endParaRPr>
          </a:p>
          <a:p>
            <a:pPr marL="0" lvl="0" indent="0" algn="l" rtl="0">
              <a:spcBef>
                <a:spcPts val="0"/>
              </a:spcBef>
              <a:spcAft>
                <a:spcPts val="0"/>
              </a:spcAft>
              <a:buNone/>
            </a:pPr>
            <a:r>
              <a:rPr lang="en-US" sz="1900" b="1" dirty="0">
                <a:latin typeface="Open Sans"/>
                <a:ea typeface="Open Sans"/>
                <a:cs typeface="Open Sans"/>
                <a:sym typeface="Open Sans"/>
              </a:rPr>
              <a:t>Query:</a:t>
            </a:r>
          </a:p>
          <a:p>
            <a:pPr marL="0" lvl="0" indent="0" algn="l" rtl="0">
              <a:spcBef>
                <a:spcPts val="0"/>
              </a:spcBef>
              <a:spcAft>
                <a:spcPts val="0"/>
              </a:spcAft>
              <a:buNone/>
            </a:pPr>
            <a:endParaRPr lang="en-US" sz="1900" b="1" dirty="0">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457200" lvl="1" indent="0">
              <a:buNone/>
            </a:pPr>
            <a:r>
              <a:rPr lang="en-US" sz="1400" b="1" dirty="0">
                <a:latin typeface="Open Sans"/>
                <a:ea typeface="Open Sans"/>
                <a:cs typeface="Open Sans"/>
                <a:sym typeface="Open Sans"/>
              </a:rPr>
              <a:t>Run the below select statement to confirm</a:t>
            </a:r>
            <a:endParaRPr sz="13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275690F2-A705-C414-9A15-93AE50EE24EE}"/>
              </a:ext>
            </a:extLst>
          </p:cNvPr>
          <p:cNvGraphicFramePr>
            <a:graphicFrameLocks noGrp="1"/>
          </p:cNvGraphicFramePr>
          <p:nvPr>
            <p:extLst>
              <p:ext uri="{D42A27DB-BD31-4B8C-83A1-F6EECF244321}">
                <p14:modId xmlns:p14="http://schemas.microsoft.com/office/powerpoint/2010/main" val="2298460182"/>
              </p:ext>
            </p:extLst>
          </p:nvPr>
        </p:nvGraphicFramePr>
        <p:xfrm>
          <a:off x="704849" y="4500880"/>
          <a:ext cx="5676900" cy="1056640"/>
        </p:xfrm>
        <a:graphic>
          <a:graphicData uri="http://schemas.openxmlformats.org/drawingml/2006/table">
            <a:tbl>
              <a:tblPr firstRow="1" bandRow="1">
                <a:tableStyleId>{2D5ABB26-0587-4C30-8999-92F81FD0307C}</a:tableStyleId>
              </a:tblPr>
              <a:tblGrid>
                <a:gridCol w="5676900">
                  <a:extLst>
                    <a:ext uri="{9D8B030D-6E8A-4147-A177-3AD203B41FA5}">
                      <a16:colId xmlns:a16="http://schemas.microsoft.com/office/drawing/2014/main" val="695645926"/>
                    </a:ext>
                  </a:extLst>
                </a:gridCol>
              </a:tblGrid>
              <a:tr h="1056640">
                <a:tc>
                  <a:txBody>
                    <a:bodyPr/>
                    <a:lstStyle/>
                    <a:p>
                      <a:r>
                        <a:rPr lang="en-US" dirty="0"/>
                        <a:t>DELETE FROM HR_SCHEMA.JOB</a:t>
                      </a:r>
                    </a:p>
                    <a:p>
                      <a:r>
                        <a:rPr lang="en-US" dirty="0"/>
                        <a:t>WHERE JOB_TITLE = 'Web Developer'</a:t>
                      </a:r>
                    </a:p>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042407"/>
                  </a:ext>
                </a:extLst>
              </a:tr>
            </a:tbl>
          </a:graphicData>
        </a:graphic>
      </p:graphicFrame>
      <p:pic>
        <p:nvPicPr>
          <p:cNvPr id="4" name="Picture 3">
            <a:extLst>
              <a:ext uri="{FF2B5EF4-FFF2-40B4-BE49-F238E27FC236}">
                <a16:creationId xmlns:a16="http://schemas.microsoft.com/office/drawing/2014/main" id="{7C10237F-2C25-CA44-9AC7-A0B028C15993}"/>
              </a:ext>
            </a:extLst>
          </p:cNvPr>
          <p:cNvPicPr>
            <a:picLocks noChangeAspect="1"/>
          </p:cNvPicPr>
          <p:nvPr/>
        </p:nvPicPr>
        <p:blipFill>
          <a:blip r:embed="rId3"/>
          <a:stretch>
            <a:fillRect/>
          </a:stretch>
        </p:blipFill>
        <p:spPr>
          <a:xfrm>
            <a:off x="704849" y="5983998"/>
            <a:ext cx="5575457" cy="1056639"/>
          </a:xfrm>
          <a:prstGeom prst="rect">
            <a:avLst/>
          </a:prstGeom>
        </p:spPr>
      </p:pic>
      <p:pic>
        <p:nvPicPr>
          <p:cNvPr id="6" name="Picture 5">
            <a:extLst>
              <a:ext uri="{FF2B5EF4-FFF2-40B4-BE49-F238E27FC236}">
                <a16:creationId xmlns:a16="http://schemas.microsoft.com/office/drawing/2014/main" id="{3C47A022-80BC-9682-8FD7-2E14C27846B2}"/>
              </a:ext>
            </a:extLst>
          </p:cNvPr>
          <p:cNvPicPr>
            <a:picLocks noChangeAspect="1"/>
          </p:cNvPicPr>
          <p:nvPr/>
        </p:nvPicPr>
        <p:blipFill>
          <a:blip r:embed="rId4"/>
          <a:stretch>
            <a:fillRect/>
          </a:stretch>
        </p:blipFill>
        <p:spPr>
          <a:xfrm>
            <a:off x="704848" y="7645076"/>
            <a:ext cx="4743451" cy="12152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17" name="Google Shape;317;p72"/>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5: How many employees are in each department?</a:t>
            </a: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r>
              <a:rPr lang="en-US" sz="1900" b="1" dirty="0">
                <a:latin typeface="Open Sans"/>
                <a:ea typeface="Open Sans"/>
                <a:cs typeface="Open Sans"/>
                <a:sym typeface="Open Sans"/>
              </a:rPr>
              <a:t>Query:</a:t>
            </a: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761A68A4-D20F-9B3F-5253-7BA7A1AF7F3D}"/>
              </a:ext>
            </a:extLst>
          </p:cNvPr>
          <p:cNvGraphicFramePr>
            <a:graphicFrameLocks noGrp="1"/>
          </p:cNvGraphicFramePr>
          <p:nvPr>
            <p:extLst>
              <p:ext uri="{D42A27DB-BD31-4B8C-83A1-F6EECF244321}">
                <p14:modId xmlns:p14="http://schemas.microsoft.com/office/powerpoint/2010/main" val="891360956"/>
              </p:ext>
            </p:extLst>
          </p:nvPr>
        </p:nvGraphicFramePr>
        <p:xfrm>
          <a:off x="623887" y="4748922"/>
          <a:ext cx="5715000" cy="1428750"/>
        </p:xfrm>
        <a:graphic>
          <a:graphicData uri="http://schemas.openxmlformats.org/drawingml/2006/table">
            <a:tbl>
              <a:tblPr firstRow="1" bandRow="1">
                <a:tableStyleId>{2D5ABB26-0587-4C30-8999-92F81FD0307C}</a:tableStyleId>
              </a:tblPr>
              <a:tblGrid>
                <a:gridCol w="5715000">
                  <a:extLst>
                    <a:ext uri="{9D8B030D-6E8A-4147-A177-3AD203B41FA5}">
                      <a16:colId xmlns:a16="http://schemas.microsoft.com/office/drawing/2014/main" val="566979722"/>
                    </a:ext>
                  </a:extLst>
                </a:gridCol>
              </a:tblGrid>
              <a:tr h="1428750">
                <a:tc>
                  <a:txBody>
                    <a:bodyPr/>
                    <a:lstStyle/>
                    <a:p>
                      <a:r>
                        <a:rPr lang="en-US" dirty="0"/>
                        <a:t>SELECT </a:t>
                      </a:r>
                      <a:r>
                        <a:rPr lang="en-US" dirty="0" err="1"/>
                        <a:t>d.dept_nm</a:t>
                      </a:r>
                      <a:r>
                        <a:rPr lang="en-US" dirty="0"/>
                        <a:t>, count(</a:t>
                      </a:r>
                      <a:r>
                        <a:rPr lang="en-US" dirty="0" err="1"/>
                        <a:t>em.emp_id</a:t>
                      </a:r>
                      <a:r>
                        <a:rPr lang="en-US" dirty="0"/>
                        <a:t>)</a:t>
                      </a:r>
                    </a:p>
                    <a:p>
                      <a:r>
                        <a:rPr lang="en-US" dirty="0"/>
                        <a:t>FROM </a:t>
                      </a:r>
                      <a:r>
                        <a:rPr lang="en-US" dirty="0" err="1"/>
                        <a:t>hr_schema.employment</a:t>
                      </a:r>
                      <a:r>
                        <a:rPr lang="en-US" dirty="0"/>
                        <a:t> </a:t>
                      </a:r>
                      <a:r>
                        <a:rPr lang="en-US" dirty="0" err="1"/>
                        <a:t>em</a:t>
                      </a:r>
                      <a:endParaRPr lang="en-US" dirty="0"/>
                    </a:p>
                    <a:p>
                      <a:r>
                        <a:rPr lang="en-US" dirty="0"/>
                        <a:t>JOIN </a:t>
                      </a:r>
                      <a:r>
                        <a:rPr lang="en-US" dirty="0" err="1"/>
                        <a:t>hr_schema.department</a:t>
                      </a:r>
                      <a:r>
                        <a:rPr lang="en-US" dirty="0"/>
                        <a:t> d ON </a:t>
                      </a:r>
                      <a:r>
                        <a:rPr lang="en-US" dirty="0" err="1"/>
                        <a:t>em.dept_id</a:t>
                      </a:r>
                      <a:r>
                        <a:rPr lang="en-US" dirty="0"/>
                        <a:t> = </a:t>
                      </a:r>
                      <a:r>
                        <a:rPr lang="en-US" dirty="0" err="1"/>
                        <a:t>d.dept_id</a:t>
                      </a:r>
                      <a:endParaRPr lang="en-US" dirty="0"/>
                    </a:p>
                    <a:p>
                      <a:r>
                        <a:rPr lang="en-US" dirty="0"/>
                        <a:t>group by </a:t>
                      </a:r>
                      <a:r>
                        <a:rPr lang="en-US" dirty="0" err="1"/>
                        <a:t>d.dept_nm</a:t>
                      </a: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6205385"/>
                  </a:ext>
                </a:extLst>
              </a:tr>
            </a:tbl>
          </a:graphicData>
        </a:graphic>
      </p:graphicFrame>
      <p:pic>
        <p:nvPicPr>
          <p:cNvPr id="4" name="Picture 3">
            <a:extLst>
              <a:ext uri="{FF2B5EF4-FFF2-40B4-BE49-F238E27FC236}">
                <a16:creationId xmlns:a16="http://schemas.microsoft.com/office/drawing/2014/main" id="{E01669CD-FC47-9070-46D6-0BAFD5C0F3C6}"/>
              </a:ext>
            </a:extLst>
          </p:cNvPr>
          <p:cNvPicPr>
            <a:picLocks noChangeAspect="1"/>
          </p:cNvPicPr>
          <p:nvPr/>
        </p:nvPicPr>
        <p:blipFill>
          <a:blip r:embed="rId3"/>
          <a:stretch>
            <a:fillRect/>
          </a:stretch>
        </p:blipFill>
        <p:spPr>
          <a:xfrm>
            <a:off x="623887" y="6457950"/>
            <a:ext cx="5800725" cy="22479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7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24" name="Google Shape;324;p73"/>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6: Write a query that returns current and past jobs (include employee name, job title, department, manager name, start and end date for position) for employee Toni Lembeck.</a:t>
            </a:r>
            <a:endParaRPr sz="1900" b="1" dirty="0">
              <a:latin typeface="Open Sans"/>
              <a:ea typeface="Open Sans"/>
              <a:cs typeface="Open Sans"/>
              <a:sym typeface="Open Sans"/>
            </a:endParaRPr>
          </a:p>
          <a:p>
            <a:pPr marL="0" lvl="0" indent="0" algn="l" rtl="0">
              <a:spcBef>
                <a:spcPts val="0"/>
              </a:spcBef>
              <a:spcAft>
                <a:spcPts val="0"/>
              </a:spcAft>
              <a:buNone/>
            </a:pPr>
            <a:endParaRPr lang="en-US" sz="1900" b="1" dirty="0">
              <a:latin typeface="Open Sans"/>
              <a:ea typeface="Open Sans"/>
              <a:cs typeface="Open Sans"/>
              <a:sym typeface="Open Sans"/>
            </a:endParaRPr>
          </a:p>
          <a:p>
            <a:pPr marL="0" lvl="0" indent="0" algn="l" rtl="0">
              <a:spcBef>
                <a:spcPts val="0"/>
              </a:spcBef>
              <a:spcAft>
                <a:spcPts val="0"/>
              </a:spcAft>
              <a:buNone/>
            </a:pPr>
            <a:r>
              <a:rPr lang="en-US" sz="1900" b="1" dirty="0">
                <a:latin typeface="Open Sans"/>
                <a:ea typeface="Open Sans"/>
                <a:cs typeface="Open Sans"/>
                <a:sym typeface="Open Sans"/>
              </a:rPr>
              <a:t>Query:</a:t>
            </a:r>
          </a:p>
          <a:p>
            <a:pPr marL="0" lvl="0" indent="0" algn="l" rtl="0">
              <a:spcBef>
                <a:spcPts val="0"/>
              </a:spcBef>
              <a:spcAft>
                <a:spcPts val="0"/>
              </a:spcAft>
              <a:buNone/>
            </a:pPr>
            <a:endParaRPr lang="en-US" sz="1900" b="1" dirty="0">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1586819B-C540-08B7-656E-51759718B122}"/>
              </a:ext>
            </a:extLst>
          </p:cNvPr>
          <p:cNvGraphicFramePr>
            <a:graphicFrameLocks noGrp="1"/>
          </p:cNvGraphicFramePr>
          <p:nvPr>
            <p:extLst>
              <p:ext uri="{D42A27DB-BD31-4B8C-83A1-F6EECF244321}">
                <p14:modId xmlns:p14="http://schemas.microsoft.com/office/powerpoint/2010/main" val="1517624228"/>
              </p:ext>
            </p:extLst>
          </p:nvPr>
        </p:nvGraphicFramePr>
        <p:xfrm>
          <a:off x="971550" y="4876800"/>
          <a:ext cx="5829300" cy="2171700"/>
        </p:xfrm>
        <a:graphic>
          <a:graphicData uri="http://schemas.openxmlformats.org/drawingml/2006/table">
            <a:tbl>
              <a:tblPr firstRow="1" bandRow="1">
                <a:tableStyleId>{2D5ABB26-0587-4C30-8999-92F81FD0307C}</a:tableStyleId>
              </a:tblPr>
              <a:tblGrid>
                <a:gridCol w="5829300">
                  <a:extLst>
                    <a:ext uri="{9D8B030D-6E8A-4147-A177-3AD203B41FA5}">
                      <a16:colId xmlns:a16="http://schemas.microsoft.com/office/drawing/2014/main" val="106309970"/>
                    </a:ext>
                  </a:extLst>
                </a:gridCol>
              </a:tblGrid>
              <a:tr h="2171700">
                <a:tc>
                  <a:txBody>
                    <a:bodyPr/>
                    <a:lstStyle/>
                    <a:p>
                      <a:r>
                        <a:rPr lang="en-US" dirty="0"/>
                        <a:t>select distinct </a:t>
                      </a:r>
                      <a:r>
                        <a:rPr lang="en-US" dirty="0" err="1"/>
                        <a:t>e.emp_nm</a:t>
                      </a:r>
                      <a:r>
                        <a:rPr lang="en-US" dirty="0"/>
                        <a:t>, </a:t>
                      </a:r>
                      <a:r>
                        <a:rPr lang="en-US" dirty="0" err="1"/>
                        <a:t>j.job_title</a:t>
                      </a:r>
                      <a:r>
                        <a:rPr lang="en-US" dirty="0"/>
                        <a:t>, </a:t>
                      </a:r>
                      <a:r>
                        <a:rPr lang="en-US" dirty="0" err="1"/>
                        <a:t>d.dept_nm</a:t>
                      </a:r>
                      <a:r>
                        <a:rPr lang="en-US" dirty="0"/>
                        <a:t>, </a:t>
                      </a:r>
                      <a:r>
                        <a:rPr lang="en-US" dirty="0" err="1"/>
                        <a:t>mgr.emp_nm</a:t>
                      </a:r>
                      <a:r>
                        <a:rPr lang="en-US" dirty="0"/>
                        <a:t> as manager, </a:t>
                      </a:r>
                      <a:r>
                        <a:rPr lang="en-US" dirty="0" err="1"/>
                        <a:t>em.start_dt</a:t>
                      </a:r>
                      <a:r>
                        <a:rPr lang="en-US" dirty="0"/>
                        <a:t>, </a:t>
                      </a:r>
                      <a:r>
                        <a:rPr lang="en-US" dirty="0" err="1"/>
                        <a:t>em.end_dt</a:t>
                      </a:r>
                      <a:endParaRPr lang="en-US" dirty="0"/>
                    </a:p>
                    <a:p>
                      <a:r>
                        <a:rPr lang="en-US" dirty="0"/>
                        <a:t>FROM </a:t>
                      </a:r>
                      <a:r>
                        <a:rPr lang="en-US" dirty="0" err="1"/>
                        <a:t>hr_schema.employment</a:t>
                      </a:r>
                      <a:r>
                        <a:rPr lang="en-US" dirty="0"/>
                        <a:t> </a:t>
                      </a:r>
                      <a:r>
                        <a:rPr lang="en-US" dirty="0" err="1"/>
                        <a:t>em</a:t>
                      </a:r>
                      <a:endParaRPr lang="en-US" dirty="0"/>
                    </a:p>
                    <a:p>
                      <a:r>
                        <a:rPr lang="en-US" dirty="0"/>
                        <a:t>JOIN </a:t>
                      </a:r>
                      <a:r>
                        <a:rPr lang="en-US" dirty="0" err="1"/>
                        <a:t>hr_schema.employee</a:t>
                      </a:r>
                      <a:r>
                        <a:rPr lang="en-US" dirty="0"/>
                        <a:t> e ON </a:t>
                      </a:r>
                      <a:r>
                        <a:rPr lang="en-US" dirty="0" err="1"/>
                        <a:t>em.emp_id</a:t>
                      </a:r>
                      <a:r>
                        <a:rPr lang="en-US" dirty="0"/>
                        <a:t> = </a:t>
                      </a:r>
                      <a:r>
                        <a:rPr lang="en-US" dirty="0" err="1"/>
                        <a:t>e.emp_id</a:t>
                      </a:r>
                      <a:endParaRPr lang="en-US" dirty="0"/>
                    </a:p>
                    <a:p>
                      <a:r>
                        <a:rPr lang="en-US" dirty="0"/>
                        <a:t>JOIN </a:t>
                      </a:r>
                      <a:r>
                        <a:rPr lang="en-US" dirty="0" err="1"/>
                        <a:t>hr_schema.employee</a:t>
                      </a:r>
                      <a:r>
                        <a:rPr lang="en-US" dirty="0"/>
                        <a:t> </a:t>
                      </a:r>
                      <a:r>
                        <a:rPr lang="en-US" dirty="0" err="1"/>
                        <a:t>mgr</a:t>
                      </a:r>
                      <a:r>
                        <a:rPr lang="en-US" dirty="0"/>
                        <a:t> ON </a:t>
                      </a:r>
                      <a:r>
                        <a:rPr lang="en-US" dirty="0" err="1"/>
                        <a:t>em.manager_id</a:t>
                      </a:r>
                      <a:r>
                        <a:rPr lang="en-US" dirty="0"/>
                        <a:t> = </a:t>
                      </a:r>
                      <a:r>
                        <a:rPr lang="en-US" dirty="0" err="1"/>
                        <a:t>mgr.emp_id</a:t>
                      </a:r>
                      <a:endParaRPr lang="en-US" dirty="0"/>
                    </a:p>
                    <a:p>
                      <a:r>
                        <a:rPr lang="en-US" dirty="0"/>
                        <a:t>JOIN </a:t>
                      </a:r>
                      <a:r>
                        <a:rPr lang="en-US" dirty="0" err="1"/>
                        <a:t>hr_schema.job</a:t>
                      </a:r>
                      <a:r>
                        <a:rPr lang="en-US" dirty="0"/>
                        <a:t> j ON </a:t>
                      </a:r>
                      <a:r>
                        <a:rPr lang="en-US" dirty="0" err="1"/>
                        <a:t>em.job_id</a:t>
                      </a:r>
                      <a:r>
                        <a:rPr lang="en-US" dirty="0"/>
                        <a:t> = </a:t>
                      </a:r>
                      <a:r>
                        <a:rPr lang="en-US" dirty="0" err="1"/>
                        <a:t>j.job_id</a:t>
                      </a:r>
                      <a:endParaRPr lang="en-US" dirty="0"/>
                    </a:p>
                    <a:p>
                      <a:r>
                        <a:rPr lang="en-US" dirty="0"/>
                        <a:t>JOIN </a:t>
                      </a:r>
                      <a:r>
                        <a:rPr lang="en-US" dirty="0" err="1"/>
                        <a:t>hr_schema.department</a:t>
                      </a:r>
                      <a:r>
                        <a:rPr lang="en-US" dirty="0"/>
                        <a:t> d ON </a:t>
                      </a:r>
                      <a:r>
                        <a:rPr lang="en-US" dirty="0" err="1"/>
                        <a:t>em.dept_id</a:t>
                      </a:r>
                      <a:r>
                        <a:rPr lang="en-US" dirty="0"/>
                        <a:t> = </a:t>
                      </a:r>
                      <a:r>
                        <a:rPr lang="en-US" dirty="0" err="1"/>
                        <a:t>d.dept_id</a:t>
                      </a:r>
                      <a:endParaRPr lang="en-US" dirty="0"/>
                    </a:p>
                    <a:p>
                      <a:r>
                        <a:rPr lang="en-US" dirty="0"/>
                        <a:t>where </a:t>
                      </a:r>
                      <a:r>
                        <a:rPr lang="en-US" dirty="0" err="1"/>
                        <a:t>e.emp_nm</a:t>
                      </a:r>
                      <a:r>
                        <a:rPr lang="en-US" dirty="0"/>
                        <a:t> = 'Toni Lembeck';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926218"/>
                  </a:ext>
                </a:extLst>
              </a:tr>
            </a:tbl>
          </a:graphicData>
        </a:graphic>
      </p:graphicFrame>
      <p:pic>
        <p:nvPicPr>
          <p:cNvPr id="6" name="Picture 5">
            <a:extLst>
              <a:ext uri="{FF2B5EF4-FFF2-40B4-BE49-F238E27FC236}">
                <a16:creationId xmlns:a16="http://schemas.microsoft.com/office/drawing/2014/main" id="{AFCF491E-7A15-C753-1FBC-67EB9ADBA683}"/>
              </a:ext>
            </a:extLst>
          </p:cNvPr>
          <p:cNvPicPr>
            <a:picLocks noChangeAspect="1"/>
          </p:cNvPicPr>
          <p:nvPr/>
        </p:nvPicPr>
        <p:blipFill>
          <a:blip r:embed="rId3"/>
          <a:stretch>
            <a:fillRect/>
          </a:stretch>
        </p:blipFill>
        <p:spPr>
          <a:xfrm>
            <a:off x="385008" y="7415212"/>
            <a:ext cx="7122442" cy="180331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7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CRUD</a:t>
            </a:r>
            <a:endParaRPr dirty="0"/>
          </a:p>
        </p:txBody>
      </p:sp>
      <p:sp>
        <p:nvSpPr>
          <p:cNvPr id="331" name="Google Shape;331;p74"/>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Question 7: Describe how you would apply table security to restrict access to employee salaries using an SQL server.</a:t>
            </a:r>
            <a:endParaRPr sz="1900" b="1" dirty="0">
              <a:latin typeface="Open Sans"/>
              <a:ea typeface="Open Sans"/>
              <a:cs typeface="Open Sans"/>
              <a:sym typeface="Open Sans"/>
            </a:endParaRPr>
          </a:p>
          <a:p>
            <a:pPr marL="457200" lvl="0" indent="0" algn="l" rtl="0">
              <a:spcBef>
                <a:spcPts val="1600"/>
              </a:spcBef>
              <a:spcAft>
                <a:spcPts val="0"/>
              </a:spcAft>
              <a:buNone/>
            </a:pPr>
            <a:endParaRPr lang="en-US" sz="1900" b="1" dirty="0">
              <a:latin typeface="Open Sans"/>
              <a:ea typeface="Open Sans"/>
              <a:cs typeface="Open Sans"/>
              <a:sym typeface="Open Sans"/>
            </a:endParaRPr>
          </a:p>
          <a:p>
            <a:pPr marL="800100" indent="-342900">
              <a:spcBef>
                <a:spcPts val="1600"/>
              </a:spcBef>
            </a:pPr>
            <a:r>
              <a:rPr lang="en-US" sz="1900" dirty="0">
                <a:latin typeface="Open Sans"/>
                <a:ea typeface="Open Sans"/>
                <a:cs typeface="Open Sans"/>
                <a:sym typeface="Open Sans"/>
              </a:rPr>
              <a:t>Grant read access to all tables in the schema to all employees(domain level users).</a:t>
            </a:r>
          </a:p>
          <a:p>
            <a:pPr marL="800100" indent="-342900">
              <a:spcBef>
                <a:spcPts val="1600"/>
              </a:spcBef>
            </a:pPr>
            <a:r>
              <a:rPr lang="en-US" sz="1900" dirty="0">
                <a:latin typeface="Open Sans"/>
                <a:ea typeface="Open Sans"/>
                <a:cs typeface="Open Sans"/>
                <a:sym typeface="Open Sans"/>
              </a:rPr>
              <a:t>Then Revoke read access to Salary table to Employees.</a:t>
            </a:r>
          </a:p>
          <a:p>
            <a:pPr marL="457200" lvl="0" indent="0" algn="l" rtl="0">
              <a:spcBef>
                <a:spcPts val="1600"/>
              </a:spcBef>
              <a:spcAft>
                <a:spcPts val="0"/>
              </a:spcAft>
              <a:buNone/>
            </a:pPr>
            <a:endParaRPr lang="en-US" sz="1900" b="1" dirty="0">
              <a:latin typeface="Open Sans"/>
              <a:ea typeface="Open Sans"/>
              <a:cs typeface="Open Sans"/>
              <a:sym typeface="Open Sans"/>
            </a:endParaRPr>
          </a:p>
          <a:p>
            <a:pPr marL="457200" lvl="0" indent="0" algn="l" rtl="0">
              <a:spcBef>
                <a:spcPts val="1600"/>
              </a:spcBef>
              <a:spcAft>
                <a:spcPts val="0"/>
              </a:spcAft>
              <a:buNone/>
            </a:pPr>
            <a:r>
              <a:rPr lang="en-US" sz="1600" b="1" dirty="0">
                <a:latin typeface="Open Sans"/>
                <a:ea typeface="Open Sans"/>
                <a:cs typeface="Open Sans"/>
                <a:sym typeface="Open Sans"/>
              </a:rPr>
              <a:t>Sample Query:</a:t>
            </a: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graphicFrame>
        <p:nvGraphicFramePr>
          <p:cNvPr id="2" name="Table 1">
            <a:extLst>
              <a:ext uri="{FF2B5EF4-FFF2-40B4-BE49-F238E27FC236}">
                <a16:creationId xmlns:a16="http://schemas.microsoft.com/office/drawing/2014/main" id="{EB94660E-BFFC-DC45-F998-2B72709A1503}"/>
              </a:ext>
            </a:extLst>
          </p:cNvPr>
          <p:cNvGraphicFramePr>
            <a:graphicFrameLocks noGrp="1"/>
          </p:cNvGraphicFramePr>
          <p:nvPr>
            <p:extLst>
              <p:ext uri="{D42A27DB-BD31-4B8C-83A1-F6EECF244321}">
                <p14:modId xmlns:p14="http://schemas.microsoft.com/office/powerpoint/2010/main" val="4245579000"/>
              </p:ext>
            </p:extLst>
          </p:nvPr>
        </p:nvGraphicFramePr>
        <p:xfrm>
          <a:off x="704850" y="6838949"/>
          <a:ext cx="5962650" cy="2019301"/>
        </p:xfrm>
        <a:graphic>
          <a:graphicData uri="http://schemas.openxmlformats.org/drawingml/2006/table">
            <a:tbl>
              <a:tblPr firstRow="1" bandRow="1">
                <a:tableStyleId>{2D5ABB26-0587-4C30-8999-92F81FD0307C}</a:tableStyleId>
              </a:tblPr>
              <a:tblGrid>
                <a:gridCol w="5962650">
                  <a:extLst>
                    <a:ext uri="{9D8B030D-6E8A-4147-A177-3AD203B41FA5}">
                      <a16:colId xmlns:a16="http://schemas.microsoft.com/office/drawing/2014/main" val="3936251073"/>
                    </a:ext>
                  </a:extLst>
                </a:gridCol>
              </a:tblGrid>
              <a:tr h="2019301">
                <a:tc>
                  <a:txBody>
                    <a:bodyPr/>
                    <a:lstStyle/>
                    <a:p>
                      <a:pPr lvl="0" indent="0">
                        <a:spcBef>
                          <a:spcPts val="1600"/>
                        </a:spcBef>
                        <a:buNone/>
                      </a:pPr>
                      <a:r>
                        <a:rPr lang="en-US" sz="1400" dirty="0">
                          <a:latin typeface="Open Sans"/>
                          <a:ea typeface="Open Sans"/>
                          <a:cs typeface="Open Sans"/>
                          <a:sym typeface="Open Sans"/>
                        </a:rPr>
                        <a:t>GRANT USAGE ON SCHEMA </a:t>
                      </a:r>
                      <a:r>
                        <a:rPr lang="en-US" sz="1400" dirty="0" err="1">
                          <a:latin typeface="Open Sans"/>
                          <a:ea typeface="Open Sans"/>
                          <a:cs typeface="Open Sans"/>
                          <a:sym typeface="Open Sans"/>
                        </a:rPr>
                        <a:t>hr_schema</a:t>
                      </a:r>
                      <a:r>
                        <a:rPr lang="en-US" sz="1400" dirty="0">
                          <a:latin typeface="Open Sans"/>
                          <a:ea typeface="Open Sans"/>
                          <a:cs typeface="Open Sans"/>
                          <a:sym typeface="Open Sans"/>
                        </a:rPr>
                        <a:t> TO </a:t>
                      </a:r>
                      <a:r>
                        <a:rPr lang="en-US" sz="1400" dirty="0" err="1">
                          <a:latin typeface="Open Sans"/>
                          <a:ea typeface="Open Sans"/>
                          <a:cs typeface="Open Sans"/>
                          <a:sym typeface="Open Sans"/>
                        </a:rPr>
                        <a:t>DomainUser</a:t>
                      </a:r>
                      <a:r>
                        <a:rPr lang="en-US" sz="1400" dirty="0">
                          <a:latin typeface="Open Sans"/>
                          <a:ea typeface="Open Sans"/>
                          <a:cs typeface="Open Sans"/>
                          <a:sym typeface="Open Sans"/>
                        </a:rPr>
                        <a:t>;</a:t>
                      </a:r>
                    </a:p>
                    <a:p>
                      <a:pPr lvl="0" indent="0">
                        <a:spcBef>
                          <a:spcPts val="1600"/>
                        </a:spcBef>
                        <a:buNone/>
                      </a:pPr>
                      <a:r>
                        <a:rPr lang="en-US" sz="1400" dirty="0">
                          <a:latin typeface="Open Sans"/>
                          <a:ea typeface="Open Sans"/>
                          <a:cs typeface="Open Sans"/>
                          <a:sym typeface="Open Sans"/>
                        </a:rPr>
                        <a:t>GRANT SELECT ON ALL TABLES IN SCHEMA </a:t>
                      </a:r>
                      <a:r>
                        <a:rPr lang="en-US" sz="1400" dirty="0" err="1">
                          <a:latin typeface="Open Sans"/>
                          <a:ea typeface="Open Sans"/>
                          <a:cs typeface="Open Sans"/>
                          <a:sym typeface="Open Sans"/>
                        </a:rPr>
                        <a:t>hr_schema</a:t>
                      </a:r>
                      <a:r>
                        <a:rPr lang="en-US" sz="1400" dirty="0">
                          <a:latin typeface="Open Sans"/>
                          <a:ea typeface="Open Sans"/>
                          <a:cs typeface="Open Sans"/>
                          <a:sym typeface="Open Sans"/>
                        </a:rPr>
                        <a:t> TO </a:t>
                      </a:r>
                      <a:r>
                        <a:rPr lang="en-US" sz="1400" dirty="0" err="1">
                          <a:latin typeface="Open Sans"/>
                          <a:ea typeface="Open Sans"/>
                          <a:cs typeface="Open Sans"/>
                          <a:sym typeface="Open Sans"/>
                        </a:rPr>
                        <a:t>DomainUser</a:t>
                      </a:r>
                      <a:r>
                        <a:rPr lang="en-US" sz="1400" dirty="0">
                          <a:latin typeface="Open Sans"/>
                          <a:ea typeface="Open Sans"/>
                          <a:cs typeface="Open Sans"/>
                          <a:sym typeface="Open Sans"/>
                        </a:rPr>
                        <a:t>;</a:t>
                      </a:r>
                    </a:p>
                    <a:p>
                      <a:pPr lvl="0" indent="0">
                        <a:spcBef>
                          <a:spcPts val="1600"/>
                        </a:spcBef>
                        <a:buNone/>
                      </a:pPr>
                      <a:endParaRPr lang="en-US" sz="1400" dirty="0">
                        <a:latin typeface="Open Sans"/>
                        <a:ea typeface="Open Sans"/>
                        <a:cs typeface="Open Sans"/>
                        <a:sym typeface="Open Sans"/>
                      </a:endParaRPr>
                    </a:p>
                    <a:p>
                      <a:pPr lvl="0" indent="0">
                        <a:spcBef>
                          <a:spcPts val="1600"/>
                        </a:spcBef>
                        <a:buNone/>
                      </a:pPr>
                      <a:r>
                        <a:rPr lang="en-US" sz="1400" dirty="0">
                          <a:latin typeface="Open Sans"/>
                          <a:ea typeface="Open Sans"/>
                          <a:cs typeface="Open Sans"/>
                          <a:sym typeface="Open Sans"/>
                        </a:rPr>
                        <a:t>REVOKE SELECT ON </a:t>
                      </a:r>
                      <a:r>
                        <a:rPr lang="en-US" sz="1400" dirty="0" err="1">
                          <a:latin typeface="Open Sans"/>
                          <a:ea typeface="Open Sans"/>
                          <a:cs typeface="Open Sans"/>
                          <a:sym typeface="Open Sans"/>
                        </a:rPr>
                        <a:t>hr_schema.salary</a:t>
                      </a:r>
                      <a:r>
                        <a:rPr lang="en-US" sz="1400" dirty="0">
                          <a:latin typeface="Open Sans"/>
                          <a:ea typeface="Open Sans"/>
                          <a:cs typeface="Open Sans"/>
                          <a:sym typeface="Open Sans"/>
                        </a:rPr>
                        <a:t> FROM </a:t>
                      </a:r>
                      <a:r>
                        <a:rPr lang="en-US" sz="1400" dirty="0" err="1">
                          <a:latin typeface="Open Sans"/>
                          <a:ea typeface="Open Sans"/>
                          <a:cs typeface="Open Sans"/>
                          <a:sym typeface="Open Sans"/>
                        </a:rPr>
                        <a:t>DomainUser</a:t>
                      </a:r>
                      <a:r>
                        <a:rPr lang="en-US" sz="1400" dirty="0">
                          <a:latin typeface="Open Sans"/>
                          <a:ea typeface="Open Sans"/>
                          <a:cs typeface="Open Sans"/>
                          <a:sym typeface="Open San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3795446"/>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35"/>
        <p:cNvGrpSpPr/>
        <p:nvPr/>
      </p:nvGrpSpPr>
      <p:grpSpPr>
        <a:xfrm>
          <a:off x="0" y="0"/>
          <a:ext cx="0" cy="0"/>
          <a:chOff x="0" y="0"/>
          <a:chExt cx="0" cy="0"/>
        </a:xfrm>
      </p:grpSpPr>
      <p:sp>
        <p:nvSpPr>
          <p:cNvPr id="336" name="Google Shape;336;p75"/>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Above and Beyond (optional)</a:t>
            </a:r>
            <a:endParaRPr sz="3000">
              <a:solidFill>
                <a:srgbClr val="FFFFFF"/>
              </a:solidFill>
              <a:latin typeface="Open Sans"/>
              <a:ea typeface="Open Sans"/>
              <a:cs typeface="Open Sans"/>
              <a:sym typeface="Open Sans"/>
            </a:endParaRPr>
          </a:p>
        </p:txBody>
      </p:sp>
      <p:sp>
        <p:nvSpPr>
          <p:cNvPr id="337" name="Google Shape;337;p7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7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4: Above and Beyond</a:t>
            </a:r>
            <a:endParaRPr/>
          </a:p>
        </p:txBody>
      </p:sp>
      <p:sp>
        <p:nvSpPr>
          <p:cNvPr id="343" name="Google Shape;343;p76"/>
          <p:cNvSpPr txBox="1">
            <a:spLocks noGrp="1"/>
          </p:cNvSpPr>
          <p:nvPr>
            <p:ph type="body" idx="1"/>
          </p:nvPr>
        </p:nvSpPr>
        <p:spPr>
          <a:xfrm>
            <a:off x="264945" y="2025129"/>
            <a:ext cx="7242600" cy="62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200"/>
              <a:t>This last step is called Above and Beyond. In this step, I have proposed 3 challenges for you to complete, which are above and beyond the scope of the project. This is a chance to flex your coding muscles and show everyone how good you really are.</a:t>
            </a:r>
            <a:endParaRPr sz="2200"/>
          </a:p>
          <a:p>
            <a:pPr marL="0" lvl="0" indent="0" algn="l" rtl="0">
              <a:spcBef>
                <a:spcPts val="1600"/>
              </a:spcBef>
              <a:spcAft>
                <a:spcPts val="0"/>
              </a:spcAft>
              <a:buClr>
                <a:schemeClr val="dk1"/>
              </a:buClr>
              <a:buSzPts val="1100"/>
              <a:buFont typeface="Arial"/>
              <a:buNone/>
            </a:pPr>
            <a:r>
              <a:rPr lang="en" sz="2200"/>
              <a:t>These challenge steps will bring your project even more in line with a real-world project, as these are the kind of “finishing touches” that will make your database more usable. Imagine building a car without air conditioning or turn signals. Sure, it will work, but who would want to drive it.</a:t>
            </a:r>
            <a:endParaRPr sz="2200"/>
          </a:p>
          <a:p>
            <a:pPr marL="0" lvl="0" indent="0" algn="l" rtl="0">
              <a:spcBef>
                <a:spcPts val="1600"/>
              </a:spcBef>
              <a:spcAft>
                <a:spcPts val="0"/>
              </a:spcAft>
              <a:buClr>
                <a:schemeClr val="dk1"/>
              </a:buClr>
              <a:buSzPts val="1100"/>
              <a:buFont typeface="Arial"/>
              <a:buNone/>
            </a:pPr>
            <a:r>
              <a:rPr lang="en" sz="2200"/>
              <a:t>I encourage you to take on these challenges in this course and any future courses you take. I designed these challenges to be a challenge to your current abilities, but I ensured they are not an unattainable challenge. Remember, these challenges are completely optional - you can pass the project by doing none of them, or just some of them, but I encourage you to at least attempt them!</a:t>
            </a:r>
            <a:endParaRPr sz="2200"/>
          </a:p>
          <a:p>
            <a:pPr marL="0" lvl="0" indent="0" algn="l" rtl="0">
              <a:spcBef>
                <a:spcPts val="1600"/>
              </a:spcBef>
              <a:spcAft>
                <a:spcPts val="1600"/>
              </a:spcAft>
              <a:buNone/>
            </a:pP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7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Standout Suggestion 1</a:t>
            </a:r>
            <a:endParaRPr dirty="0"/>
          </a:p>
        </p:txBody>
      </p:sp>
      <p:sp>
        <p:nvSpPr>
          <p:cNvPr id="349" name="Google Shape;349;p77"/>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latin typeface="Open Sans"/>
                <a:ea typeface="Open Sans"/>
                <a:cs typeface="Open Sans"/>
                <a:sym typeface="Open Sans"/>
              </a:rPr>
              <a:t>Create a view that returns all employee attributes; results should resemble initial Excel file</a:t>
            </a:r>
          </a:p>
          <a:p>
            <a:pPr marL="0" lvl="0" indent="0" algn="l" rtl="0">
              <a:spcBef>
                <a:spcPts val="0"/>
              </a:spcBef>
              <a:spcAft>
                <a:spcPts val="0"/>
              </a:spcAft>
              <a:buNone/>
            </a:pPr>
            <a:endParaRPr lang="en" sz="2000" b="1" dirty="0">
              <a:latin typeface="Open Sans"/>
              <a:ea typeface="Open Sans"/>
              <a:cs typeface="Open Sans"/>
              <a:sym typeface="Open Sans"/>
            </a:endParaRPr>
          </a:p>
          <a:p>
            <a:pPr marL="0" lvl="0" indent="0" algn="l" rtl="0">
              <a:spcBef>
                <a:spcPts val="0"/>
              </a:spcBef>
              <a:spcAft>
                <a:spcPts val="0"/>
              </a:spcAft>
              <a:buNone/>
            </a:pPr>
            <a:r>
              <a:rPr lang="en-US" sz="1900" dirty="0"/>
              <a:t>The SQL script for this code is present in the below git file.</a:t>
            </a:r>
          </a:p>
          <a:p>
            <a:pPr marL="0" lvl="0" indent="0" algn="l" rtl="0">
              <a:spcBef>
                <a:spcPts val="0"/>
              </a:spcBef>
              <a:spcAft>
                <a:spcPts val="0"/>
              </a:spcAft>
              <a:buNone/>
            </a:pPr>
            <a:endParaRPr lang="en-US" sz="1900" dirty="0"/>
          </a:p>
          <a:p>
            <a:pPr marL="0" lvl="0" indent="0">
              <a:buNone/>
            </a:pPr>
            <a:r>
              <a:rPr lang="en-US" sz="1600" dirty="0">
                <a:hlinkClick r:id="rId3"/>
              </a:rPr>
              <a:t>https://github.com/its-developer-hub/HR-Database-in-PostgreSQL/blob/main/SQL_Scripts/Standout_suggestion1_scripts.sql</a:t>
            </a:r>
            <a:endParaRPr lang="en-US" sz="1600" dirty="0"/>
          </a:p>
          <a:p>
            <a:pPr marL="457200" lvl="0" indent="0" algn="l" rtl="0">
              <a:spcBef>
                <a:spcPts val="1600"/>
              </a:spcBef>
              <a:spcAft>
                <a:spcPts val="0"/>
              </a:spcAft>
              <a:buNone/>
            </a:pPr>
            <a:endParaRPr lang="en-US" sz="1900" dirty="0"/>
          </a:p>
          <a:p>
            <a:pPr marL="457200" lvl="0" indent="0" algn="l" rtl="0">
              <a:spcBef>
                <a:spcPts val="1600"/>
              </a:spcBef>
              <a:spcAft>
                <a:spcPts val="0"/>
              </a:spcAft>
              <a:buNone/>
            </a:pPr>
            <a:endParaRPr lang="en-US" sz="1900" dirty="0"/>
          </a:p>
          <a:p>
            <a:pPr marL="457200" lvl="0" indent="0" algn="l" rtl="0">
              <a:spcBef>
                <a:spcPts val="1600"/>
              </a:spcBef>
              <a:spcAft>
                <a:spcPts val="0"/>
              </a:spcAft>
              <a:buNone/>
            </a:pPr>
            <a:endParaRPr lang="en-US"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5" name="Picture 4">
            <a:extLst>
              <a:ext uri="{FF2B5EF4-FFF2-40B4-BE49-F238E27FC236}">
                <a16:creationId xmlns:a16="http://schemas.microsoft.com/office/drawing/2014/main" id="{D1AC229C-EA47-A377-BFBD-4415687C7D37}"/>
              </a:ext>
            </a:extLst>
          </p:cNvPr>
          <p:cNvPicPr>
            <a:picLocks noChangeAspect="1"/>
          </p:cNvPicPr>
          <p:nvPr/>
        </p:nvPicPr>
        <p:blipFill>
          <a:blip r:embed="rId4"/>
          <a:stretch>
            <a:fillRect/>
          </a:stretch>
        </p:blipFill>
        <p:spPr>
          <a:xfrm>
            <a:off x="479483" y="5788954"/>
            <a:ext cx="7292917" cy="28331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5B936-90A0-9E34-1A84-8D3CC2D5134A}"/>
              </a:ext>
            </a:extLst>
          </p:cNvPr>
          <p:cNvSpPr>
            <a:spLocks noGrp="1"/>
          </p:cNvSpPr>
          <p:nvPr>
            <p:ph type="title"/>
          </p:nvPr>
        </p:nvSpPr>
        <p:spPr/>
        <p:txBody>
          <a:bodyPr/>
          <a:lstStyle/>
          <a:p>
            <a:r>
              <a:rPr lang="en" sz="3600" dirty="0"/>
              <a:t>Standout Suggestion 1(Contd…)</a:t>
            </a:r>
            <a:endParaRPr lang="en-US" sz="3600" dirty="0"/>
          </a:p>
        </p:txBody>
      </p:sp>
      <p:sp>
        <p:nvSpPr>
          <p:cNvPr id="3" name="Text Placeholder 2">
            <a:extLst>
              <a:ext uri="{FF2B5EF4-FFF2-40B4-BE49-F238E27FC236}">
                <a16:creationId xmlns:a16="http://schemas.microsoft.com/office/drawing/2014/main" id="{645DAAD3-F1B9-A96F-1FDC-373E86181D45}"/>
              </a:ext>
            </a:extLst>
          </p:cNvPr>
          <p:cNvSpPr>
            <a:spLocks noGrp="1"/>
          </p:cNvSpPr>
          <p:nvPr>
            <p:ph type="body" idx="1"/>
          </p:nvPr>
        </p:nvSpPr>
        <p:spPr/>
        <p:txBody>
          <a:bodyPr/>
          <a:lstStyle/>
          <a:p>
            <a:pPr marL="38100" indent="0">
              <a:buNone/>
            </a:pPr>
            <a:r>
              <a:rPr lang="en-US" sz="1600" u="sng" dirty="0" err="1"/>
              <a:t>Resultset</a:t>
            </a:r>
            <a:r>
              <a:rPr lang="en-US" sz="1600" u="sng" dirty="0"/>
              <a:t>:</a:t>
            </a:r>
          </a:p>
        </p:txBody>
      </p:sp>
      <p:pic>
        <p:nvPicPr>
          <p:cNvPr id="8" name="Picture 7">
            <a:extLst>
              <a:ext uri="{FF2B5EF4-FFF2-40B4-BE49-F238E27FC236}">
                <a16:creationId xmlns:a16="http://schemas.microsoft.com/office/drawing/2014/main" id="{2D7B4BD6-9B9C-2593-4008-CB76EFD92ADD}"/>
              </a:ext>
            </a:extLst>
          </p:cNvPr>
          <p:cNvPicPr>
            <a:picLocks noChangeAspect="1"/>
          </p:cNvPicPr>
          <p:nvPr/>
        </p:nvPicPr>
        <p:blipFill>
          <a:blip r:embed="rId2"/>
          <a:stretch>
            <a:fillRect/>
          </a:stretch>
        </p:blipFill>
        <p:spPr>
          <a:xfrm>
            <a:off x="109537" y="3125679"/>
            <a:ext cx="7553325" cy="4914900"/>
          </a:xfrm>
          <a:prstGeom prst="rect">
            <a:avLst/>
          </a:prstGeom>
        </p:spPr>
      </p:pic>
    </p:spTree>
    <p:extLst>
      <p:ext uri="{BB962C8B-B14F-4D97-AF65-F5344CB8AC3E}">
        <p14:creationId xmlns:p14="http://schemas.microsoft.com/office/powerpoint/2010/main" val="2020725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7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Standout Suggestion 2</a:t>
            </a:r>
            <a:endParaRPr dirty="0"/>
          </a:p>
        </p:txBody>
      </p:sp>
      <p:sp>
        <p:nvSpPr>
          <p:cNvPr id="355" name="Google Shape;355;p78"/>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latin typeface="Open Sans"/>
                <a:ea typeface="Open Sans"/>
                <a:cs typeface="Open Sans"/>
                <a:sym typeface="Open Sans"/>
              </a:rPr>
              <a:t>Create a stored procedure with parameters that returns current and past jobs (include employee name, job title, department, manager name, start and end date for position) when given an employee name.</a:t>
            </a:r>
            <a:endParaRPr sz="2000" b="1" dirty="0">
              <a:latin typeface="Open Sans"/>
              <a:ea typeface="Open Sans"/>
              <a:cs typeface="Open Sans"/>
              <a:sym typeface="Open Sans"/>
            </a:endParaRPr>
          </a:p>
          <a:p>
            <a:pPr marL="0" lvl="0" indent="0" algn="l" rtl="0">
              <a:spcBef>
                <a:spcPts val="1600"/>
              </a:spcBef>
              <a:spcAft>
                <a:spcPts val="0"/>
              </a:spcAft>
              <a:buNone/>
            </a:pPr>
            <a:r>
              <a:rPr lang="en" sz="1900" dirty="0">
                <a:solidFill>
                  <a:srgbClr val="FF0000"/>
                </a:solidFill>
              </a:rPr>
              <a:t>** submit screenshot of stored procedure creation code, along with a screenshot of the stored procedure executed using Toni Lembeck as the parameter value</a:t>
            </a:r>
            <a:endParaRPr sz="1900" dirty="0">
              <a:solidFill>
                <a:srgbClr val="FF0000"/>
              </a:solidFill>
            </a:endParaRPr>
          </a:p>
          <a:p>
            <a:pPr marL="457200" lvl="0" indent="0" algn="l" rtl="0">
              <a:spcBef>
                <a:spcPts val="1600"/>
              </a:spcBef>
              <a:spcAft>
                <a:spcPts val="0"/>
              </a:spcAft>
              <a:buNone/>
            </a:pPr>
            <a:endParaRPr lang="en-US" sz="1900" dirty="0"/>
          </a:p>
          <a:p>
            <a:pPr marL="457200" lvl="0" indent="0" algn="l" rtl="0">
              <a:spcBef>
                <a:spcPts val="1600"/>
              </a:spcBef>
              <a:spcAft>
                <a:spcPts val="0"/>
              </a:spcAft>
              <a:buNone/>
            </a:pPr>
            <a:r>
              <a:rPr lang="en-US" sz="1900" dirty="0"/>
              <a:t>&lt;skipped&gt;</a:t>
            </a:r>
            <a:endParaRPr sz="1900" dirty="0"/>
          </a:p>
          <a:p>
            <a:pPr marL="457200" lvl="0" indent="0" algn="l" rtl="0">
              <a:spcBef>
                <a:spcPts val="1600"/>
              </a:spcBef>
              <a:spcAft>
                <a:spcPts val="1600"/>
              </a:spcAft>
              <a:buNone/>
            </a:pPr>
            <a:endParaRPr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7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Standout Suggestion 3</a:t>
            </a:r>
            <a:endParaRPr/>
          </a:p>
        </p:txBody>
      </p:sp>
      <p:sp>
        <p:nvSpPr>
          <p:cNvPr id="361" name="Google Shape;361;p79"/>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latin typeface="Open Sans"/>
                <a:ea typeface="Open Sans"/>
                <a:cs typeface="Open Sans"/>
                <a:sym typeface="Open Sans"/>
              </a:rPr>
              <a:t>Implement user security on the restricted salary attribute.</a:t>
            </a:r>
            <a:endParaRPr sz="2000" b="1" dirty="0">
              <a:latin typeface="Open Sans"/>
              <a:ea typeface="Open Sans"/>
              <a:cs typeface="Open Sans"/>
              <a:sym typeface="Open Sans"/>
            </a:endParaRPr>
          </a:p>
          <a:p>
            <a:pPr marL="0" lvl="0" indent="0" algn="l" rtl="0">
              <a:spcBef>
                <a:spcPts val="1600"/>
              </a:spcBef>
              <a:spcAft>
                <a:spcPts val="0"/>
              </a:spcAft>
              <a:buNone/>
            </a:pPr>
            <a:r>
              <a:rPr lang="en" sz="1600" dirty="0">
                <a:solidFill>
                  <a:schemeClr val="bg2"/>
                </a:solidFill>
              </a:rPr>
              <a:t>Create a non-management user named </a:t>
            </a:r>
            <a:r>
              <a:rPr lang="en" sz="1600" dirty="0">
                <a:solidFill>
                  <a:schemeClr val="bg2"/>
                </a:solidFill>
                <a:latin typeface="Source Code Pro"/>
                <a:ea typeface="Source Code Pro"/>
                <a:cs typeface="Source Code Pro"/>
                <a:sym typeface="Source Code Pro"/>
              </a:rPr>
              <a:t>NonMgr</a:t>
            </a:r>
            <a:r>
              <a:rPr lang="en" sz="1600" dirty="0">
                <a:solidFill>
                  <a:schemeClr val="bg2"/>
                </a:solidFill>
                <a:latin typeface="Open Sans"/>
                <a:ea typeface="Open Sans"/>
                <a:cs typeface="Open Sans"/>
                <a:sym typeface="Open Sans"/>
              </a:rPr>
              <a:t>.</a:t>
            </a:r>
            <a:r>
              <a:rPr lang="en" sz="1600" dirty="0">
                <a:solidFill>
                  <a:schemeClr val="bg2"/>
                </a:solidFill>
              </a:rPr>
              <a:t> Show the code of how your would grant access to the database, but revoke access to the salary data.</a:t>
            </a:r>
          </a:p>
          <a:p>
            <a:pPr marL="0" lvl="0" indent="0" algn="l" rtl="0">
              <a:spcBef>
                <a:spcPts val="1600"/>
              </a:spcBef>
              <a:spcAft>
                <a:spcPts val="0"/>
              </a:spcAft>
              <a:buNone/>
            </a:pPr>
            <a:r>
              <a:rPr lang="en" sz="1600" u="sng" dirty="0">
                <a:solidFill>
                  <a:schemeClr val="bg2"/>
                </a:solidFill>
              </a:rPr>
              <a:t>Script:</a:t>
            </a:r>
          </a:p>
          <a:p>
            <a:pPr marL="0" lvl="0" indent="0" algn="l" rtl="0">
              <a:spcBef>
                <a:spcPts val="1600"/>
              </a:spcBef>
              <a:spcAft>
                <a:spcPts val="0"/>
              </a:spcAft>
              <a:buNone/>
            </a:pPr>
            <a:endParaRPr sz="1900" dirty="0">
              <a:solidFill>
                <a:schemeClr val="bg2"/>
              </a:solidFill>
            </a:endParaRPr>
          </a:p>
        </p:txBody>
      </p:sp>
      <p:graphicFrame>
        <p:nvGraphicFramePr>
          <p:cNvPr id="2" name="Table 1">
            <a:extLst>
              <a:ext uri="{FF2B5EF4-FFF2-40B4-BE49-F238E27FC236}">
                <a16:creationId xmlns:a16="http://schemas.microsoft.com/office/drawing/2014/main" id="{2ABC7BAA-09B2-C051-0A29-5B359C0C7AE8}"/>
              </a:ext>
            </a:extLst>
          </p:cNvPr>
          <p:cNvGraphicFramePr>
            <a:graphicFrameLocks noGrp="1"/>
          </p:cNvGraphicFramePr>
          <p:nvPr>
            <p:extLst>
              <p:ext uri="{D42A27DB-BD31-4B8C-83A1-F6EECF244321}">
                <p14:modId xmlns:p14="http://schemas.microsoft.com/office/powerpoint/2010/main" val="3919355704"/>
              </p:ext>
            </p:extLst>
          </p:nvPr>
        </p:nvGraphicFramePr>
        <p:xfrm>
          <a:off x="552450" y="4541520"/>
          <a:ext cx="5867400" cy="2225040"/>
        </p:xfrm>
        <a:graphic>
          <a:graphicData uri="http://schemas.openxmlformats.org/drawingml/2006/table">
            <a:tbl>
              <a:tblPr firstRow="1" bandRow="1">
                <a:tableStyleId>{2D5ABB26-0587-4C30-8999-92F81FD0307C}</a:tableStyleId>
              </a:tblPr>
              <a:tblGrid>
                <a:gridCol w="5867400">
                  <a:extLst>
                    <a:ext uri="{9D8B030D-6E8A-4147-A177-3AD203B41FA5}">
                      <a16:colId xmlns:a16="http://schemas.microsoft.com/office/drawing/2014/main" val="1018852063"/>
                    </a:ext>
                  </a:extLst>
                </a:gridCol>
              </a:tblGrid>
              <a:tr h="2152650">
                <a:tc>
                  <a:txBody>
                    <a:bodyPr/>
                    <a:lstStyle/>
                    <a:p>
                      <a:r>
                        <a:rPr lang="en-US" dirty="0"/>
                        <a:t>CREATE USER </a:t>
                      </a:r>
                      <a:r>
                        <a:rPr lang="en-US" dirty="0" err="1"/>
                        <a:t>NonMgr</a:t>
                      </a:r>
                      <a:r>
                        <a:rPr lang="en-US" dirty="0"/>
                        <a:t> WITH PASSWORD 'ABC@123';</a:t>
                      </a:r>
                    </a:p>
                    <a:p>
                      <a:endParaRPr lang="en-US" dirty="0"/>
                    </a:p>
                    <a:p>
                      <a:r>
                        <a:rPr lang="en-US" dirty="0"/>
                        <a:t>GRANT CONNECT ON DATABASE </a:t>
                      </a:r>
                      <a:r>
                        <a:rPr lang="en-US" dirty="0" err="1"/>
                        <a:t>hr_db</a:t>
                      </a:r>
                      <a:r>
                        <a:rPr lang="en-US" dirty="0"/>
                        <a:t> TO </a:t>
                      </a:r>
                      <a:r>
                        <a:rPr lang="en-US" dirty="0" err="1"/>
                        <a:t>NonMgr</a:t>
                      </a:r>
                      <a:r>
                        <a:rPr lang="en-US" dirty="0"/>
                        <a:t>;</a:t>
                      </a:r>
                    </a:p>
                    <a:p>
                      <a:endParaRPr lang="en-US" dirty="0"/>
                    </a:p>
                    <a:p>
                      <a:r>
                        <a:rPr lang="en-US" dirty="0"/>
                        <a:t>GRANT USAGE ON SCHEMA </a:t>
                      </a:r>
                      <a:r>
                        <a:rPr lang="en-US" dirty="0" err="1"/>
                        <a:t>hr_schema</a:t>
                      </a:r>
                      <a:r>
                        <a:rPr lang="en-US" dirty="0"/>
                        <a:t> TO </a:t>
                      </a:r>
                      <a:r>
                        <a:rPr lang="en-US" dirty="0" err="1"/>
                        <a:t>NonMgr</a:t>
                      </a:r>
                      <a:r>
                        <a:rPr lang="en-US" dirty="0"/>
                        <a:t>;</a:t>
                      </a:r>
                    </a:p>
                    <a:p>
                      <a:endParaRPr lang="en-US" dirty="0"/>
                    </a:p>
                    <a:p>
                      <a:r>
                        <a:rPr lang="en-US" dirty="0"/>
                        <a:t>GRANT SELECT ON ALL TABLES IN SCHEMA </a:t>
                      </a:r>
                      <a:r>
                        <a:rPr lang="en-US" dirty="0" err="1"/>
                        <a:t>hr_schema</a:t>
                      </a:r>
                      <a:r>
                        <a:rPr lang="en-US" dirty="0"/>
                        <a:t> TO </a:t>
                      </a:r>
                      <a:r>
                        <a:rPr lang="en-US" dirty="0" err="1"/>
                        <a:t>NonMgr</a:t>
                      </a:r>
                      <a:r>
                        <a:rPr lang="en-US" dirty="0"/>
                        <a:t>;</a:t>
                      </a:r>
                    </a:p>
                    <a:p>
                      <a:endParaRPr lang="en-US" dirty="0"/>
                    </a:p>
                    <a:p>
                      <a:r>
                        <a:rPr lang="en-US" dirty="0"/>
                        <a:t>REVOKE SELECT ON </a:t>
                      </a:r>
                      <a:r>
                        <a:rPr lang="en-US" dirty="0" err="1"/>
                        <a:t>hr_schema.salary</a:t>
                      </a:r>
                      <a:r>
                        <a:rPr lang="en-US" dirty="0"/>
                        <a:t> FROM </a:t>
                      </a:r>
                      <a:r>
                        <a:rPr lang="en-US" dirty="0" err="1"/>
                        <a:t>NonMgr</a:t>
                      </a: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7237276"/>
                  </a:ext>
                </a:extLst>
              </a:tr>
            </a:tbl>
          </a:graphicData>
        </a:graphic>
      </p:graphicFrame>
      <p:pic>
        <p:nvPicPr>
          <p:cNvPr id="5" name="Picture 4">
            <a:extLst>
              <a:ext uri="{FF2B5EF4-FFF2-40B4-BE49-F238E27FC236}">
                <a16:creationId xmlns:a16="http://schemas.microsoft.com/office/drawing/2014/main" id="{A8DD87C7-AA09-2BD0-5FE5-F4C58E84EE3C}"/>
              </a:ext>
            </a:extLst>
          </p:cNvPr>
          <p:cNvPicPr>
            <a:picLocks noChangeAspect="1"/>
          </p:cNvPicPr>
          <p:nvPr/>
        </p:nvPicPr>
        <p:blipFill>
          <a:blip r:embed="rId3"/>
          <a:stretch>
            <a:fillRect/>
          </a:stretch>
        </p:blipFill>
        <p:spPr>
          <a:xfrm>
            <a:off x="552450" y="7068175"/>
            <a:ext cx="6518910" cy="26488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65"/>
        <p:cNvGrpSpPr/>
        <p:nvPr/>
      </p:nvGrpSpPr>
      <p:grpSpPr>
        <a:xfrm>
          <a:off x="0" y="0"/>
          <a:ext cx="0" cy="0"/>
          <a:chOff x="0" y="0"/>
          <a:chExt cx="0" cy="0"/>
        </a:xfrm>
      </p:grpSpPr>
      <p:sp>
        <p:nvSpPr>
          <p:cNvPr id="366" name="Google Shape;366;p80"/>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Appendix</a:t>
            </a:r>
            <a:endParaRPr sz="3000" b="1">
              <a:solidFill>
                <a:srgbClr val="FFFFFF"/>
              </a:solidFill>
              <a:latin typeface="Open Sans"/>
              <a:ea typeface="Open Sans"/>
              <a:cs typeface="Open Sans"/>
              <a:sym typeface="Open Sans"/>
            </a:endParaRPr>
          </a:p>
          <a:p>
            <a:pPr marL="0" lvl="0" indent="0" algn="l" rtl="0">
              <a:lnSpc>
                <a:spcPct val="150000"/>
              </a:lnSpc>
              <a:spcBef>
                <a:spcPts val="0"/>
              </a:spcBef>
              <a:spcAft>
                <a:spcPts val="0"/>
              </a:spcAft>
              <a:buClr>
                <a:schemeClr val="lt1"/>
              </a:buClr>
              <a:buFont typeface="Open Sans"/>
              <a:buNone/>
            </a:pPr>
            <a:endParaRPr sz="3000" b="1">
              <a:solidFill>
                <a:srgbClr val="FFFFFF"/>
              </a:solidFill>
              <a:latin typeface="Open Sans"/>
              <a:ea typeface="Open Sans"/>
              <a:cs typeface="Open Sans"/>
              <a:sym typeface="Open Sans"/>
            </a:endParaRPr>
          </a:p>
        </p:txBody>
      </p:sp>
      <p:sp>
        <p:nvSpPr>
          <p:cNvPr id="367" name="Google Shape;367;p8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8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Additional Info</a:t>
            </a:r>
            <a:endParaRPr dirty="0"/>
          </a:p>
        </p:txBody>
      </p:sp>
      <p:sp>
        <p:nvSpPr>
          <p:cNvPr id="373" name="Google Shape;373;p81"/>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u="sng" dirty="0" err="1"/>
              <a:t>Github</a:t>
            </a:r>
            <a:r>
              <a:rPr lang="en-US" sz="1800" b="1" u="sng" dirty="0"/>
              <a:t> Repository:</a:t>
            </a:r>
          </a:p>
          <a:p>
            <a:pPr marL="0" lvl="0" indent="0" algn="l" rtl="0">
              <a:spcBef>
                <a:spcPts val="0"/>
              </a:spcBef>
              <a:spcAft>
                <a:spcPts val="0"/>
              </a:spcAft>
              <a:buNone/>
            </a:pPr>
            <a:r>
              <a:rPr lang="en-US" sz="1800" dirty="0"/>
              <a:t>	All SQL scripts are available in the below </a:t>
            </a:r>
            <a:r>
              <a:rPr lang="en-US" sz="1800" dirty="0" err="1"/>
              <a:t>Github</a:t>
            </a:r>
            <a:r>
              <a:rPr lang="en-US" sz="1800" dirty="0"/>
              <a:t> repository.</a:t>
            </a:r>
          </a:p>
          <a:p>
            <a:pPr marL="0" lvl="0" indent="0" algn="l" rtl="0">
              <a:spcBef>
                <a:spcPts val="0"/>
              </a:spcBef>
              <a:spcAft>
                <a:spcPts val="0"/>
              </a:spcAft>
              <a:buNone/>
            </a:pPr>
            <a:endParaRPr lang="en-US" sz="1800" dirty="0"/>
          </a:p>
          <a:p>
            <a:pPr marL="0" lvl="0" indent="0">
              <a:buNone/>
            </a:pPr>
            <a:r>
              <a:rPr lang="en-US" sz="1800" dirty="0">
                <a:hlinkClick r:id="rId3"/>
              </a:rPr>
              <a:t>https://github.com/its-developer-hub/HR-Database-in-PostgreSQL.git</a:t>
            </a:r>
            <a:endParaRPr lang="en-US" sz="1800" dirty="0"/>
          </a:p>
          <a:p>
            <a:pPr marL="0" lvl="0" indent="0">
              <a:buNone/>
            </a:pPr>
            <a:endParaRPr lang="en-US" sz="1800" dirty="0"/>
          </a:p>
          <a:p>
            <a:pPr marL="0" lvl="0" indent="0">
              <a:buNone/>
            </a:pPr>
            <a:endParaRPr lang="en-US" sz="1800" dirty="0"/>
          </a:p>
          <a:p>
            <a:pPr marL="0" lvl="0" indent="0">
              <a:buNone/>
            </a:pPr>
            <a:r>
              <a:rPr lang="en-US" sz="1800" b="1" u="sng" dirty="0"/>
              <a:t>Lucid Chart – ER Diagrams:</a:t>
            </a:r>
          </a:p>
          <a:p>
            <a:pPr marL="0" lvl="0" indent="0">
              <a:buNone/>
            </a:pPr>
            <a:endParaRPr lang="en-US" sz="1800" dirty="0"/>
          </a:p>
          <a:p>
            <a:pPr marL="0" lvl="0" indent="0">
              <a:buNone/>
            </a:pPr>
            <a:r>
              <a:rPr lang="en-US" sz="1900" dirty="0">
                <a:hlinkClick r:id="rId4"/>
              </a:rPr>
              <a:t>https://lucid.app/lucidchart/f8bf1864-18f0-4b8c-b086-899c808ec23f/edit?invitationId=inv_3f202787-7206-4507-ba54-ac994db8102e</a:t>
            </a:r>
            <a:endParaRPr lang="en-US" sz="1900" dirty="0"/>
          </a:p>
          <a:p>
            <a:pPr marL="0" lvl="0" indent="0">
              <a:buNone/>
            </a:pPr>
            <a:endParaRPr lang="en-US" sz="1900" dirty="0"/>
          </a:p>
          <a:p>
            <a:pPr marL="0" indent="0">
              <a:buNone/>
            </a:pPr>
            <a:r>
              <a:rPr lang="en-US" sz="2000" b="1" u="sng" dirty="0"/>
              <a:t>HR-Dataset.csv file:</a:t>
            </a:r>
          </a:p>
          <a:p>
            <a:pPr marL="0" indent="0">
              <a:buNone/>
            </a:pPr>
            <a:endParaRPr lang="en-US" sz="2000" dirty="0">
              <a:hlinkClick r:id="rId5"/>
            </a:endParaRPr>
          </a:p>
          <a:p>
            <a:pPr marL="0" indent="0">
              <a:buNone/>
            </a:pPr>
            <a:r>
              <a:rPr lang="en-US" sz="2000" dirty="0">
                <a:hlinkClick r:id="rId5"/>
              </a:rPr>
              <a:t>https://github.com/its-developer-hub/HR-Database-in-PostgreSQL/blob/main/Raw_Data/hr-dataset.csv</a:t>
            </a:r>
            <a:endParaRPr lang="en-US" sz="2000" dirty="0"/>
          </a:p>
          <a:p>
            <a:pPr marL="0" lvl="0" indent="0">
              <a:buNone/>
            </a:pPr>
            <a:endParaRPr lang="en-US" sz="1900" dirty="0"/>
          </a:p>
          <a:p>
            <a:pPr marL="0" lvl="0" indent="0">
              <a:buNone/>
            </a:pPr>
            <a:r>
              <a:rPr lang="en-US" sz="1900" b="1" u="sng" dirty="0"/>
              <a:t>Best Practices document:</a:t>
            </a:r>
          </a:p>
          <a:p>
            <a:pPr marL="0" lvl="0" indent="0">
              <a:buNone/>
            </a:pPr>
            <a:endParaRPr lang="en-US" sz="1900" dirty="0"/>
          </a:p>
          <a:p>
            <a:pPr marL="0" indent="0">
              <a:buNone/>
            </a:pPr>
            <a:r>
              <a:rPr lang="en-US" sz="1800" dirty="0"/>
              <a:t> </a:t>
            </a:r>
            <a:r>
              <a:rPr lang="en-US" sz="1800" u="sng" dirty="0">
                <a:solidFill>
                  <a:schemeClr val="hlink"/>
                </a:solidFill>
                <a:hlinkClick r:id="rId6"/>
              </a:rPr>
              <a:t>IT Best Practices document</a:t>
            </a:r>
            <a:endParaRPr lang="en-US" sz="1800" dirty="0"/>
          </a:p>
          <a:p>
            <a:pPr marL="0" lvl="0" indent="0">
              <a:buNone/>
            </a:pPr>
            <a:endParaRPr lang="en-US" sz="1900" dirty="0"/>
          </a:p>
          <a:p>
            <a:pPr marL="0" lvl="0" indent="0">
              <a:buNone/>
            </a:pPr>
            <a:endParaRPr sz="19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1569</TotalTime>
  <Words>3569</Words>
  <Application>Microsoft Office PowerPoint</Application>
  <PresentationFormat>Custom</PresentationFormat>
  <Paragraphs>482</Paragraphs>
  <Slides>41</Slides>
  <Notes>30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41</vt:i4>
      </vt:variant>
    </vt:vector>
  </HeadingPairs>
  <TitlesOfParts>
    <vt:vector size="52" baseType="lpstr">
      <vt:lpstr>Open Sans</vt:lpstr>
      <vt:lpstr>Courier New</vt:lpstr>
      <vt:lpstr>Open Sans Light</vt:lpstr>
      <vt:lpstr>Wingdings</vt:lpstr>
      <vt:lpstr>Source Code Pro</vt:lpstr>
      <vt:lpstr>Arial</vt:lpstr>
      <vt:lpstr>Helvetica Neue</vt:lpstr>
      <vt:lpstr>Simple Light</vt:lpstr>
      <vt:lpstr>Simple Light</vt:lpstr>
      <vt:lpstr>Simple Light</vt:lpstr>
      <vt:lpstr>White</vt:lpstr>
      <vt:lpstr>Tech ABC Corp - HR Database </vt:lpstr>
      <vt:lpstr>Business Scenario</vt:lpstr>
      <vt:lpstr>PowerPoint Presentation</vt:lpstr>
      <vt:lpstr>Step 1: Data Architecture Foundations</vt:lpstr>
      <vt:lpstr>Data Architect Business Requirement</vt:lpstr>
      <vt:lpstr>Data Architect Business Requirement (contd)</vt:lpstr>
      <vt:lpstr>Data Architect Business Requirement</vt:lpstr>
      <vt:lpstr>Data Architect Technical Requirement</vt:lpstr>
      <vt:lpstr>Data Architect Technical Requirement (contd…)</vt:lpstr>
      <vt:lpstr>PowerPoint Presentation</vt:lpstr>
      <vt:lpstr>Data Architect Technical Requirement</vt:lpstr>
      <vt:lpstr>PowerPoint Presentation</vt:lpstr>
      <vt:lpstr>PowerPoint Presentation</vt:lpstr>
      <vt:lpstr>PowerPoint Presentation</vt:lpstr>
      <vt:lpstr>Step 2: Relational Database Design</vt:lpstr>
      <vt:lpstr>ERD</vt:lpstr>
      <vt:lpstr>ERD</vt:lpstr>
      <vt:lpstr>ERD</vt:lpstr>
      <vt:lpstr>PowerPoint Presentation</vt:lpstr>
      <vt:lpstr>Step 3: Create A Physical Database</vt:lpstr>
      <vt:lpstr>DDL</vt:lpstr>
      <vt:lpstr>DDL (contd…)</vt:lpstr>
      <vt:lpstr>DDL (contd…)</vt:lpstr>
      <vt:lpstr>DDL for Stg table to store raw HR-Dataset.csv file</vt:lpstr>
      <vt:lpstr>DML</vt:lpstr>
      <vt:lpstr>DML</vt:lpstr>
      <vt:lpstr>CRUD</vt:lpstr>
      <vt:lpstr>CRUD</vt:lpstr>
      <vt:lpstr>CRUD</vt:lpstr>
      <vt:lpstr>CRUD</vt:lpstr>
      <vt:lpstr>CRUD</vt:lpstr>
      <vt:lpstr>CRUD</vt:lpstr>
      <vt:lpstr>CRUD</vt:lpstr>
      <vt:lpstr>PowerPoint Presentation</vt:lpstr>
      <vt:lpstr>Step 4: Above and Beyond</vt:lpstr>
      <vt:lpstr>Standout Suggestion 1</vt:lpstr>
      <vt:lpstr>Standout Suggestion 1(Contd…)</vt:lpstr>
      <vt:lpstr>Standout Suggestion 2</vt:lpstr>
      <vt:lpstr>Standout Suggestion 3</vt:lpstr>
      <vt:lpstr>PowerPoint Presentation</vt:lpstr>
      <vt:lpstr>Additional Info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Velavan</dc:creator>
  <cp:lastModifiedBy>Velavan Dhanavel</cp:lastModifiedBy>
  <cp:revision>62</cp:revision>
  <dcterms:modified xsi:type="dcterms:W3CDTF">2026-01-03T08:03:59Z</dcterms:modified>
</cp:coreProperties>
</file>